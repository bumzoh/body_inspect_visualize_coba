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4858F4-4BF5-4CCC-51A8-1CE8B7673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AC1FE1-2D0E-C3E2-2633-3D2B3532A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E6131A-887B-480F-5E05-FD4752AE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D8C5D1-0076-7867-3F5F-DA7EBEA2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3D53D1-D852-CA53-1CEE-A798F0418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53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922685-691C-5CE1-3776-A7E9135E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C7ACEB-B4B7-8141-2372-B87E47318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2F96EB-4FFB-5952-BA53-B246549DB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2C7225-4628-79B4-5349-9F610C2FA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97B2B1-F19D-822C-6991-00476CA5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75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AEBC74-DE2D-DAE4-0B12-965E271D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9E83F7-6A8B-A04D-9C7F-62EBB4092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187594-E737-A282-FEC6-C2413FFD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EF7476-FCA2-B10E-E43E-FA02CF45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F37649-8F6E-5B2F-7724-2CB5FC13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956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8BDF6-843D-C614-8977-522CDE071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A574AB-E318-B94B-04D4-807F47B99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F7F0F8-A8B7-D18A-8094-95F97F54E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DD3D490-ACC7-CEFA-04A8-D7DFB4F0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C3387D-6C6A-0815-546B-C52AF4083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8AB9CB-5E46-4438-A48D-39809176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93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BF2203-1847-90E1-B6B3-6768DBE6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5893B6-1766-AE35-7206-81CD8D07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D37E77-97F5-F353-C314-478CE105E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5B41B58-8380-823F-3184-FBCB0D402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B634A47-D50D-8185-58AE-DEEB39BF6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65F94D4-56C6-35BB-AE44-86BEB2A4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F946219-CC89-3AC1-E9E8-002E2D7F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B3DBB5-8181-737B-68E1-61930A68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639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B1947-0112-0F8B-783B-C72BAA2A2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9946098-1CEE-EC2D-E44E-DC3B27FF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BAAF2FB-488F-9470-634B-273FB3EAC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A6E13B-B6EE-9CAA-8B0F-8FD33C761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66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2BBF428-BF0B-51AB-193A-27DDE673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383541D-956A-DFC4-7A27-32B4AE5D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A1A31A-9C5D-B0CC-F2B0-4D7FDF95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182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6FC6C-CBF6-BCFC-BECE-FFB94B4F3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9222B1-2CDF-A381-A6A7-568806119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29002E-4C6A-1F2F-A0A0-55F896FC3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CDE926-1354-0AF4-4C50-FD8F2F9A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CD14E9-0D1B-DDDE-4AA6-3967C3114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FD82ED-C39D-C8C1-9686-25007316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E5971D-3859-3332-49AF-22A34E820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1CD03AB-3EA3-128C-8F38-B6B4545A9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FABCA7-F699-EC86-2F54-B3BCADFBF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79CA76-2EF6-56FF-0A17-8316E512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021113-AFE0-6779-62EF-EBBBDB58F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D64BA4-03F0-1FEB-9C98-135541351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13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1B6394-C50C-9197-C1C9-D57418892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3B1A0C-5740-3AD5-DD67-20B6F9801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B19382-9304-F158-F215-BD513569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205B2C-09DB-5DF8-4016-4B3566C8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B37795-96B2-A57B-2860-DD3CE37B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6235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8A48BC2-66CA-4FF8-1025-90BD987103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C87690-3AF0-B553-6E54-F75FC2DA6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FF75FF-4277-74FC-7141-1CCFAAA6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763928-1495-087D-A12F-5FF51182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D75209-E20E-D1E5-8A7A-52DF52002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240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21E9505-E4B8-AA37-378F-C2C9FB343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F997F0-E3EE-15B1-8A8E-787FE1738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EBA958-6322-C83C-E2AD-028AF45B2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E81DA-B9C4-40CB-82A3-D38A483E6A61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9BC318-9AE7-322A-15EA-9BD7EB082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27256E-180E-A72B-21BB-F2266DA05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30050-AD3F-431E-97B0-AEC503018B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879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26AADE0-4A97-71CD-45EA-F45737C993BE}"/>
              </a:ext>
            </a:extLst>
          </p:cNvPr>
          <p:cNvSpPr txBox="1"/>
          <p:nvPr/>
        </p:nvSpPr>
        <p:spPr>
          <a:xfrm>
            <a:off x="197708" y="214184"/>
            <a:ext cx="567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chemeClr val="accent5">
                    <a:lumMod val="50000"/>
                  </a:schemeClr>
                </a:solidFill>
              </a:rPr>
              <a:t>アラーム履歴データの収集について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2BE082D-C511-1C62-8EB2-E372FC7B924E}"/>
              </a:ext>
            </a:extLst>
          </p:cNvPr>
          <p:cNvSpPr txBox="1"/>
          <p:nvPr/>
        </p:nvSpPr>
        <p:spPr>
          <a:xfrm>
            <a:off x="383060" y="914399"/>
            <a:ext cx="880624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従来方式</a:t>
            </a:r>
            <a:r>
              <a:rPr kumimoji="1" lang="en-US" altLang="ja-JP" dirty="0"/>
              <a:t>】</a:t>
            </a:r>
            <a:endParaRPr kumimoji="1" lang="en-US" altLang="ja-JP" sz="1400" dirty="0"/>
          </a:p>
          <a:p>
            <a:endParaRPr kumimoji="1" lang="en-US" altLang="ja-JP" sz="1400" dirty="0"/>
          </a:p>
          <a:p>
            <a:r>
              <a:rPr kumimoji="1" lang="ja-JP" altLang="en-US" sz="1400" dirty="0"/>
              <a:t>①新江工場方式</a:t>
            </a:r>
            <a:endParaRPr kumimoji="1" lang="en-US" altLang="ja-JP" sz="1400" dirty="0"/>
          </a:p>
          <a:p>
            <a:r>
              <a:rPr lang="ja-JP" altLang="en-US" sz="1400" dirty="0"/>
              <a:t>　</a:t>
            </a:r>
            <a:r>
              <a:rPr kumimoji="1" lang="ja-JP" altLang="en-US" sz="1400" dirty="0"/>
              <a:t>それぞれのアラームに対して</a:t>
            </a:r>
            <a:r>
              <a:rPr kumimoji="1" lang="en-US" altLang="ja-JP" sz="1400" dirty="0"/>
              <a:t>1</a:t>
            </a:r>
            <a:r>
              <a:rPr kumimoji="1" lang="ja-JP" altLang="en-US" sz="1400" dirty="0"/>
              <a:t>日の発生回数をカウントする（</a:t>
            </a:r>
            <a:r>
              <a:rPr kumimoji="1" lang="en-US" altLang="ja-JP" sz="1400" dirty="0"/>
              <a:t>320W</a:t>
            </a:r>
            <a:r>
              <a:rPr kumimoji="1" lang="ja-JP" altLang="en-US" sz="1400" dirty="0"/>
              <a:t>使用）</a:t>
            </a:r>
            <a:endParaRPr kumimoji="1" lang="en-US" altLang="ja-JP" sz="1400" dirty="0"/>
          </a:p>
          <a:p>
            <a:r>
              <a:rPr kumimoji="1" lang="ja-JP" altLang="en-US" sz="1400" dirty="0"/>
              <a:t>　デメリット</a:t>
            </a:r>
            <a:r>
              <a:rPr lang="ja-JP" altLang="en-US" sz="1400" dirty="0"/>
              <a:t>：発生時刻が分からない／</a:t>
            </a:r>
            <a:r>
              <a:rPr lang="en-US" altLang="ja-JP" sz="1400" dirty="0"/>
              <a:t>1</a:t>
            </a:r>
            <a:r>
              <a:rPr lang="ja-JP" altLang="en-US" sz="1400" dirty="0"/>
              <a:t>日分しか溜められない</a:t>
            </a:r>
            <a:endParaRPr lang="en-US" altLang="ja-JP" sz="1400" dirty="0"/>
          </a:p>
          <a:p>
            <a:endParaRPr kumimoji="1" lang="en-US" altLang="ja-JP" sz="1400" dirty="0"/>
          </a:p>
          <a:p>
            <a:r>
              <a:rPr lang="ja-JP" altLang="en-US" sz="1400" dirty="0"/>
              <a:t>②</a:t>
            </a:r>
            <a:r>
              <a:rPr lang="en-US" altLang="ja-JP" sz="1400" dirty="0"/>
              <a:t>VT</a:t>
            </a:r>
            <a:r>
              <a:rPr lang="ja-JP" altLang="en-US" sz="1400" dirty="0"/>
              <a:t> 履歴データ</a:t>
            </a:r>
            <a:r>
              <a:rPr lang="en-US" altLang="ja-JP" sz="1400" dirty="0"/>
              <a:t>CSV</a:t>
            </a:r>
            <a:r>
              <a:rPr lang="ja-JP" altLang="en-US" sz="1400" dirty="0"/>
              <a:t>出力方式</a:t>
            </a:r>
            <a:endParaRPr lang="en-US" altLang="ja-JP" sz="1400" dirty="0"/>
          </a:p>
          <a:p>
            <a:r>
              <a:rPr kumimoji="1" lang="ja-JP" altLang="en-US" sz="1400" dirty="0"/>
              <a:t>　アラーム履歴を</a:t>
            </a:r>
            <a:r>
              <a:rPr kumimoji="1" lang="en-US" altLang="ja-JP" sz="1400" dirty="0"/>
              <a:t>SD</a:t>
            </a:r>
            <a:r>
              <a:rPr kumimoji="1" lang="ja-JP" altLang="en-US" sz="1400" dirty="0"/>
              <a:t>カードへ</a:t>
            </a:r>
            <a:r>
              <a:rPr kumimoji="1" lang="en-US" altLang="ja-JP" sz="1400" dirty="0"/>
              <a:t>CSV</a:t>
            </a:r>
            <a:r>
              <a:rPr kumimoji="1" lang="ja-JP" altLang="en-US" sz="1400" dirty="0"/>
              <a:t>ファイルとして出力。データは</a:t>
            </a:r>
            <a:r>
              <a:rPr kumimoji="1" lang="en-US" altLang="ja-JP" sz="1400" dirty="0"/>
              <a:t>SQLite</a:t>
            </a:r>
            <a:r>
              <a:rPr kumimoji="1" lang="ja-JP" altLang="en-US" sz="1400" dirty="0"/>
              <a:t>で保存。</a:t>
            </a:r>
            <a:endParaRPr kumimoji="1" lang="en-US" altLang="ja-JP" sz="1400" dirty="0"/>
          </a:p>
          <a:p>
            <a:r>
              <a:rPr lang="ja-JP" altLang="en-US" sz="1400" dirty="0"/>
              <a:t>　デメリット：</a:t>
            </a:r>
            <a:r>
              <a:rPr lang="en-US" altLang="ja-JP" sz="1400" dirty="0"/>
              <a:t>VT5</a:t>
            </a:r>
            <a:r>
              <a:rPr lang="ja-JP" altLang="en-US" sz="1400" dirty="0"/>
              <a:t>（</a:t>
            </a:r>
            <a:r>
              <a:rPr lang="en-US" altLang="ja-JP" sz="1400" dirty="0"/>
              <a:t>7</a:t>
            </a:r>
            <a:r>
              <a:rPr lang="ja-JP" altLang="en-US" sz="1400" dirty="0"/>
              <a:t>インチ以上）必要。処理時間が長い（</a:t>
            </a:r>
            <a:r>
              <a:rPr lang="en-US" altLang="ja-JP" sz="1400" dirty="0"/>
              <a:t>3</a:t>
            </a:r>
            <a:r>
              <a:rPr lang="ja-JP" altLang="en-US" sz="1400" dirty="0"/>
              <a:t>秒程度）</a:t>
            </a:r>
            <a:endParaRPr kumimoji="1" lang="ja-JP" altLang="en-US" sz="1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795690C-8E88-A857-8B82-16F9CC969962}"/>
              </a:ext>
            </a:extLst>
          </p:cNvPr>
          <p:cNvSpPr txBox="1"/>
          <p:nvPr/>
        </p:nvSpPr>
        <p:spPr>
          <a:xfrm>
            <a:off x="383060" y="3525794"/>
            <a:ext cx="995542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C00000"/>
                </a:solidFill>
              </a:rPr>
              <a:t>【</a:t>
            </a:r>
            <a:r>
              <a:rPr lang="ja-JP" altLang="en-US" dirty="0">
                <a:solidFill>
                  <a:srgbClr val="C00000"/>
                </a:solidFill>
              </a:rPr>
              <a:t>新</a:t>
            </a:r>
            <a:r>
              <a:rPr kumimoji="1" lang="ja-JP" altLang="en-US" dirty="0">
                <a:solidFill>
                  <a:srgbClr val="C00000"/>
                </a:solidFill>
              </a:rPr>
              <a:t>方式：</a:t>
            </a:r>
            <a:r>
              <a:rPr kumimoji="1" lang="en-US" altLang="ja-JP" dirty="0">
                <a:solidFill>
                  <a:srgbClr val="C00000"/>
                </a:solidFill>
              </a:rPr>
              <a:t>PLC</a:t>
            </a:r>
            <a:r>
              <a:rPr kumimoji="1" lang="ja-JP" altLang="en-US" dirty="0">
                <a:solidFill>
                  <a:srgbClr val="C00000"/>
                </a:solidFill>
              </a:rPr>
              <a:t>発生日時記録方式</a:t>
            </a:r>
            <a:r>
              <a:rPr kumimoji="1" lang="en-US" altLang="ja-JP" dirty="0">
                <a:solidFill>
                  <a:srgbClr val="C00000"/>
                </a:solidFill>
              </a:rPr>
              <a:t>】</a:t>
            </a:r>
            <a:endParaRPr kumimoji="1" lang="en-US" altLang="ja-JP" sz="1400" dirty="0">
              <a:solidFill>
                <a:srgbClr val="C00000"/>
              </a:solidFill>
            </a:endParaRPr>
          </a:p>
          <a:p>
            <a:endParaRPr kumimoji="1" lang="en-US" altLang="ja-JP" sz="1400" dirty="0">
              <a:solidFill>
                <a:srgbClr val="C00000"/>
              </a:solidFill>
            </a:endParaRPr>
          </a:p>
          <a:p>
            <a:r>
              <a:rPr kumimoji="1" lang="ja-JP" altLang="en-US" sz="1400" dirty="0">
                <a:solidFill>
                  <a:srgbClr val="C00000"/>
                </a:solidFill>
              </a:rPr>
              <a:t>発生日時とアラームデバイス番号をセットで記録する</a:t>
            </a:r>
            <a:endParaRPr kumimoji="1" lang="en-US" altLang="ja-JP" sz="1400" dirty="0">
              <a:solidFill>
                <a:srgbClr val="C00000"/>
              </a:solidFill>
            </a:endParaRPr>
          </a:p>
          <a:p>
            <a:endParaRPr kumimoji="1" lang="en-US" altLang="ja-JP" sz="1400" dirty="0">
              <a:solidFill>
                <a:srgbClr val="C00000"/>
              </a:solidFill>
            </a:endParaRPr>
          </a:p>
          <a:p>
            <a:r>
              <a:rPr lang="ja-JP" altLang="en-US" sz="1400" dirty="0">
                <a:solidFill>
                  <a:srgbClr val="C00000"/>
                </a:solidFill>
              </a:rPr>
              <a:t>　日時：秒形式日時データ（</a:t>
            </a:r>
            <a:r>
              <a:rPr lang="en-US" altLang="ja-JP" sz="1400" dirty="0">
                <a:solidFill>
                  <a:srgbClr val="C00000"/>
                </a:solidFill>
              </a:rPr>
              <a:t>2W</a:t>
            </a:r>
            <a:r>
              <a:rPr lang="ja-JP" altLang="en-US" sz="1400" dirty="0">
                <a:solidFill>
                  <a:srgbClr val="C00000"/>
                </a:solidFill>
              </a:rPr>
              <a:t>）で記録。</a:t>
            </a:r>
            <a:r>
              <a:rPr lang="en-US" altLang="ja-JP" sz="1400" dirty="0">
                <a:solidFill>
                  <a:srgbClr val="C00000"/>
                </a:solidFill>
              </a:rPr>
              <a:t>500</a:t>
            </a:r>
            <a:r>
              <a:rPr lang="ja-JP" altLang="en-US" sz="1400" dirty="0">
                <a:solidFill>
                  <a:srgbClr val="C00000"/>
                </a:solidFill>
              </a:rPr>
              <a:t>個分溜める。</a:t>
            </a:r>
            <a:endParaRPr lang="en-US" altLang="ja-JP" sz="1400" dirty="0">
              <a:solidFill>
                <a:srgbClr val="C00000"/>
              </a:solidFill>
            </a:endParaRPr>
          </a:p>
          <a:p>
            <a:r>
              <a:rPr lang="ja-JP" altLang="en-US" sz="1400" dirty="0">
                <a:solidFill>
                  <a:srgbClr val="C00000"/>
                </a:solidFill>
              </a:rPr>
              <a:t>　デバイス番号：チャンネル番号</a:t>
            </a:r>
            <a:r>
              <a:rPr lang="en-US" altLang="ja-JP" sz="1400" dirty="0">
                <a:solidFill>
                  <a:srgbClr val="C00000"/>
                </a:solidFill>
              </a:rPr>
              <a:t>(?)</a:t>
            </a:r>
            <a:r>
              <a:rPr lang="ja-JP" altLang="en-US" sz="1400" dirty="0">
                <a:solidFill>
                  <a:srgbClr val="C00000"/>
                </a:solidFill>
              </a:rPr>
              <a:t>とビット</a:t>
            </a:r>
            <a:r>
              <a:rPr lang="en-US" altLang="ja-JP" sz="1400" dirty="0">
                <a:solidFill>
                  <a:srgbClr val="C00000"/>
                </a:solidFill>
              </a:rPr>
              <a:t>(0</a:t>
            </a:r>
            <a:r>
              <a:rPr lang="ja-JP" altLang="en-US" sz="1400" dirty="0">
                <a:solidFill>
                  <a:srgbClr val="C00000"/>
                </a:solidFill>
              </a:rPr>
              <a:t>～</a:t>
            </a:r>
            <a:r>
              <a:rPr lang="en-US" altLang="ja-JP" sz="1400" dirty="0">
                <a:solidFill>
                  <a:srgbClr val="C00000"/>
                </a:solidFill>
              </a:rPr>
              <a:t>15)</a:t>
            </a:r>
            <a:r>
              <a:rPr lang="ja-JP" altLang="en-US" sz="1400" dirty="0">
                <a:solidFill>
                  <a:srgbClr val="C00000"/>
                </a:solidFill>
              </a:rPr>
              <a:t>で記録する（例：</a:t>
            </a:r>
            <a:r>
              <a:rPr lang="en-US" altLang="ja-JP" sz="1400" dirty="0">
                <a:solidFill>
                  <a:srgbClr val="C00000"/>
                </a:solidFill>
              </a:rPr>
              <a:t>LR10.5</a:t>
            </a:r>
            <a:r>
              <a:rPr lang="ja-JP" altLang="en-US" sz="1400" dirty="0">
                <a:solidFill>
                  <a:srgbClr val="C00000"/>
                </a:solidFill>
              </a:rPr>
              <a:t>　→ </a:t>
            </a:r>
            <a:r>
              <a:rPr lang="en-US" altLang="ja-JP" sz="1400" dirty="0">
                <a:solidFill>
                  <a:srgbClr val="C00000"/>
                </a:solidFill>
              </a:rPr>
              <a:t>1005</a:t>
            </a:r>
            <a:r>
              <a:rPr lang="ja-JP" altLang="en-US" sz="1400" dirty="0">
                <a:solidFill>
                  <a:srgbClr val="C00000"/>
                </a:solidFill>
              </a:rPr>
              <a:t>）。</a:t>
            </a:r>
            <a:r>
              <a:rPr lang="en-US" altLang="ja-JP" sz="1400" dirty="0">
                <a:solidFill>
                  <a:srgbClr val="C00000"/>
                </a:solidFill>
              </a:rPr>
              <a:t>2W</a:t>
            </a:r>
            <a:r>
              <a:rPr lang="ja-JP" altLang="en-US" sz="1400" dirty="0">
                <a:solidFill>
                  <a:srgbClr val="C00000"/>
                </a:solidFill>
              </a:rPr>
              <a:t>として扱う</a:t>
            </a:r>
            <a:endParaRPr lang="en-US" altLang="ja-JP" sz="1400" dirty="0">
              <a:solidFill>
                <a:srgbClr val="C00000"/>
              </a:solidFill>
            </a:endParaRPr>
          </a:p>
          <a:p>
            <a:r>
              <a:rPr lang="ja-JP" altLang="en-US" sz="1400" dirty="0">
                <a:solidFill>
                  <a:srgbClr val="C00000"/>
                </a:solidFill>
              </a:rPr>
              <a:t>　使用デバイス数：</a:t>
            </a:r>
            <a:r>
              <a:rPr lang="en-US" altLang="ja-JP" sz="1400" dirty="0">
                <a:solidFill>
                  <a:srgbClr val="C00000"/>
                </a:solidFill>
              </a:rPr>
              <a:t>2000W </a:t>
            </a:r>
            <a:r>
              <a:rPr lang="ja-JP" altLang="en-US" sz="1400" dirty="0">
                <a:solidFill>
                  <a:srgbClr val="C00000"/>
                </a:solidFill>
              </a:rPr>
              <a:t>（日時：</a:t>
            </a:r>
            <a:r>
              <a:rPr lang="en-US" altLang="ja-JP" sz="1400" dirty="0">
                <a:solidFill>
                  <a:srgbClr val="C00000"/>
                </a:solidFill>
              </a:rPr>
              <a:t>2Wx500</a:t>
            </a:r>
            <a:r>
              <a:rPr lang="ja-JP" altLang="en-US" sz="1400" dirty="0">
                <a:solidFill>
                  <a:srgbClr val="C00000"/>
                </a:solidFill>
              </a:rPr>
              <a:t>個＝</a:t>
            </a:r>
            <a:r>
              <a:rPr lang="en-US" altLang="ja-JP" sz="1400" dirty="0">
                <a:solidFill>
                  <a:srgbClr val="C00000"/>
                </a:solidFill>
              </a:rPr>
              <a:t>1000W / </a:t>
            </a:r>
            <a:r>
              <a:rPr lang="ja-JP" altLang="en-US" sz="1400" dirty="0">
                <a:solidFill>
                  <a:srgbClr val="C00000"/>
                </a:solidFill>
              </a:rPr>
              <a:t>デバイス番号：</a:t>
            </a:r>
            <a:r>
              <a:rPr lang="en-US" altLang="ja-JP" sz="1400" dirty="0">
                <a:solidFill>
                  <a:srgbClr val="C00000"/>
                </a:solidFill>
              </a:rPr>
              <a:t>2Wx500</a:t>
            </a:r>
            <a:r>
              <a:rPr lang="ja-JP" altLang="en-US" sz="1400" dirty="0">
                <a:solidFill>
                  <a:srgbClr val="C00000"/>
                </a:solidFill>
              </a:rPr>
              <a:t>個＝</a:t>
            </a:r>
            <a:r>
              <a:rPr lang="en-US" altLang="ja-JP" sz="1400" dirty="0">
                <a:solidFill>
                  <a:srgbClr val="C00000"/>
                </a:solidFill>
              </a:rPr>
              <a:t>1000W)</a:t>
            </a:r>
          </a:p>
          <a:p>
            <a:endParaRPr lang="en-US" altLang="ja-JP" sz="1400" dirty="0">
              <a:solidFill>
                <a:srgbClr val="C00000"/>
              </a:solidFill>
            </a:endParaRPr>
          </a:p>
          <a:p>
            <a:r>
              <a:rPr lang="ja-JP" altLang="en-US" sz="1400" dirty="0">
                <a:solidFill>
                  <a:srgbClr val="C00000"/>
                </a:solidFill>
              </a:rPr>
              <a:t>秒形式の日時データは</a:t>
            </a:r>
            <a:r>
              <a:rPr lang="en-US" altLang="ja-JP" sz="1400" dirty="0">
                <a:solidFill>
                  <a:srgbClr val="C00000"/>
                </a:solidFill>
              </a:rPr>
              <a:t>PLC</a:t>
            </a:r>
            <a:r>
              <a:rPr lang="ja-JP" altLang="en-US" sz="1400" dirty="0">
                <a:solidFill>
                  <a:srgbClr val="C00000"/>
                </a:solidFill>
              </a:rPr>
              <a:t>の「</a:t>
            </a:r>
            <a:r>
              <a:rPr lang="en-US" altLang="ja-JP" sz="1400" dirty="0">
                <a:solidFill>
                  <a:srgbClr val="C00000"/>
                </a:solidFill>
              </a:rPr>
              <a:t>SEC</a:t>
            </a:r>
            <a:r>
              <a:rPr lang="ja-JP" altLang="en-US" sz="1400" dirty="0">
                <a:solidFill>
                  <a:srgbClr val="C00000"/>
                </a:solidFill>
              </a:rPr>
              <a:t>」命令を使用する（基準日時＝</a:t>
            </a:r>
            <a:r>
              <a:rPr lang="en-US" altLang="ja-JP" sz="1400" dirty="0">
                <a:solidFill>
                  <a:srgbClr val="C00000"/>
                </a:solidFill>
              </a:rPr>
              <a:t>2000/1/1 00:00:00</a:t>
            </a:r>
            <a:r>
              <a:rPr lang="ja-JP" altLang="en-US" sz="1400" dirty="0">
                <a:solidFill>
                  <a:srgbClr val="C00000"/>
                </a:solidFill>
              </a:rPr>
              <a:t>）。</a:t>
            </a:r>
            <a:endParaRPr lang="en-US" altLang="ja-JP" sz="1400" dirty="0">
              <a:solidFill>
                <a:srgbClr val="C00000"/>
              </a:solidFill>
            </a:endParaRPr>
          </a:p>
          <a:p>
            <a:r>
              <a:rPr lang="en-US" altLang="ja-JP" sz="1400" dirty="0">
                <a:solidFill>
                  <a:srgbClr val="C00000"/>
                </a:solidFill>
              </a:rPr>
              <a:t>1</a:t>
            </a:r>
            <a:r>
              <a:rPr lang="ja-JP" altLang="en-US" sz="1400" dirty="0">
                <a:solidFill>
                  <a:srgbClr val="C00000"/>
                </a:solidFill>
              </a:rPr>
              <a:t>日ごとにリセットしない。最新</a:t>
            </a:r>
            <a:r>
              <a:rPr lang="en-US" altLang="ja-JP" sz="1400" dirty="0">
                <a:solidFill>
                  <a:srgbClr val="C00000"/>
                </a:solidFill>
              </a:rPr>
              <a:t>500</a:t>
            </a:r>
            <a:r>
              <a:rPr lang="ja-JP" altLang="en-US" sz="1400" dirty="0">
                <a:solidFill>
                  <a:srgbClr val="C00000"/>
                </a:solidFill>
              </a:rPr>
              <a:t>履歴が残っている状況を維持。</a:t>
            </a:r>
            <a:endParaRPr lang="en-US" altLang="ja-JP" sz="1400" dirty="0">
              <a:solidFill>
                <a:srgbClr val="C00000"/>
              </a:solidFill>
            </a:endParaRPr>
          </a:p>
          <a:p>
            <a:r>
              <a:rPr lang="ja-JP" altLang="en-US" sz="1400" dirty="0">
                <a:solidFill>
                  <a:srgbClr val="C00000"/>
                </a:solidFill>
              </a:rPr>
              <a:t>記録は</a:t>
            </a:r>
            <a:r>
              <a:rPr lang="en-US" altLang="ja-JP" sz="1400" dirty="0">
                <a:solidFill>
                  <a:srgbClr val="C00000"/>
                </a:solidFill>
              </a:rPr>
              <a:t>SQLite</a:t>
            </a:r>
            <a:r>
              <a:rPr lang="ja-JP" altLang="en-US" sz="1400" dirty="0">
                <a:solidFill>
                  <a:srgbClr val="C00000"/>
                </a:solidFill>
              </a:rPr>
              <a:t>で保存する（</a:t>
            </a:r>
            <a:r>
              <a:rPr lang="en-US" altLang="ja-JP" sz="1400" dirty="0">
                <a:solidFill>
                  <a:srgbClr val="C00000"/>
                </a:solidFill>
              </a:rPr>
              <a:t>PC</a:t>
            </a:r>
            <a:r>
              <a:rPr lang="ja-JP" altLang="en-US" sz="1400" dirty="0">
                <a:solidFill>
                  <a:srgbClr val="C00000"/>
                </a:solidFill>
              </a:rPr>
              <a:t>は重複しないようにデータ登録する）。</a:t>
            </a:r>
            <a:endParaRPr lang="en-US" altLang="ja-JP" sz="1400" dirty="0">
              <a:solidFill>
                <a:srgbClr val="C00000"/>
              </a:solidFill>
            </a:endParaRPr>
          </a:p>
          <a:p>
            <a:r>
              <a:rPr lang="ja-JP" altLang="en-US" sz="1400" dirty="0">
                <a:solidFill>
                  <a:srgbClr val="C00000"/>
                </a:solidFill>
              </a:rPr>
              <a:t>アラーム名称は</a:t>
            </a:r>
            <a:r>
              <a:rPr lang="en-US" altLang="ja-JP" sz="1400" dirty="0">
                <a:solidFill>
                  <a:srgbClr val="C00000"/>
                </a:solidFill>
              </a:rPr>
              <a:t>PLC</a:t>
            </a:r>
            <a:r>
              <a:rPr lang="ja-JP" altLang="en-US" sz="1400" dirty="0">
                <a:solidFill>
                  <a:srgbClr val="C00000"/>
                </a:solidFill>
              </a:rPr>
              <a:t>から読みだして使用する。</a:t>
            </a:r>
            <a:endParaRPr lang="en-US" altLang="ja-JP" sz="1400" dirty="0">
              <a:solidFill>
                <a:srgbClr val="C00000"/>
              </a:solidFill>
            </a:endParaRPr>
          </a:p>
          <a:p>
            <a:endParaRPr kumimoji="1" lang="en-US" altLang="ja-JP" sz="1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74A9B4-F3E3-98D5-A793-A7623F0986AC}"/>
              </a:ext>
            </a:extLst>
          </p:cNvPr>
          <p:cNvSpPr txBox="1"/>
          <p:nvPr/>
        </p:nvSpPr>
        <p:spPr>
          <a:xfrm>
            <a:off x="9934832" y="337295"/>
            <a:ext cx="1742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600" dirty="0"/>
              <a:t>2027.7.9 </a:t>
            </a:r>
            <a:r>
              <a:rPr kumimoji="1" lang="ja-JP" altLang="en-US" sz="1600" dirty="0"/>
              <a:t>文博</a:t>
            </a:r>
          </a:p>
        </p:txBody>
      </p:sp>
    </p:spTree>
    <p:extLst>
      <p:ext uri="{BB962C8B-B14F-4D97-AF65-F5344CB8AC3E}">
        <p14:creationId xmlns:p14="http://schemas.microsoft.com/office/powerpoint/2010/main" val="2327845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245</Words>
  <Application>Microsoft Office PowerPoint</Application>
  <PresentationFormat>ワイド画面</PresentationFormat>
  <Paragraphs>23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2026-07-09T05:27:42Z</dcterms:created>
  <dcterms:modified xsi:type="dcterms:W3CDTF">2026-07-09T06:55:59Z</dcterms:modified>
</cp:coreProperties>
</file>