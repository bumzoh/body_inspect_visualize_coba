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94660"/>
  </p:normalViewPr>
  <p:slideViewPr>
    <p:cSldViewPr snapToGrid="0">
      <p:cViewPr>
        <p:scale>
          <a:sx n="100" d="100"/>
          <a:sy n="100" d="100"/>
        </p:scale>
        <p:origin x="80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418C27-436E-72A3-EA37-52E743540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9F0F752-48DB-015B-EBA7-DCB7354E28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E877B3-5F1B-2D43-42BA-0AC58616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748F96C-030B-3368-EACF-5E4DB6CC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15DDD4-40CF-9BD8-1025-C7A7DBB6F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0921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9A143-6DC4-C42F-588B-DC824B62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116EF6-366A-062F-D8FF-6590C9FD3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D2CEEDF-33A4-BC43-B478-799842D2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27DBEB-2FA3-4C4E-8FBA-A63ADDBC6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53ACC5-F206-A4D5-4E1F-D06D8C354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4236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840CEE-9D5A-20EA-0A1C-16D61BD41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471C42-51E4-0C9D-F122-6D7EE1A60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52692D-41A4-1E0C-A878-0F0770CE9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1B3D4A-EF39-3429-C317-F3402E27C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013BD5-A194-1259-DB95-6436755A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128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6F3C9F-4EF7-4666-A9BB-34137120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C03F27-67B1-CC8B-BD98-5567A1CC8C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883367-026B-F70A-31DF-B21625ECC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087740-E3DE-15D3-A500-AFA805B4A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48B9EA0-E14C-539F-9798-A131DB3F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0855FF-7F95-4888-8939-774E4191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9539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8972DF-3814-3C00-20C8-60EDB92D7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7BBF45-9821-BCA3-4984-0FE78129A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10F33A8-568A-32B9-698F-8FF1926FF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60E135F-4B2B-C7EE-A9AC-D74BA1648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27D9269-EC9A-22C9-0CBE-1A2D131F82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731B05-4437-2134-A56D-A98F88BAA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ECC62B8-F9B9-8C91-40E2-66D29147C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507AAE1-EF41-FD3B-846C-B6F4BAF6C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48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009E9D-BF08-DEF7-62CE-D8F4BD24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1C9848F-F3DC-F5F5-203F-7827D4B2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FBA1FA8-FCDD-8C1E-547F-A64D712CC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6A1D21B-F2F6-48CF-CEE1-D4E8F9D1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397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7507665-207C-9ECE-A2AF-295D6591F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F9279DB-D7E6-A117-8127-F5A00C5A9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E1960F-2F9E-AB88-0722-029D47E3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3767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A2E4A6-653A-6C5C-DDCC-C7216AE96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291E47-8FAB-756C-4E0A-E2493B5D5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451B34C-FEA6-11FB-443E-181BBAEB85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E90CC9-30DE-D395-0FD2-29757C183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1574723-344D-18EF-F61E-CB6326C8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FE0987-411A-6054-5FBA-2D3532294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933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63B046-3494-BF50-4DF0-A18367D1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0881187-89EF-BAD2-F5D4-B1F60B748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075AA9-06D1-2BBC-D801-FE11D5E53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589B0C-D057-B0C0-8EDB-2E14A509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59AA2C-6AA2-35C4-9FFE-FD4AF155C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24C342-E2E6-1D5B-1F00-F57B96CF2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045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DD7AE0-9F27-C0AA-58F5-F8BB9660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1F8D3A7-4A15-4F78-1031-60D37E46A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0075F1-8F60-B0C9-1341-8A9E82B67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17821C5-5B7A-6ADE-B570-1DE8AD66B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BA30A8-3143-E844-60A2-B47239CD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65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A36A95-52F4-396C-28CA-C2260ED9FB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B0934DB-FA61-E8C3-533B-FB724C99E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F705A53-6FA4-DFA0-6B94-5859A3F65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65FF4-FB7B-4546-AEDF-E8D6362B3E6C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9E8866-AB38-A732-13B9-4B57F8DB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CADA84-7529-CA5B-0786-1D35A7A8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54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A768D9-DADE-633A-B2A3-1166B17A1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9BD333-8F8A-CEAD-0182-57DD2DB85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32B70B7-1362-24D0-A56D-F64161E95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65FF4-FB7B-4546-AEDF-E8D6362B3E6C}" type="datetimeFigureOut">
              <a:rPr kumimoji="1" lang="ja-JP" altLang="en-US" smtClean="0"/>
              <a:t>2026/5/11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B9D8B0-C06C-FDEC-6415-012AAD968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EA9C4D-B68C-732D-8848-6CC60E164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56CEE-D5C4-4248-BEC6-325B9F7F0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2900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0AFFAD9-D5AE-80FF-4E7C-F2629EF0C335}"/>
              </a:ext>
            </a:extLst>
          </p:cNvPr>
          <p:cNvSpPr/>
          <p:nvPr/>
        </p:nvSpPr>
        <p:spPr>
          <a:xfrm>
            <a:off x="739139" y="1410567"/>
            <a:ext cx="2503747" cy="12395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E82F8A7-0E58-9E8B-4D25-C0B974DD2ACE}"/>
              </a:ext>
            </a:extLst>
          </p:cNvPr>
          <p:cNvSpPr txBox="1"/>
          <p:nvPr/>
        </p:nvSpPr>
        <p:spPr>
          <a:xfrm>
            <a:off x="669174" y="1179645"/>
            <a:ext cx="1538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PLC(KV</a:t>
            </a:r>
            <a:r>
              <a:rPr kumimoji="1" lang="ja-JP" altLang="en-US" sz="1200" dirty="0"/>
              <a:t>シリーズ</a:t>
            </a:r>
            <a:r>
              <a:rPr kumimoji="1" lang="en-US" altLang="ja-JP" sz="1200" dirty="0"/>
              <a:t>)</a:t>
            </a:r>
            <a:endParaRPr kumimoji="1" lang="ja-JP" altLang="en-US" sz="12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FF65BA4-97EF-00A2-069F-B31B4BC94704}"/>
              </a:ext>
            </a:extLst>
          </p:cNvPr>
          <p:cNvSpPr/>
          <p:nvPr/>
        </p:nvSpPr>
        <p:spPr>
          <a:xfrm>
            <a:off x="1596839" y="1655814"/>
            <a:ext cx="1463559" cy="854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四角形: 1 つの角を切り取る 6">
            <a:extLst>
              <a:ext uri="{FF2B5EF4-FFF2-40B4-BE49-F238E27FC236}">
                <a16:creationId xmlns:a16="http://schemas.microsoft.com/office/drawing/2014/main" id="{3EBDB43C-7BB7-269B-6A2A-F3DB04E2F40B}"/>
              </a:ext>
            </a:extLst>
          </p:cNvPr>
          <p:cNvSpPr/>
          <p:nvPr/>
        </p:nvSpPr>
        <p:spPr>
          <a:xfrm>
            <a:off x="1768747" y="1778168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稼働データ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8B9DAEF-B369-3D21-9F3E-ADE6BE21EEE1}"/>
              </a:ext>
            </a:extLst>
          </p:cNvPr>
          <p:cNvSpPr/>
          <p:nvPr/>
        </p:nvSpPr>
        <p:spPr>
          <a:xfrm>
            <a:off x="837825" y="1655815"/>
            <a:ext cx="660170" cy="8545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E470E3D-9787-23E8-F5E9-114C13F7C913}"/>
              </a:ext>
            </a:extLst>
          </p:cNvPr>
          <p:cNvSpPr txBox="1"/>
          <p:nvPr/>
        </p:nvSpPr>
        <p:spPr>
          <a:xfrm>
            <a:off x="790517" y="1470972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4D57D23-CDB6-EAFD-69AF-FFDD306A5C3C}"/>
              </a:ext>
            </a:extLst>
          </p:cNvPr>
          <p:cNvSpPr txBox="1"/>
          <p:nvPr/>
        </p:nvSpPr>
        <p:spPr>
          <a:xfrm>
            <a:off x="1496421" y="1479862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11" name="四角形: 1 つの角を切り取る 10">
            <a:extLst>
              <a:ext uri="{FF2B5EF4-FFF2-40B4-BE49-F238E27FC236}">
                <a16:creationId xmlns:a16="http://schemas.microsoft.com/office/drawing/2014/main" id="{1118C512-1894-13D9-1DD8-7F8ED16F4B7F}"/>
              </a:ext>
            </a:extLst>
          </p:cNvPr>
          <p:cNvSpPr/>
          <p:nvPr/>
        </p:nvSpPr>
        <p:spPr>
          <a:xfrm>
            <a:off x="1768747" y="2102787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 dirty="0">
                <a:solidFill>
                  <a:schemeClr val="tx1"/>
                </a:solidFill>
              </a:rPr>
              <a:t>GT2</a:t>
            </a:r>
            <a:r>
              <a:rPr kumimoji="1" lang="ja-JP" altLang="en-US" sz="800" dirty="0">
                <a:solidFill>
                  <a:schemeClr val="tx1"/>
                </a:solidFill>
              </a:rPr>
              <a:t>測定データ</a:t>
            </a:r>
            <a:r>
              <a:rPr lang="en-US" altLang="ja-JP" sz="800" dirty="0">
                <a:solidFill>
                  <a:schemeClr val="tx1"/>
                </a:solidFill>
              </a:rPr>
              <a:t>.CSV</a:t>
            </a:r>
            <a:endParaRPr kumimoji="1" lang="en-US" altLang="ja-JP" sz="800" dirty="0">
              <a:solidFill>
                <a:schemeClr val="tx1"/>
              </a:solidFill>
            </a:endParaRP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0A8FE9A6-A74C-9A58-DBD7-66172E182D1E}"/>
              </a:ext>
            </a:extLst>
          </p:cNvPr>
          <p:cNvSpPr/>
          <p:nvPr/>
        </p:nvSpPr>
        <p:spPr>
          <a:xfrm>
            <a:off x="1394742" y="1952221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3FEC737-5A96-39C4-7549-89A4432623EC}"/>
              </a:ext>
            </a:extLst>
          </p:cNvPr>
          <p:cNvSpPr/>
          <p:nvPr/>
        </p:nvSpPr>
        <p:spPr>
          <a:xfrm>
            <a:off x="739139" y="3312942"/>
            <a:ext cx="2503747" cy="906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38773A7-F705-A26F-9BA1-FB1EA7D5AC4C}"/>
              </a:ext>
            </a:extLst>
          </p:cNvPr>
          <p:cNvSpPr txBox="1"/>
          <p:nvPr/>
        </p:nvSpPr>
        <p:spPr>
          <a:xfrm>
            <a:off x="669174" y="3082020"/>
            <a:ext cx="22054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タッチパネル</a:t>
            </a:r>
            <a:r>
              <a:rPr kumimoji="1" lang="en-US" altLang="ja-JP" sz="1200" dirty="0"/>
              <a:t>(VT</a:t>
            </a:r>
            <a:r>
              <a:rPr kumimoji="1" lang="ja-JP" altLang="en-US" sz="1200" dirty="0"/>
              <a:t>シリーズ</a:t>
            </a:r>
            <a:r>
              <a:rPr kumimoji="1" lang="en-US" altLang="ja-JP" sz="1200" dirty="0"/>
              <a:t>)</a:t>
            </a:r>
            <a:endParaRPr kumimoji="1" lang="ja-JP" altLang="en-US" sz="1200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88D3A15-1B75-BCA9-C852-2B967CB470F2}"/>
              </a:ext>
            </a:extLst>
          </p:cNvPr>
          <p:cNvSpPr/>
          <p:nvPr/>
        </p:nvSpPr>
        <p:spPr>
          <a:xfrm>
            <a:off x="1596839" y="3558189"/>
            <a:ext cx="1463559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四角形: 1 つの角を切り取る 15">
            <a:extLst>
              <a:ext uri="{FF2B5EF4-FFF2-40B4-BE49-F238E27FC236}">
                <a16:creationId xmlns:a16="http://schemas.microsoft.com/office/drawing/2014/main" id="{3848EAC4-D212-B549-763C-45ED7D33EF43}"/>
              </a:ext>
            </a:extLst>
          </p:cNvPr>
          <p:cNvSpPr/>
          <p:nvPr/>
        </p:nvSpPr>
        <p:spPr>
          <a:xfrm>
            <a:off x="1768747" y="3680543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アラーム履歴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875974B-D680-58C1-B09E-48DE67E81B8F}"/>
              </a:ext>
            </a:extLst>
          </p:cNvPr>
          <p:cNvSpPr/>
          <p:nvPr/>
        </p:nvSpPr>
        <p:spPr>
          <a:xfrm>
            <a:off x="889361" y="3558190"/>
            <a:ext cx="608634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51BC7E2-1DC4-CAAE-52F4-C91ACFE37211}"/>
              </a:ext>
            </a:extLst>
          </p:cNvPr>
          <p:cNvSpPr txBox="1"/>
          <p:nvPr/>
        </p:nvSpPr>
        <p:spPr>
          <a:xfrm>
            <a:off x="790517" y="3373347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098FF69-D2C2-E137-F7A7-92BDFF9415A1}"/>
              </a:ext>
            </a:extLst>
          </p:cNvPr>
          <p:cNvSpPr txBox="1"/>
          <p:nvPr/>
        </p:nvSpPr>
        <p:spPr>
          <a:xfrm>
            <a:off x="1496421" y="3382237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AC47CCE1-1C60-9B96-7014-BED67E1653FE}"/>
              </a:ext>
            </a:extLst>
          </p:cNvPr>
          <p:cNvSpPr/>
          <p:nvPr/>
        </p:nvSpPr>
        <p:spPr>
          <a:xfrm>
            <a:off x="1394742" y="3746646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798DCE1-C610-8507-813F-0BDBD5705985}"/>
              </a:ext>
            </a:extLst>
          </p:cNvPr>
          <p:cNvSpPr/>
          <p:nvPr/>
        </p:nvSpPr>
        <p:spPr>
          <a:xfrm>
            <a:off x="739139" y="4764381"/>
            <a:ext cx="2503747" cy="9062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748793-B955-FA66-883E-DB83CD5EF480}"/>
              </a:ext>
            </a:extLst>
          </p:cNvPr>
          <p:cNvSpPr txBox="1"/>
          <p:nvPr/>
        </p:nvSpPr>
        <p:spPr>
          <a:xfrm>
            <a:off x="669174" y="4533459"/>
            <a:ext cx="2391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画像コントローラ</a:t>
            </a:r>
            <a:r>
              <a:rPr kumimoji="1" lang="en-US" altLang="ja-JP" sz="1200" dirty="0"/>
              <a:t>(XG-X)</a:t>
            </a:r>
            <a:endParaRPr kumimoji="1" lang="ja-JP" altLang="en-US" sz="1200" dirty="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6F47C72A-59E8-8E84-288E-CFFB0E84283C}"/>
              </a:ext>
            </a:extLst>
          </p:cNvPr>
          <p:cNvSpPr/>
          <p:nvPr/>
        </p:nvSpPr>
        <p:spPr>
          <a:xfrm>
            <a:off x="1596839" y="5009628"/>
            <a:ext cx="1463559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四角形: 1 つの角を切り取る 24">
            <a:extLst>
              <a:ext uri="{FF2B5EF4-FFF2-40B4-BE49-F238E27FC236}">
                <a16:creationId xmlns:a16="http://schemas.microsoft.com/office/drawing/2014/main" id="{3F88DC94-353E-C268-33B7-9DC0B9A69D39}"/>
              </a:ext>
            </a:extLst>
          </p:cNvPr>
          <p:cNvSpPr/>
          <p:nvPr/>
        </p:nvSpPr>
        <p:spPr>
          <a:xfrm>
            <a:off x="1768747" y="5131982"/>
            <a:ext cx="1150620" cy="265493"/>
          </a:xfrm>
          <a:prstGeom prst="snip1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数値測定結果</a:t>
            </a:r>
            <a:r>
              <a:rPr kumimoji="1" lang="en-US" altLang="ja-JP" sz="800" dirty="0">
                <a:solidFill>
                  <a:schemeClr val="tx1"/>
                </a:solidFill>
              </a:rPr>
              <a:t>.CSV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D63927A-2925-EECE-6BAF-7728961081C8}"/>
              </a:ext>
            </a:extLst>
          </p:cNvPr>
          <p:cNvSpPr/>
          <p:nvPr/>
        </p:nvSpPr>
        <p:spPr>
          <a:xfrm>
            <a:off x="889361" y="5009629"/>
            <a:ext cx="608634" cy="5149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941ED7C-5AFB-286C-4EE1-41D42943236F}"/>
              </a:ext>
            </a:extLst>
          </p:cNvPr>
          <p:cNvSpPr txBox="1"/>
          <p:nvPr/>
        </p:nvSpPr>
        <p:spPr>
          <a:xfrm>
            <a:off x="790517" y="4824786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内部メモリ</a:t>
            </a:r>
            <a:endParaRPr kumimoji="1" lang="ja-JP" altLang="en-US" sz="8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C4E8DFE-301A-997A-EF30-24C470DB76C5}"/>
              </a:ext>
            </a:extLst>
          </p:cNvPr>
          <p:cNvSpPr txBox="1"/>
          <p:nvPr/>
        </p:nvSpPr>
        <p:spPr>
          <a:xfrm>
            <a:off x="1496421" y="4833676"/>
            <a:ext cx="8155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800" dirty="0"/>
              <a:t>SD</a:t>
            </a:r>
            <a:r>
              <a:rPr lang="ja-JP" altLang="en-US" sz="800" dirty="0"/>
              <a:t>カード</a:t>
            </a:r>
            <a:endParaRPr kumimoji="1" lang="ja-JP" altLang="en-US" sz="800" dirty="0"/>
          </a:p>
        </p:txBody>
      </p:sp>
      <p:sp>
        <p:nvSpPr>
          <p:cNvPr id="29" name="矢印: 右 28">
            <a:extLst>
              <a:ext uri="{FF2B5EF4-FFF2-40B4-BE49-F238E27FC236}">
                <a16:creationId xmlns:a16="http://schemas.microsoft.com/office/drawing/2014/main" id="{A88521F6-6FE0-95D5-1B9B-12DB2C39BCB0}"/>
              </a:ext>
            </a:extLst>
          </p:cNvPr>
          <p:cNvSpPr/>
          <p:nvPr/>
        </p:nvSpPr>
        <p:spPr>
          <a:xfrm>
            <a:off x="1394742" y="5198085"/>
            <a:ext cx="282633" cy="182880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73F55FB-EED8-AD8D-AD01-BD538DCD33BA}"/>
              </a:ext>
            </a:extLst>
          </p:cNvPr>
          <p:cNvSpPr txBox="1"/>
          <p:nvPr/>
        </p:nvSpPr>
        <p:spPr>
          <a:xfrm>
            <a:off x="739139" y="2641710"/>
            <a:ext cx="2503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稼働データは</a:t>
            </a:r>
            <a:r>
              <a:rPr kumimoji="1" lang="en-US" altLang="ja-JP" sz="800" dirty="0"/>
              <a:t>1</a:t>
            </a:r>
            <a:r>
              <a:rPr kumimoji="1" lang="ja-JP" altLang="en-US" sz="800" dirty="0"/>
              <a:t>日に</a:t>
            </a:r>
            <a:r>
              <a:rPr kumimoji="1" lang="en-US" altLang="ja-JP" sz="800" dirty="0"/>
              <a:t>1</a:t>
            </a:r>
            <a:r>
              <a:rPr kumimoji="1" lang="ja-JP" altLang="en-US" sz="800" dirty="0"/>
              <a:t>回自動出力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測定データは固定数毎</a:t>
            </a:r>
            <a:r>
              <a:rPr lang="en-US" altLang="ja-JP" sz="800" dirty="0"/>
              <a:t>(</a:t>
            </a:r>
            <a:r>
              <a:rPr lang="ja-JP" altLang="en-US" sz="800" dirty="0"/>
              <a:t>例えば</a:t>
            </a:r>
            <a:r>
              <a:rPr lang="en-US" altLang="ja-JP" sz="800" dirty="0"/>
              <a:t>1000</a:t>
            </a:r>
            <a:r>
              <a:rPr lang="ja-JP" altLang="en-US" sz="800" dirty="0"/>
              <a:t>個毎</a:t>
            </a:r>
            <a:r>
              <a:rPr lang="en-US" altLang="ja-JP" sz="800" dirty="0"/>
              <a:t>)</a:t>
            </a:r>
            <a:endParaRPr kumimoji="1" lang="ja-JP" altLang="en-US" sz="8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9778971D-A49A-68E7-FF76-1AD95645D78D}"/>
              </a:ext>
            </a:extLst>
          </p:cNvPr>
          <p:cNvSpPr txBox="1"/>
          <p:nvPr/>
        </p:nvSpPr>
        <p:spPr>
          <a:xfrm>
            <a:off x="739138" y="4211400"/>
            <a:ext cx="25037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アラーム履歴は</a:t>
            </a:r>
            <a:r>
              <a:rPr kumimoji="1" lang="en-US" altLang="ja-JP" sz="800" dirty="0"/>
              <a:t>PC</a:t>
            </a:r>
            <a:r>
              <a:rPr kumimoji="1" lang="ja-JP" altLang="en-US" sz="800" dirty="0"/>
              <a:t>からの要求時に</a:t>
            </a:r>
            <a:r>
              <a:rPr kumimoji="1" lang="en-US" altLang="ja-JP" sz="800" dirty="0"/>
              <a:t>SD</a:t>
            </a:r>
            <a:r>
              <a:rPr kumimoji="1" lang="ja-JP" altLang="en-US" sz="800" dirty="0"/>
              <a:t>へ出力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7C85114-E6FD-DE97-4937-827673BC8FA2}"/>
              </a:ext>
            </a:extLst>
          </p:cNvPr>
          <p:cNvSpPr txBox="1"/>
          <p:nvPr/>
        </p:nvSpPr>
        <p:spPr>
          <a:xfrm>
            <a:off x="739138" y="5670664"/>
            <a:ext cx="2503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測定時に自動出力される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最新ファイルは</a:t>
            </a:r>
            <a:r>
              <a:rPr lang="en-US" altLang="ja-JP" sz="800" dirty="0"/>
              <a:t>PC</a:t>
            </a:r>
            <a:r>
              <a:rPr lang="ja-JP" altLang="en-US" sz="800" dirty="0"/>
              <a:t>からアクセスしない</a:t>
            </a:r>
            <a:endParaRPr lang="en-US" altLang="ja-JP" sz="800" dirty="0"/>
          </a:p>
          <a:p>
            <a:r>
              <a:rPr kumimoji="1" lang="en-US" altLang="ja-JP" sz="800" dirty="0"/>
              <a:t>  </a:t>
            </a:r>
            <a:r>
              <a:rPr kumimoji="1" lang="ja-JP" altLang="en-US" sz="800" dirty="0"/>
              <a:t> </a:t>
            </a:r>
            <a:r>
              <a:rPr kumimoji="1" lang="en-US" altLang="ja-JP" sz="800" dirty="0"/>
              <a:t>(</a:t>
            </a:r>
            <a:r>
              <a:rPr kumimoji="1" lang="ja-JP" altLang="en-US" sz="800" dirty="0"/>
              <a:t>データが壊れる可能性があるため）</a:t>
            </a:r>
            <a:endParaRPr kumimoji="1" lang="en-US" altLang="ja-JP" sz="800" dirty="0"/>
          </a:p>
          <a:p>
            <a:r>
              <a:rPr lang="en-US" altLang="ja-JP" sz="800" dirty="0"/>
              <a:t>※</a:t>
            </a:r>
            <a:r>
              <a:rPr lang="ja-JP" altLang="en-US" sz="800" dirty="0"/>
              <a:t>画像データは巨大すぎるため対象外</a:t>
            </a:r>
            <a:endParaRPr lang="en-US" altLang="ja-JP" sz="800" dirty="0"/>
          </a:p>
          <a:p>
            <a:r>
              <a:rPr kumimoji="1" lang="en-US" altLang="ja-JP" sz="800" dirty="0"/>
              <a:t>※</a:t>
            </a:r>
            <a:r>
              <a:rPr kumimoji="1" lang="ja-JP" altLang="en-US" sz="800" dirty="0"/>
              <a:t>データ出力ユニットを利用する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DE030D1-3C64-4465-0DEE-9F11F57BB44F}"/>
              </a:ext>
            </a:extLst>
          </p:cNvPr>
          <p:cNvSpPr/>
          <p:nvPr/>
        </p:nvSpPr>
        <p:spPr>
          <a:xfrm>
            <a:off x="861097" y="1685149"/>
            <a:ext cx="600926" cy="2748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800" dirty="0">
                <a:solidFill>
                  <a:schemeClr val="tx1"/>
                </a:solidFill>
              </a:rPr>
              <a:t>カウンタ</a:t>
            </a: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477DE2E5-CB42-0F15-C3AA-5FC7FBDC0D1F}"/>
              </a:ext>
            </a:extLst>
          </p:cNvPr>
          <p:cNvSpPr/>
          <p:nvPr/>
        </p:nvSpPr>
        <p:spPr>
          <a:xfrm>
            <a:off x="523009" y="1086368"/>
            <a:ext cx="3549534" cy="5394961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06E11FBE-DE01-BAF7-54B1-8012E271821F}"/>
              </a:ext>
            </a:extLst>
          </p:cNvPr>
          <p:cNvSpPr/>
          <p:nvPr/>
        </p:nvSpPr>
        <p:spPr>
          <a:xfrm>
            <a:off x="3327629" y="1410567"/>
            <a:ext cx="621161" cy="440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HUB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04252902-8C41-9B71-9E3F-4526156316B2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242886" y="1849264"/>
            <a:ext cx="266008" cy="181063"/>
          </a:xfrm>
          <a:prstGeom prst="bentConnector3">
            <a:avLst>
              <a:gd name="adj1" fmla="val 94162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41C35EFF-7DAC-3986-2E44-6C97D2496991}"/>
              </a:ext>
            </a:extLst>
          </p:cNvPr>
          <p:cNvCxnSpPr>
            <a:cxnSpLocks/>
            <a:stCxn id="13" idx="3"/>
            <a:endCxn id="35" idx="2"/>
          </p:cNvCxnSpPr>
          <p:nvPr/>
        </p:nvCxnSpPr>
        <p:spPr>
          <a:xfrm flipV="1">
            <a:off x="3242886" y="1851188"/>
            <a:ext cx="395324" cy="1914896"/>
          </a:xfrm>
          <a:prstGeom prst="bentConnector2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コネクタ: カギ線 43">
            <a:extLst>
              <a:ext uri="{FF2B5EF4-FFF2-40B4-BE49-F238E27FC236}">
                <a16:creationId xmlns:a16="http://schemas.microsoft.com/office/drawing/2014/main" id="{B3260882-5C29-3428-64A6-D61C964E766C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3242886" y="1849264"/>
            <a:ext cx="539058" cy="3368259"/>
          </a:xfrm>
          <a:prstGeom prst="bentConnector2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79CF9DC5-5C06-B6A5-ACD4-5FDEA8E55C3E}"/>
              </a:ext>
            </a:extLst>
          </p:cNvPr>
          <p:cNvSpPr/>
          <p:nvPr/>
        </p:nvSpPr>
        <p:spPr>
          <a:xfrm>
            <a:off x="5322790" y="1041654"/>
            <a:ext cx="2781430" cy="1833442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3A6FD659-F172-9898-EA1B-2FF87E5EF9EC}"/>
              </a:ext>
            </a:extLst>
          </p:cNvPr>
          <p:cNvSpPr txBox="1"/>
          <p:nvPr/>
        </p:nvSpPr>
        <p:spPr>
          <a:xfrm>
            <a:off x="523009" y="814575"/>
            <a:ext cx="9390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検査装置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F83A6C2F-C447-ED40-75BF-845AC99272C4}"/>
              </a:ext>
            </a:extLst>
          </p:cNvPr>
          <p:cNvSpPr txBox="1"/>
          <p:nvPr/>
        </p:nvSpPr>
        <p:spPr>
          <a:xfrm>
            <a:off x="5322790" y="809369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現場</a:t>
            </a:r>
            <a:r>
              <a:rPr kumimoji="1" lang="en-US" altLang="ja-JP" sz="1200" dirty="0"/>
              <a:t>PC</a:t>
            </a:r>
            <a:endParaRPr kumimoji="1" lang="ja-JP" altLang="en-US" sz="1200" dirty="0"/>
          </a:p>
        </p:txBody>
      </p:sp>
      <p:sp>
        <p:nvSpPr>
          <p:cNvPr id="58" name="円柱 57">
            <a:extLst>
              <a:ext uri="{FF2B5EF4-FFF2-40B4-BE49-F238E27FC236}">
                <a16:creationId xmlns:a16="http://schemas.microsoft.com/office/drawing/2014/main" id="{C2C7750B-1896-4763-C2A9-EEC5FDF56493}"/>
              </a:ext>
            </a:extLst>
          </p:cNvPr>
          <p:cNvSpPr/>
          <p:nvPr/>
        </p:nvSpPr>
        <p:spPr>
          <a:xfrm>
            <a:off x="6992070" y="1441501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DB</a:t>
            </a:r>
            <a:r>
              <a:rPr kumimoji="1" lang="ja-JP" altLang="en-US" sz="900" dirty="0">
                <a:solidFill>
                  <a:schemeClr val="tx1"/>
                </a:solidFill>
              </a:rPr>
              <a:t>ファイル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723ADD5B-83C7-A44E-9133-33E22D9AFFDE}"/>
              </a:ext>
            </a:extLst>
          </p:cNvPr>
          <p:cNvSpPr/>
          <p:nvPr/>
        </p:nvSpPr>
        <p:spPr>
          <a:xfrm>
            <a:off x="5509454" y="1361664"/>
            <a:ext cx="1038707" cy="5208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900" dirty="0">
                <a:solidFill>
                  <a:schemeClr val="tx1"/>
                </a:solidFill>
              </a:rPr>
              <a:t>データ登録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プログラム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61" name="矢印: 右 60">
            <a:extLst>
              <a:ext uri="{FF2B5EF4-FFF2-40B4-BE49-F238E27FC236}">
                <a16:creationId xmlns:a16="http://schemas.microsoft.com/office/drawing/2014/main" id="{FC495AD9-56BA-3247-189E-CD93BBA1E964}"/>
              </a:ext>
            </a:extLst>
          </p:cNvPr>
          <p:cNvSpPr/>
          <p:nvPr/>
        </p:nvSpPr>
        <p:spPr>
          <a:xfrm>
            <a:off x="6557962" y="1564374"/>
            <a:ext cx="434108" cy="213794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2" name="コネクタ: カギ線 61">
            <a:extLst>
              <a:ext uri="{FF2B5EF4-FFF2-40B4-BE49-F238E27FC236}">
                <a16:creationId xmlns:a16="http://schemas.microsoft.com/office/drawing/2014/main" id="{2D0E463D-67CA-0015-AF6A-5AAE7B80E42F}"/>
              </a:ext>
            </a:extLst>
          </p:cNvPr>
          <p:cNvCxnSpPr>
            <a:cxnSpLocks/>
            <a:stCxn id="54" idx="1"/>
            <a:endCxn id="77" idx="3"/>
          </p:cNvCxnSpPr>
          <p:nvPr/>
        </p:nvCxnSpPr>
        <p:spPr>
          <a:xfrm rot="10800000">
            <a:off x="4980122" y="1628955"/>
            <a:ext cx="342668" cy="329421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AB0959BA-9687-E5FE-7964-3E3BACE73894}"/>
              </a:ext>
            </a:extLst>
          </p:cNvPr>
          <p:cNvSpPr/>
          <p:nvPr/>
        </p:nvSpPr>
        <p:spPr>
          <a:xfrm>
            <a:off x="4358961" y="1408643"/>
            <a:ext cx="621161" cy="440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HUB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80" name="コネクタ: カギ線 79">
            <a:extLst>
              <a:ext uri="{FF2B5EF4-FFF2-40B4-BE49-F238E27FC236}">
                <a16:creationId xmlns:a16="http://schemas.microsoft.com/office/drawing/2014/main" id="{27DCEC72-51D3-8413-A4DF-36EB13F2B98C}"/>
              </a:ext>
            </a:extLst>
          </p:cNvPr>
          <p:cNvCxnSpPr>
            <a:cxnSpLocks/>
            <a:stCxn id="77" idx="1"/>
            <a:endCxn id="35" idx="3"/>
          </p:cNvCxnSpPr>
          <p:nvPr/>
        </p:nvCxnSpPr>
        <p:spPr>
          <a:xfrm rot="10800000" flipV="1">
            <a:off x="3948791" y="1628954"/>
            <a:ext cx="410171" cy="1924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F74FC92A-20BD-D8E3-0509-8011643DC4C8}"/>
              </a:ext>
            </a:extLst>
          </p:cNvPr>
          <p:cNvSpPr txBox="1"/>
          <p:nvPr/>
        </p:nvSpPr>
        <p:spPr>
          <a:xfrm>
            <a:off x="5214577" y="2985895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見える化</a:t>
            </a:r>
            <a:r>
              <a:rPr lang="ja-JP" altLang="en-US" sz="1200" dirty="0"/>
              <a:t>モニタ</a:t>
            </a:r>
            <a:endParaRPr kumimoji="1" lang="ja-JP" altLang="en-US" sz="1200" dirty="0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4EC98FEB-123B-384B-B384-CAE0670592F8}"/>
              </a:ext>
            </a:extLst>
          </p:cNvPr>
          <p:cNvSpPr/>
          <p:nvPr/>
        </p:nvSpPr>
        <p:spPr>
          <a:xfrm>
            <a:off x="5526915" y="2168434"/>
            <a:ext cx="1854094" cy="5983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稼働状況表示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pPr algn="ctr"/>
            <a:r>
              <a:rPr lang="ja-JP" altLang="en-US" sz="900" dirty="0">
                <a:solidFill>
                  <a:schemeClr val="tx1"/>
                </a:solidFill>
              </a:rPr>
              <a:t>プログラム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pic>
        <p:nvPicPr>
          <p:cNvPr id="1026" name="Picture 2" descr="複合グラフ・レポートのイラスト | 無料のフリー素材 イラストエイト">
            <a:extLst>
              <a:ext uri="{FF2B5EF4-FFF2-40B4-BE49-F238E27FC236}">
                <a16:creationId xmlns:a16="http://schemas.microsoft.com/office/drawing/2014/main" id="{B715D81B-CC36-FB2D-2080-8E2F9F2D7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722" y="3362620"/>
            <a:ext cx="1466248" cy="1193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直方体 89">
            <a:extLst>
              <a:ext uri="{FF2B5EF4-FFF2-40B4-BE49-F238E27FC236}">
                <a16:creationId xmlns:a16="http://schemas.microsoft.com/office/drawing/2014/main" id="{B46F0F9A-4794-C0CF-20A8-341D243FE900}"/>
              </a:ext>
            </a:extLst>
          </p:cNvPr>
          <p:cNvSpPr/>
          <p:nvPr/>
        </p:nvSpPr>
        <p:spPr>
          <a:xfrm>
            <a:off x="5322790" y="3272261"/>
            <a:ext cx="2175166" cy="1344824"/>
          </a:xfrm>
          <a:prstGeom prst="cube">
            <a:avLst>
              <a:gd name="adj" fmla="val 212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矢印: 右 90">
            <a:extLst>
              <a:ext uri="{FF2B5EF4-FFF2-40B4-BE49-F238E27FC236}">
                <a16:creationId xmlns:a16="http://schemas.microsoft.com/office/drawing/2014/main" id="{5D6DF771-187A-C60F-2256-1FCDB7FAD970}"/>
              </a:ext>
            </a:extLst>
          </p:cNvPr>
          <p:cNvSpPr/>
          <p:nvPr/>
        </p:nvSpPr>
        <p:spPr>
          <a:xfrm rot="5400000">
            <a:off x="6594234" y="2911906"/>
            <a:ext cx="501478" cy="219238"/>
          </a:xfrm>
          <a:prstGeom prst="rightArrow">
            <a:avLst>
              <a:gd name="adj1" fmla="val 50000"/>
              <a:gd name="adj2" fmla="val 6822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65C1FBDF-C602-927F-E18F-2C670C0DB987}"/>
              </a:ext>
            </a:extLst>
          </p:cNvPr>
          <p:cNvSpPr txBox="1"/>
          <p:nvPr/>
        </p:nvSpPr>
        <p:spPr>
          <a:xfrm>
            <a:off x="5322790" y="4664842"/>
            <a:ext cx="16284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※70</a:t>
            </a:r>
            <a:r>
              <a:rPr kumimoji="1" lang="ja-JP" altLang="en-US" sz="800" dirty="0"/>
              <a:t>インチ程度のサブモニタ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DEB96C9D-E78C-FDA2-6350-2C5D4C110ED7}"/>
              </a:ext>
            </a:extLst>
          </p:cNvPr>
          <p:cNvSpPr txBox="1"/>
          <p:nvPr/>
        </p:nvSpPr>
        <p:spPr>
          <a:xfrm>
            <a:off x="6905691" y="1919657"/>
            <a:ext cx="1184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00" dirty="0"/>
              <a:t>※SQLite</a:t>
            </a:r>
            <a:r>
              <a:rPr kumimoji="1" lang="ja-JP" altLang="en-US" sz="800" dirty="0"/>
              <a:t>ファイル</a:t>
            </a:r>
          </a:p>
        </p:txBody>
      </p: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3570BEAD-9D95-913E-0926-E973EE896F4D}"/>
              </a:ext>
            </a:extLst>
          </p:cNvPr>
          <p:cNvCxnSpPr>
            <a:cxnSpLocks/>
            <a:stCxn id="77" idx="2"/>
          </p:cNvCxnSpPr>
          <p:nvPr/>
        </p:nvCxnSpPr>
        <p:spPr>
          <a:xfrm>
            <a:off x="4669542" y="1849264"/>
            <a:ext cx="0" cy="917507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0225CAB2-4B8C-880C-1034-C020CA48C0E6}"/>
              </a:ext>
            </a:extLst>
          </p:cNvPr>
          <p:cNvCxnSpPr>
            <a:cxnSpLocks/>
          </p:cNvCxnSpPr>
          <p:nvPr/>
        </p:nvCxnSpPr>
        <p:spPr>
          <a:xfrm>
            <a:off x="4504442" y="1845396"/>
            <a:ext cx="0" cy="921375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BDCD3C7D-9AB6-15E7-97E9-D07E11E336EA}"/>
              </a:ext>
            </a:extLst>
          </p:cNvPr>
          <p:cNvCxnSpPr>
            <a:cxnSpLocks/>
          </p:cNvCxnSpPr>
          <p:nvPr/>
        </p:nvCxnSpPr>
        <p:spPr>
          <a:xfrm>
            <a:off x="4831467" y="1845396"/>
            <a:ext cx="0" cy="917507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0B56070F-8EF2-A8B3-A239-509C41A34FFA}"/>
              </a:ext>
            </a:extLst>
          </p:cNvPr>
          <p:cNvSpPr txBox="1"/>
          <p:nvPr/>
        </p:nvSpPr>
        <p:spPr>
          <a:xfrm>
            <a:off x="4327269" y="2808636"/>
            <a:ext cx="7970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他検査機へ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6B1C04F0-39EE-DF00-3EA2-3FA77B1B0B08}"/>
              </a:ext>
            </a:extLst>
          </p:cNvPr>
          <p:cNvSpPr txBox="1"/>
          <p:nvPr/>
        </p:nvSpPr>
        <p:spPr>
          <a:xfrm>
            <a:off x="228022" y="168868"/>
            <a:ext cx="5212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コバテック様向け</a:t>
            </a:r>
            <a:endParaRPr kumimoji="1" lang="en-US" altLang="ja-JP" sz="1200" dirty="0"/>
          </a:p>
          <a:p>
            <a:r>
              <a:rPr kumimoji="1" lang="ja-JP" altLang="en-US" sz="1600" u="sng" dirty="0"/>
              <a:t>ボディ検査装置データ自動取集＆見える化 構想図</a:t>
            </a: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0F0E7CFB-86AB-1700-B482-C427BB2B3B80}"/>
              </a:ext>
            </a:extLst>
          </p:cNvPr>
          <p:cNvSpPr/>
          <p:nvPr/>
        </p:nvSpPr>
        <p:spPr>
          <a:xfrm>
            <a:off x="9003631" y="1238388"/>
            <a:ext cx="621161" cy="4406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HUB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107" name="コネクタ: カギ線 106">
            <a:extLst>
              <a:ext uri="{FF2B5EF4-FFF2-40B4-BE49-F238E27FC236}">
                <a16:creationId xmlns:a16="http://schemas.microsoft.com/office/drawing/2014/main" id="{D412A20F-DBEE-F972-FF3F-EE024692D066}"/>
              </a:ext>
            </a:extLst>
          </p:cNvPr>
          <p:cNvCxnSpPr>
            <a:cxnSpLocks/>
            <a:stCxn id="106" idx="1"/>
            <a:endCxn id="54" idx="3"/>
          </p:cNvCxnSpPr>
          <p:nvPr/>
        </p:nvCxnSpPr>
        <p:spPr>
          <a:xfrm rot="10800000" flipV="1">
            <a:off x="8104221" y="1458699"/>
            <a:ext cx="899411" cy="499676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四角形: 角を丸くする 111">
            <a:extLst>
              <a:ext uri="{FF2B5EF4-FFF2-40B4-BE49-F238E27FC236}">
                <a16:creationId xmlns:a16="http://schemas.microsoft.com/office/drawing/2014/main" id="{1DB59EE2-076E-C85C-EC76-CD5EB0C3A4E6}"/>
              </a:ext>
            </a:extLst>
          </p:cNvPr>
          <p:cNvSpPr/>
          <p:nvPr/>
        </p:nvSpPr>
        <p:spPr>
          <a:xfrm>
            <a:off x="8816210" y="2427346"/>
            <a:ext cx="2175166" cy="1344825"/>
          </a:xfrm>
          <a:prstGeom prst="roundRect">
            <a:avLst>
              <a:gd name="adj" fmla="val 260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円柱 112">
            <a:extLst>
              <a:ext uri="{FF2B5EF4-FFF2-40B4-BE49-F238E27FC236}">
                <a16:creationId xmlns:a16="http://schemas.microsoft.com/office/drawing/2014/main" id="{419D6D29-331C-2249-9BDC-8703734AE6B2}"/>
              </a:ext>
            </a:extLst>
          </p:cNvPr>
          <p:cNvSpPr/>
          <p:nvPr/>
        </p:nvSpPr>
        <p:spPr>
          <a:xfrm>
            <a:off x="9006772" y="2615458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Backup1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14" name="円柱 113">
            <a:extLst>
              <a:ext uri="{FF2B5EF4-FFF2-40B4-BE49-F238E27FC236}">
                <a16:creationId xmlns:a16="http://schemas.microsoft.com/office/drawing/2014/main" id="{CA1E6B3F-8EFC-F48F-2C8B-DB04F373BFEE}"/>
              </a:ext>
            </a:extLst>
          </p:cNvPr>
          <p:cNvSpPr/>
          <p:nvPr/>
        </p:nvSpPr>
        <p:spPr>
          <a:xfrm>
            <a:off x="9006772" y="3140684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Backup3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15" name="円柱 114">
            <a:extLst>
              <a:ext uri="{FF2B5EF4-FFF2-40B4-BE49-F238E27FC236}">
                <a16:creationId xmlns:a16="http://schemas.microsoft.com/office/drawing/2014/main" id="{5842154F-791A-3CBC-FEF5-7D8DD9CC9C9D}"/>
              </a:ext>
            </a:extLst>
          </p:cNvPr>
          <p:cNvSpPr/>
          <p:nvPr/>
        </p:nvSpPr>
        <p:spPr>
          <a:xfrm>
            <a:off x="9945066" y="2621538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Backup2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sp>
        <p:nvSpPr>
          <p:cNvPr id="116" name="円柱 115">
            <a:extLst>
              <a:ext uri="{FF2B5EF4-FFF2-40B4-BE49-F238E27FC236}">
                <a16:creationId xmlns:a16="http://schemas.microsoft.com/office/drawing/2014/main" id="{B617B5B5-92BA-0BE1-1F74-ED17033007BC}"/>
              </a:ext>
            </a:extLst>
          </p:cNvPr>
          <p:cNvSpPr/>
          <p:nvPr/>
        </p:nvSpPr>
        <p:spPr>
          <a:xfrm>
            <a:off x="9945066" y="3146764"/>
            <a:ext cx="829516" cy="465513"/>
          </a:xfrm>
          <a:prstGeom prst="can">
            <a:avLst>
              <a:gd name="adj" fmla="val 13960"/>
            </a:avLst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dirty="0">
                <a:solidFill>
                  <a:schemeClr val="tx1"/>
                </a:solidFill>
              </a:rPr>
              <a:t>Backup4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117" name="コネクタ: カギ線 116">
            <a:extLst>
              <a:ext uri="{FF2B5EF4-FFF2-40B4-BE49-F238E27FC236}">
                <a16:creationId xmlns:a16="http://schemas.microsoft.com/office/drawing/2014/main" id="{69D227E1-C855-F0C8-87DB-7F7C67D87A97}"/>
              </a:ext>
            </a:extLst>
          </p:cNvPr>
          <p:cNvCxnSpPr>
            <a:cxnSpLocks/>
            <a:stCxn id="106" idx="2"/>
            <a:endCxn id="112" idx="0"/>
          </p:cNvCxnSpPr>
          <p:nvPr/>
        </p:nvCxnSpPr>
        <p:spPr>
          <a:xfrm rot="16200000" flipH="1">
            <a:off x="9234834" y="1758386"/>
            <a:ext cx="748337" cy="589581"/>
          </a:xfrm>
          <a:prstGeom prst="bentConnector3">
            <a:avLst>
              <a:gd name="adj1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D38A4713-43E9-C495-578D-5A4ABE16E9FC}"/>
              </a:ext>
            </a:extLst>
          </p:cNvPr>
          <p:cNvSpPr txBox="1"/>
          <p:nvPr/>
        </p:nvSpPr>
        <p:spPr>
          <a:xfrm>
            <a:off x="8816210" y="2168434"/>
            <a:ext cx="1628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NAS</a:t>
            </a:r>
            <a:endParaRPr kumimoji="1" lang="ja-JP" altLang="en-US" sz="1200" dirty="0"/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E2CBEC9B-6707-863F-DDFA-DB626E105580}"/>
              </a:ext>
            </a:extLst>
          </p:cNvPr>
          <p:cNvSpPr/>
          <p:nvPr/>
        </p:nvSpPr>
        <p:spPr>
          <a:xfrm>
            <a:off x="4358961" y="5049120"/>
            <a:ext cx="7404414" cy="143028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 dirty="0">
                <a:solidFill>
                  <a:schemeClr val="tx1"/>
                </a:solidFill>
              </a:rPr>
              <a:t>・データ登録（各機械の吸い出し含む）は</a:t>
            </a:r>
            <a:r>
              <a:rPr kumimoji="1" lang="en-US" altLang="ja-JP" sz="900" dirty="0">
                <a:solidFill>
                  <a:schemeClr val="tx1"/>
                </a:solidFill>
              </a:rPr>
              <a:t>1</a:t>
            </a:r>
            <a:r>
              <a:rPr kumimoji="1" lang="ja-JP" altLang="en-US" sz="900" dirty="0">
                <a:solidFill>
                  <a:schemeClr val="tx1"/>
                </a:solidFill>
              </a:rPr>
              <a:t>ロットごとに手動で行う</a:t>
            </a:r>
            <a:endParaRPr kumimoji="1" lang="en-US" altLang="ja-JP" sz="900" dirty="0">
              <a:solidFill>
                <a:schemeClr val="tx1"/>
              </a:solidFill>
            </a:endParaRPr>
          </a:p>
          <a:p>
            <a:endParaRPr kumimoji="1" lang="en-US" altLang="ja-JP" sz="900" dirty="0">
              <a:solidFill>
                <a:schemeClr val="tx1"/>
              </a:solidFill>
            </a:endParaRPr>
          </a:p>
          <a:p>
            <a:r>
              <a:rPr lang="ja-JP" altLang="en-US" sz="900" dirty="0">
                <a:solidFill>
                  <a:schemeClr val="tx1"/>
                </a:solidFill>
              </a:rPr>
              <a:t>・稼働状況表示は</a:t>
            </a:r>
            <a:r>
              <a:rPr lang="en-US" altLang="ja-JP" sz="900" dirty="0">
                <a:solidFill>
                  <a:schemeClr val="tx1"/>
                </a:solidFill>
              </a:rPr>
              <a:t>PLC</a:t>
            </a:r>
            <a:r>
              <a:rPr lang="ja-JP" altLang="en-US" sz="900" dirty="0">
                <a:solidFill>
                  <a:schemeClr val="tx1"/>
                </a:solidFill>
              </a:rPr>
              <a:t>のデバイス</a:t>
            </a:r>
            <a:r>
              <a:rPr lang="en-US" altLang="ja-JP" sz="900" dirty="0">
                <a:solidFill>
                  <a:schemeClr val="tx1"/>
                </a:solidFill>
              </a:rPr>
              <a:t>(EM)</a:t>
            </a:r>
            <a:r>
              <a:rPr lang="ja-JP" altLang="en-US" sz="900" dirty="0">
                <a:solidFill>
                  <a:schemeClr val="tx1"/>
                </a:solidFill>
              </a:rPr>
              <a:t>を読む（リアルタイム表示</a:t>
            </a:r>
            <a:r>
              <a:rPr lang="en-US" altLang="ja-JP" sz="900" dirty="0">
                <a:solidFill>
                  <a:schemeClr val="tx1"/>
                </a:solidFill>
              </a:rPr>
              <a:t>)</a:t>
            </a:r>
          </a:p>
          <a:p>
            <a:r>
              <a:rPr lang="ja-JP" altLang="en-US" sz="900" dirty="0">
                <a:solidFill>
                  <a:schemeClr val="tx1"/>
                </a:solidFill>
              </a:rPr>
              <a:t>・推移図は</a:t>
            </a:r>
            <a:r>
              <a:rPr lang="en-US" altLang="ja-JP" sz="900" dirty="0">
                <a:solidFill>
                  <a:schemeClr val="tx1"/>
                </a:solidFill>
              </a:rPr>
              <a:t>DB</a:t>
            </a:r>
            <a:r>
              <a:rPr lang="ja-JP" altLang="en-US" sz="900" dirty="0">
                <a:solidFill>
                  <a:schemeClr val="tx1"/>
                </a:solidFill>
              </a:rPr>
              <a:t>ファイルを参照してグラフ化する</a:t>
            </a:r>
            <a:endParaRPr kumimoji="1" lang="ja-JP" altLang="en-US" sz="900" dirty="0">
              <a:solidFill>
                <a:schemeClr val="tx1"/>
              </a:solidFill>
            </a:endParaRPr>
          </a:p>
        </p:txBody>
      </p: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9DD5C3BA-A469-8C9F-5043-B97CE9BCB8F3}"/>
              </a:ext>
            </a:extLst>
          </p:cNvPr>
          <p:cNvCxnSpPr>
            <a:cxnSpLocks/>
            <a:stCxn id="106" idx="3"/>
          </p:cNvCxnSpPr>
          <p:nvPr/>
        </p:nvCxnSpPr>
        <p:spPr>
          <a:xfrm>
            <a:off x="9624792" y="1458699"/>
            <a:ext cx="67744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" name="テキスト ボックス 1024">
            <a:extLst>
              <a:ext uri="{FF2B5EF4-FFF2-40B4-BE49-F238E27FC236}">
                <a16:creationId xmlns:a16="http://schemas.microsoft.com/office/drawing/2014/main" id="{71C7EEDE-CAFD-4C6B-3168-E9289E6A1A8D}"/>
              </a:ext>
            </a:extLst>
          </p:cNvPr>
          <p:cNvSpPr txBox="1"/>
          <p:nvPr/>
        </p:nvSpPr>
        <p:spPr>
          <a:xfrm>
            <a:off x="10320031" y="1303323"/>
            <a:ext cx="9956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/>
              <a:t>コバテック様</a:t>
            </a:r>
            <a:endParaRPr kumimoji="1" lang="en-US" altLang="ja-JP" sz="800" dirty="0"/>
          </a:p>
          <a:p>
            <a:r>
              <a:rPr lang="ja-JP" altLang="en-US" sz="800" dirty="0"/>
              <a:t>他</a:t>
            </a:r>
            <a:r>
              <a:rPr lang="en-US" altLang="ja-JP" sz="800" dirty="0"/>
              <a:t>PC</a:t>
            </a:r>
            <a:r>
              <a:rPr lang="ja-JP" altLang="en-US" sz="800" dirty="0"/>
              <a:t>へ</a:t>
            </a:r>
            <a:endParaRPr kumimoji="1" lang="ja-JP" altLang="en-US" sz="800" dirty="0"/>
          </a:p>
        </p:txBody>
      </p:sp>
      <p:sp>
        <p:nvSpPr>
          <p:cNvPr id="1028" name="テキスト ボックス 1027">
            <a:extLst>
              <a:ext uri="{FF2B5EF4-FFF2-40B4-BE49-F238E27FC236}">
                <a16:creationId xmlns:a16="http://schemas.microsoft.com/office/drawing/2014/main" id="{239938EF-6111-F545-7813-AB8739783B7B}"/>
              </a:ext>
            </a:extLst>
          </p:cNvPr>
          <p:cNvSpPr txBox="1"/>
          <p:nvPr/>
        </p:nvSpPr>
        <p:spPr>
          <a:xfrm>
            <a:off x="10774582" y="244711"/>
            <a:ext cx="1206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" dirty="0"/>
              <a:t>最終更新</a:t>
            </a:r>
            <a:r>
              <a:rPr lang="en-US" altLang="ja-JP" sz="800" dirty="0"/>
              <a:t> : 2026/5/11</a:t>
            </a:r>
          </a:p>
          <a:p>
            <a:r>
              <a:rPr kumimoji="1" lang="ja-JP" altLang="en-US" sz="800" dirty="0"/>
              <a:t>京和製作所 間瀬</a:t>
            </a:r>
          </a:p>
        </p:txBody>
      </p:sp>
      <p:cxnSp>
        <p:nvCxnSpPr>
          <p:cNvPr id="1030" name="直線矢印コネクタ 1029">
            <a:extLst>
              <a:ext uri="{FF2B5EF4-FFF2-40B4-BE49-F238E27FC236}">
                <a16:creationId xmlns:a16="http://schemas.microsoft.com/office/drawing/2014/main" id="{ABEDB0FC-60D7-2066-51E4-C284711E28F2}"/>
              </a:ext>
            </a:extLst>
          </p:cNvPr>
          <p:cNvCxnSpPr>
            <a:cxnSpLocks/>
          </p:cNvCxnSpPr>
          <p:nvPr/>
        </p:nvCxnSpPr>
        <p:spPr>
          <a:xfrm>
            <a:off x="8250373" y="1015446"/>
            <a:ext cx="920898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直線矢印コネクタ 1030">
            <a:extLst>
              <a:ext uri="{FF2B5EF4-FFF2-40B4-BE49-F238E27FC236}">
                <a16:creationId xmlns:a16="http://schemas.microsoft.com/office/drawing/2014/main" id="{FB39715F-1175-7172-A436-1CE29EB68B96}"/>
              </a:ext>
            </a:extLst>
          </p:cNvPr>
          <p:cNvCxnSpPr>
            <a:cxnSpLocks/>
          </p:cNvCxnSpPr>
          <p:nvPr/>
        </p:nvCxnSpPr>
        <p:spPr>
          <a:xfrm flipH="1">
            <a:off x="4265341" y="1041654"/>
            <a:ext cx="920898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5" name="テキスト ボックス 1034">
            <a:extLst>
              <a:ext uri="{FF2B5EF4-FFF2-40B4-BE49-F238E27FC236}">
                <a16:creationId xmlns:a16="http://schemas.microsoft.com/office/drawing/2014/main" id="{829217D8-CC4F-B17D-D1CE-07157185EB7D}"/>
              </a:ext>
            </a:extLst>
          </p:cNvPr>
          <p:cNvSpPr txBox="1"/>
          <p:nvPr/>
        </p:nvSpPr>
        <p:spPr>
          <a:xfrm>
            <a:off x="8201497" y="789313"/>
            <a:ext cx="1184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solidFill>
                  <a:srgbClr val="C00000"/>
                </a:solidFill>
              </a:rPr>
              <a:t>社内ネットワーク</a:t>
            </a:r>
          </a:p>
        </p:txBody>
      </p:sp>
      <p:sp>
        <p:nvSpPr>
          <p:cNvPr id="1036" name="テキスト ボックス 1035">
            <a:extLst>
              <a:ext uri="{FF2B5EF4-FFF2-40B4-BE49-F238E27FC236}">
                <a16:creationId xmlns:a16="http://schemas.microsoft.com/office/drawing/2014/main" id="{A6F3FD52-7C87-AA35-D6EA-3AE98170547A}"/>
              </a:ext>
            </a:extLst>
          </p:cNvPr>
          <p:cNvSpPr txBox="1"/>
          <p:nvPr/>
        </p:nvSpPr>
        <p:spPr>
          <a:xfrm>
            <a:off x="4265341" y="800002"/>
            <a:ext cx="11845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" dirty="0">
                <a:solidFill>
                  <a:schemeClr val="accent5">
                    <a:lumMod val="75000"/>
                  </a:schemeClr>
                </a:solidFill>
              </a:rPr>
              <a:t>設備ネットワーク</a:t>
            </a:r>
          </a:p>
        </p:txBody>
      </p:sp>
    </p:spTree>
    <p:extLst>
      <p:ext uri="{BB962C8B-B14F-4D97-AF65-F5344CB8AC3E}">
        <p14:creationId xmlns:p14="http://schemas.microsoft.com/office/powerpoint/2010/main" val="119848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34B86B16-2C34-1BD0-6979-05655DCDF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592" y="657226"/>
            <a:ext cx="9996815" cy="573207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A1F5462-76D7-182A-D998-0A7749C78703}"/>
              </a:ext>
            </a:extLst>
          </p:cNvPr>
          <p:cNvSpPr txBox="1"/>
          <p:nvPr/>
        </p:nvSpPr>
        <p:spPr>
          <a:xfrm>
            <a:off x="170873" y="160920"/>
            <a:ext cx="2772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【</a:t>
            </a:r>
            <a:r>
              <a:rPr kumimoji="1" lang="ja-JP" altLang="en-US" sz="1400" dirty="0"/>
              <a:t>参考：設備稼働状況表示</a:t>
            </a:r>
            <a:r>
              <a:rPr kumimoji="1" lang="en-US" altLang="ja-JP" sz="1400" dirty="0"/>
              <a:t>】</a:t>
            </a:r>
            <a:endParaRPr kumimoji="1" lang="ja-JP" altLang="en-US" sz="1400" u="sng" dirty="0"/>
          </a:p>
        </p:txBody>
      </p:sp>
    </p:spTree>
    <p:extLst>
      <p:ext uri="{BB962C8B-B14F-4D97-AF65-F5344CB8AC3E}">
        <p14:creationId xmlns:p14="http://schemas.microsoft.com/office/powerpoint/2010/main" val="66412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A4F02-EEE4-98B3-3E73-7931429CC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17B24ED-D155-C1F5-A247-171CE4205C2B}"/>
              </a:ext>
            </a:extLst>
          </p:cNvPr>
          <p:cNvSpPr txBox="1"/>
          <p:nvPr/>
        </p:nvSpPr>
        <p:spPr>
          <a:xfrm>
            <a:off x="170873" y="160920"/>
            <a:ext cx="2772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【</a:t>
            </a:r>
            <a:r>
              <a:rPr kumimoji="1" lang="ja-JP" altLang="en-US" sz="1400" dirty="0"/>
              <a:t>参考：設備別稼働データ</a:t>
            </a:r>
            <a:r>
              <a:rPr kumimoji="1" lang="en-US" altLang="ja-JP" sz="1400" dirty="0"/>
              <a:t>】</a:t>
            </a:r>
            <a:endParaRPr kumimoji="1" lang="ja-JP" altLang="en-US" sz="1400" u="sng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F2D8C80-8876-913F-FB76-D9A967A92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77"/>
          <a:stretch>
            <a:fillRect/>
          </a:stretch>
        </p:blipFill>
        <p:spPr>
          <a:xfrm>
            <a:off x="366073" y="529928"/>
            <a:ext cx="9374728" cy="605184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25F9D3D-6ED0-A0FB-243E-568D66923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0801" y="4995764"/>
            <a:ext cx="2168802" cy="1052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94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245</Words>
  <Application>Microsoft Office PowerPoint</Application>
  <PresentationFormat>ワイド画面</PresentationFormat>
  <Paragraphs>55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FUMIHIRO MASE</dc:creator>
  <cp:lastModifiedBy>FUMIHIRO MASE</cp:lastModifiedBy>
  <cp:revision>3</cp:revision>
  <dcterms:created xsi:type="dcterms:W3CDTF">2026-05-11T14:31:53Z</dcterms:created>
  <dcterms:modified xsi:type="dcterms:W3CDTF">2026-05-11T17:05:59Z</dcterms:modified>
</cp:coreProperties>
</file>