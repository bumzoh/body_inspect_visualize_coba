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86814" autoAdjust="0"/>
  </p:normalViewPr>
  <p:slideViewPr>
    <p:cSldViewPr snapToGrid="0">
      <p:cViewPr varScale="1">
        <p:scale>
          <a:sx n="118" d="100"/>
          <a:sy n="118" d="100"/>
        </p:scale>
        <p:origin x="12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18C27-436E-72A3-EA37-52E743540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F0F752-48DB-015B-EBA7-DCB7354E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E877B3-5F1B-2D43-42BA-0AC58616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48F96C-030B-3368-EACF-5E4DB6CC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5DDD4-40CF-9BD8-1025-C7A7DBB6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92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9A143-6DC4-C42F-588B-DC824B6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116EF6-366A-062F-D8FF-6590C9FD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CEEDF-33A4-BC43-B478-799842D2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7DBEB-2FA3-4C4E-8FBA-A63ADDBC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3ACC5-F206-A4D5-4E1F-D06D8C3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23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40CEE-9D5A-20EA-0A1C-16D61BD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471C42-51E4-0C9D-F122-6D7EE1A6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52692D-41A4-1E0C-A878-0F0770C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3D4A-EF39-3429-C317-F3402E27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013BD5-A194-1259-DB95-6436755A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28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F3C9F-4EF7-4666-A9BB-3413712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C03F27-67B1-CC8B-BD98-5567A1CC8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83367-026B-F70A-31DF-B21625EC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087740-E3DE-15D3-A500-AFA805B4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B9EA0-E14C-539F-9798-A131DB3F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0855FF-7F95-4888-8939-774E4191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53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972DF-3814-3C00-20C8-60EDB92D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7BBF45-9821-BCA3-4984-0FE7812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0F33A8-568A-32B9-698F-8FF1926F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0E135F-4B2B-C7EE-A9AC-D74BA1648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7D9269-EC9A-22C9-0CBE-1A2D131F8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731B05-4437-2134-A56D-A98F88B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CC62B8-F9B9-8C91-40E2-66D29147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07AAE1-EF41-FD3B-846C-B6F4BAF6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8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009E9D-BF08-DEF7-62CE-D8F4BD24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C9848F-F3DC-F5F5-203F-7827D4B2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BA1FA8-FCDD-8C1E-547F-A64D712C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A1D21B-F2F6-48CF-CEE1-D4E8F9D1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7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507665-207C-9ECE-A2AF-295D6591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9279DB-D7E6-A117-8127-F5A00C5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E1960F-2F9E-AB88-0722-029D47E3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6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2E4A6-653A-6C5C-DDCC-C7216AE9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291E47-8FAB-756C-4E0A-E2493B5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51B34C-FEA6-11FB-443E-181BBAEB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E90CC9-30DE-D395-0FD2-29757C18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574723-344D-18EF-F61E-CB6326C8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FE0987-411A-6054-5FBA-2D353229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93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3B046-3494-BF50-4DF0-A18367D1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881187-89EF-BAD2-F5D4-B1F60B748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75AA9-06D1-2BBC-D801-FE11D5E53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589B0C-D057-B0C0-8EDB-2E14A509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9AA2C-6AA2-35C4-9FFE-FD4AF155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24C342-E2E6-1D5B-1F00-F57B96C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4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D7AE0-9F27-C0AA-58F5-F8BB9660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F8D3A7-4A15-4F78-1031-60D37E46A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0075F1-8F60-B0C9-1341-8A9E82B6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821C5-5B7A-6ADE-B570-1DE8AD66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BA30A8-3143-E844-60A2-B47239CD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36A95-52F4-396C-28CA-C2260ED9F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0934DB-FA61-E8C3-533B-FB724C99E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05A53-6FA4-DFA0-6B94-5859A3F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E8866-AB38-A732-13B9-4B57F8DB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CADA84-7529-CA5B-0786-1D35A7A8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5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A768D9-DADE-633A-B2A3-1166B17A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9BD333-8F8A-CEAD-0182-57DD2DB8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B70B7-1362-24D0-A56D-F64161E95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5FF4-FB7B-4546-AEDF-E8D6362B3E6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B9D8B0-C06C-FDEC-6415-012AAD96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A9C4D-B68C-732D-8848-6CC60E164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BB71-0863-51BF-3876-0DA3BFB2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D52077-D782-C513-95ED-90767055B160}"/>
              </a:ext>
            </a:extLst>
          </p:cNvPr>
          <p:cNvSpPr/>
          <p:nvPr/>
        </p:nvSpPr>
        <p:spPr>
          <a:xfrm>
            <a:off x="739139" y="1410567"/>
            <a:ext cx="2503747" cy="1239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DB6A0C-D5FB-44DA-2480-D0D09282195E}"/>
              </a:ext>
            </a:extLst>
          </p:cNvPr>
          <p:cNvSpPr txBox="1"/>
          <p:nvPr/>
        </p:nvSpPr>
        <p:spPr>
          <a:xfrm>
            <a:off x="669174" y="1179645"/>
            <a:ext cx="15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PLC(KV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D6E04F-E7C5-C4FA-3991-C520E2ED0071}"/>
              </a:ext>
            </a:extLst>
          </p:cNvPr>
          <p:cNvSpPr/>
          <p:nvPr/>
        </p:nvSpPr>
        <p:spPr>
          <a:xfrm>
            <a:off x="1596839" y="1655814"/>
            <a:ext cx="1463559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1 つの角を切り取る 6">
            <a:extLst>
              <a:ext uri="{FF2B5EF4-FFF2-40B4-BE49-F238E27FC236}">
                <a16:creationId xmlns:a16="http://schemas.microsoft.com/office/drawing/2014/main" id="{E8F966D9-7710-F58D-F5F5-AD35F9FE5038}"/>
              </a:ext>
            </a:extLst>
          </p:cNvPr>
          <p:cNvSpPr/>
          <p:nvPr/>
        </p:nvSpPr>
        <p:spPr>
          <a:xfrm>
            <a:off x="1768747" y="1778168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稼働データ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ECEB25-0604-A97C-4B71-DBEFF02107AC}"/>
              </a:ext>
            </a:extLst>
          </p:cNvPr>
          <p:cNvSpPr/>
          <p:nvPr/>
        </p:nvSpPr>
        <p:spPr>
          <a:xfrm>
            <a:off x="837825" y="1655815"/>
            <a:ext cx="660170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0D31EB-1160-E548-3DCA-064C715023C8}"/>
              </a:ext>
            </a:extLst>
          </p:cNvPr>
          <p:cNvSpPr txBox="1"/>
          <p:nvPr/>
        </p:nvSpPr>
        <p:spPr>
          <a:xfrm>
            <a:off x="790517" y="147097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E82488-B1AE-8CA9-7952-4A9A5A465644}"/>
              </a:ext>
            </a:extLst>
          </p:cNvPr>
          <p:cNvSpPr txBox="1"/>
          <p:nvPr/>
        </p:nvSpPr>
        <p:spPr>
          <a:xfrm>
            <a:off x="1496421" y="147986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4CE178A7-89C6-F460-C120-94C771842300}"/>
              </a:ext>
            </a:extLst>
          </p:cNvPr>
          <p:cNvSpPr/>
          <p:nvPr/>
        </p:nvSpPr>
        <p:spPr>
          <a:xfrm>
            <a:off x="1768747" y="2102787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GT2</a:t>
            </a:r>
            <a:r>
              <a:rPr kumimoji="1" lang="ja-JP" altLang="en-US" sz="800" dirty="0">
                <a:solidFill>
                  <a:schemeClr val="tx1"/>
                </a:solidFill>
              </a:rPr>
              <a:t>測定データ</a:t>
            </a:r>
            <a:r>
              <a:rPr lang="en-US" altLang="ja-JP" sz="800" dirty="0">
                <a:solidFill>
                  <a:schemeClr val="tx1"/>
                </a:solidFill>
              </a:rPr>
              <a:t>.CSV</a:t>
            </a:r>
            <a:endParaRPr kumimoji="1"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2B029707-5D9A-C336-5E2F-E8226D3D4FF5}"/>
              </a:ext>
            </a:extLst>
          </p:cNvPr>
          <p:cNvSpPr/>
          <p:nvPr/>
        </p:nvSpPr>
        <p:spPr>
          <a:xfrm>
            <a:off x="1394742" y="1952221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0D77A28-5089-42C6-52B3-34CBAA63483A}"/>
              </a:ext>
            </a:extLst>
          </p:cNvPr>
          <p:cNvSpPr/>
          <p:nvPr/>
        </p:nvSpPr>
        <p:spPr>
          <a:xfrm>
            <a:off x="739139" y="3312942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E9A3B2-CA40-7DB3-4B0D-F34D561FCB23}"/>
              </a:ext>
            </a:extLst>
          </p:cNvPr>
          <p:cNvSpPr txBox="1"/>
          <p:nvPr/>
        </p:nvSpPr>
        <p:spPr>
          <a:xfrm>
            <a:off x="669174" y="3082020"/>
            <a:ext cx="220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タッチパネル</a:t>
            </a:r>
            <a:r>
              <a:rPr kumimoji="1" lang="en-US" altLang="ja-JP" sz="1200" dirty="0"/>
              <a:t>(VT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0DA273D-7032-69A6-923C-C891D450A121}"/>
              </a:ext>
            </a:extLst>
          </p:cNvPr>
          <p:cNvSpPr/>
          <p:nvPr/>
        </p:nvSpPr>
        <p:spPr>
          <a:xfrm>
            <a:off x="1596839" y="3558189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FF3B0727-5E68-48D2-4E2C-BC3532B35F7C}"/>
              </a:ext>
            </a:extLst>
          </p:cNvPr>
          <p:cNvSpPr/>
          <p:nvPr/>
        </p:nvSpPr>
        <p:spPr>
          <a:xfrm>
            <a:off x="1768747" y="3680543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アラーム履歴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9627898-0A8C-8BE8-EF37-0A84CCDD49DF}"/>
              </a:ext>
            </a:extLst>
          </p:cNvPr>
          <p:cNvSpPr/>
          <p:nvPr/>
        </p:nvSpPr>
        <p:spPr>
          <a:xfrm>
            <a:off x="889361" y="3558190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F8946B6-06FB-3779-F36A-BA301BBA0320}"/>
              </a:ext>
            </a:extLst>
          </p:cNvPr>
          <p:cNvSpPr txBox="1"/>
          <p:nvPr/>
        </p:nvSpPr>
        <p:spPr>
          <a:xfrm>
            <a:off x="790517" y="337334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3B9F4C-2352-4063-1B6F-A46FC9048446}"/>
              </a:ext>
            </a:extLst>
          </p:cNvPr>
          <p:cNvSpPr txBox="1"/>
          <p:nvPr/>
        </p:nvSpPr>
        <p:spPr>
          <a:xfrm>
            <a:off x="1496421" y="338223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EDECAAE-2F1F-4C46-9A82-1D2B87049824}"/>
              </a:ext>
            </a:extLst>
          </p:cNvPr>
          <p:cNvSpPr/>
          <p:nvPr/>
        </p:nvSpPr>
        <p:spPr>
          <a:xfrm>
            <a:off x="1394742" y="3746646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AA8AAB9-5E32-09FD-CDA6-A8F14932C3AF}"/>
              </a:ext>
            </a:extLst>
          </p:cNvPr>
          <p:cNvSpPr/>
          <p:nvPr/>
        </p:nvSpPr>
        <p:spPr>
          <a:xfrm>
            <a:off x="739139" y="4764381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70744F-BB63-1476-6BA2-67F2CD9554D6}"/>
              </a:ext>
            </a:extLst>
          </p:cNvPr>
          <p:cNvSpPr txBox="1"/>
          <p:nvPr/>
        </p:nvSpPr>
        <p:spPr>
          <a:xfrm>
            <a:off x="669174" y="4533459"/>
            <a:ext cx="239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画像コントローラ</a:t>
            </a:r>
            <a:r>
              <a:rPr kumimoji="1" lang="en-US" altLang="ja-JP" sz="1200" dirty="0"/>
              <a:t>(XG-X)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EAAD8D9-1FEB-B897-C131-AFD4F65F71A4}"/>
              </a:ext>
            </a:extLst>
          </p:cNvPr>
          <p:cNvSpPr/>
          <p:nvPr/>
        </p:nvSpPr>
        <p:spPr>
          <a:xfrm>
            <a:off x="1596839" y="5009628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C63F13AA-237B-39B4-BA30-9069637197CA}"/>
              </a:ext>
            </a:extLst>
          </p:cNvPr>
          <p:cNvSpPr/>
          <p:nvPr/>
        </p:nvSpPr>
        <p:spPr>
          <a:xfrm>
            <a:off x="1768747" y="5131982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数値測定結果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322C65D-81A1-8EBE-2AC3-76E7DD98AD02}"/>
              </a:ext>
            </a:extLst>
          </p:cNvPr>
          <p:cNvSpPr/>
          <p:nvPr/>
        </p:nvSpPr>
        <p:spPr>
          <a:xfrm>
            <a:off x="889361" y="5009629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1069D3-4A71-B32E-0B5A-0652C2A024C5}"/>
              </a:ext>
            </a:extLst>
          </p:cNvPr>
          <p:cNvSpPr txBox="1"/>
          <p:nvPr/>
        </p:nvSpPr>
        <p:spPr>
          <a:xfrm>
            <a:off x="790517" y="482478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A90A4C-9434-3440-C0BA-84AEB59D7342}"/>
              </a:ext>
            </a:extLst>
          </p:cNvPr>
          <p:cNvSpPr txBox="1"/>
          <p:nvPr/>
        </p:nvSpPr>
        <p:spPr>
          <a:xfrm>
            <a:off x="1496421" y="483367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F6C347E8-26E5-0A3A-8E0B-FBDA0BBAA610}"/>
              </a:ext>
            </a:extLst>
          </p:cNvPr>
          <p:cNvSpPr/>
          <p:nvPr/>
        </p:nvSpPr>
        <p:spPr>
          <a:xfrm>
            <a:off x="1394742" y="5198085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E9A36B8-91EE-CE7C-4B4D-D4D37A7E13C2}"/>
              </a:ext>
            </a:extLst>
          </p:cNvPr>
          <p:cNvSpPr txBox="1"/>
          <p:nvPr/>
        </p:nvSpPr>
        <p:spPr>
          <a:xfrm>
            <a:off x="739139" y="2641710"/>
            <a:ext cx="2503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稼働データは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日に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回自動出力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測定データは固定数毎</a:t>
            </a:r>
            <a:r>
              <a:rPr lang="en-US" altLang="ja-JP" sz="800" dirty="0"/>
              <a:t>(</a:t>
            </a:r>
            <a:r>
              <a:rPr lang="ja-JP" altLang="en-US" sz="800" dirty="0"/>
              <a:t>例えば</a:t>
            </a:r>
            <a:r>
              <a:rPr lang="en-US" altLang="ja-JP" sz="800" dirty="0"/>
              <a:t>1000</a:t>
            </a:r>
            <a:r>
              <a:rPr lang="ja-JP" altLang="en-US" sz="800" dirty="0"/>
              <a:t>個毎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5A45126-4AF4-A771-D27F-5A86DF55EE00}"/>
              </a:ext>
            </a:extLst>
          </p:cNvPr>
          <p:cNvSpPr txBox="1"/>
          <p:nvPr/>
        </p:nvSpPr>
        <p:spPr>
          <a:xfrm>
            <a:off x="739138" y="4211400"/>
            <a:ext cx="2503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アラーム履歴は</a:t>
            </a:r>
            <a:r>
              <a:rPr kumimoji="1" lang="en-US" altLang="ja-JP" sz="800" dirty="0"/>
              <a:t>PC</a:t>
            </a:r>
            <a:r>
              <a:rPr kumimoji="1" lang="ja-JP" altLang="en-US" sz="800" dirty="0"/>
              <a:t>からの要求時に</a:t>
            </a:r>
            <a:r>
              <a:rPr kumimoji="1" lang="en-US" altLang="ja-JP" sz="800" dirty="0"/>
              <a:t>SD</a:t>
            </a:r>
            <a:r>
              <a:rPr kumimoji="1" lang="ja-JP" altLang="en-US" sz="800" dirty="0"/>
              <a:t>へ出力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F54AAA1-610D-5B3D-140A-7F45C806B98F}"/>
              </a:ext>
            </a:extLst>
          </p:cNvPr>
          <p:cNvSpPr txBox="1"/>
          <p:nvPr/>
        </p:nvSpPr>
        <p:spPr>
          <a:xfrm>
            <a:off x="739138" y="5670664"/>
            <a:ext cx="250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測定時に自動出力される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最新ファイルは</a:t>
            </a:r>
            <a:r>
              <a:rPr lang="en-US" altLang="ja-JP" sz="800" dirty="0"/>
              <a:t>PC</a:t>
            </a:r>
            <a:r>
              <a:rPr lang="ja-JP" altLang="en-US" sz="800" dirty="0"/>
              <a:t>からアクセスしない</a:t>
            </a:r>
            <a:endParaRPr lang="en-US" altLang="ja-JP" sz="800" dirty="0"/>
          </a:p>
          <a:p>
            <a:r>
              <a:rPr kumimoji="1" lang="en-US" altLang="ja-JP" sz="800" dirty="0"/>
              <a:t>  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(</a:t>
            </a:r>
            <a:r>
              <a:rPr kumimoji="1" lang="ja-JP" altLang="en-US" sz="800" dirty="0"/>
              <a:t>データが壊れる可能性があるため）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画像データは巨大すぎるため対象外</a:t>
            </a:r>
            <a:endParaRPr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データ出力ユニットを利用する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7A5218E-03E7-2859-3DE3-CC2E4E71C55D}"/>
              </a:ext>
            </a:extLst>
          </p:cNvPr>
          <p:cNvSpPr/>
          <p:nvPr/>
        </p:nvSpPr>
        <p:spPr>
          <a:xfrm>
            <a:off x="861097" y="1685149"/>
            <a:ext cx="600926" cy="27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カウンタ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4089B66-C002-4A04-7AD3-45714AB6E9C2}"/>
              </a:ext>
            </a:extLst>
          </p:cNvPr>
          <p:cNvSpPr/>
          <p:nvPr/>
        </p:nvSpPr>
        <p:spPr>
          <a:xfrm>
            <a:off x="523009" y="1086368"/>
            <a:ext cx="3549534" cy="5394961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E2E9CF9-1704-F41D-3CFA-714950BC3C74}"/>
              </a:ext>
            </a:extLst>
          </p:cNvPr>
          <p:cNvSpPr/>
          <p:nvPr/>
        </p:nvSpPr>
        <p:spPr>
          <a:xfrm>
            <a:off x="3327629" y="1410567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EE83EB01-4E3A-DB68-E944-2EED8EA26A19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242886" y="1849264"/>
            <a:ext cx="266008" cy="181063"/>
          </a:xfrm>
          <a:prstGeom prst="bentConnector3">
            <a:avLst>
              <a:gd name="adj1" fmla="val 94162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E1B154FC-F48B-1D9F-2281-BFB63D3F33AC}"/>
              </a:ext>
            </a:extLst>
          </p:cNvPr>
          <p:cNvCxnSpPr>
            <a:cxnSpLocks/>
            <a:stCxn id="13" idx="3"/>
            <a:endCxn id="35" idx="2"/>
          </p:cNvCxnSpPr>
          <p:nvPr/>
        </p:nvCxnSpPr>
        <p:spPr>
          <a:xfrm flipV="1">
            <a:off x="3242886" y="1851188"/>
            <a:ext cx="395324" cy="1914896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B98E6F4-4FDA-F99C-3D85-64CE969D0DF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2886" y="1849264"/>
            <a:ext cx="539058" cy="3368259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4FA62A33-5EB9-8C58-15DE-E3D9220DF1F5}"/>
              </a:ext>
            </a:extLst>
          </p:cNvPr>
          <p:cNvSpPr/>
          <p:nvPr/>
        </p:nvSpPr>
        <p:spPr>
          <a:xfrm>
            <a:off x="5322790" y="1041654"/>
            <a:ext cx="2781430" cy="1833442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C2E5743-3378-84F3-D866-959B6982D2BE}"/>
              </a:ext>
            </a:extLst>
          </p:cNvPr>
          <p:cNvSpPr txBox="1"/>
          <p:nvPr/>
        </p:nvSpPr>
        <p:spPr>
          <a:xfrm>
            <a:off x="523009" y="814575"/>
            <a:ext cx="93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検査装置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74EF0DFB-BEB3-4CE1-F698-DB38BE5ED68E}"/>
              </a:ext>
            </a:extLst>
          </p:cNvPr>
          <p:cNvSpPr txBox="1"/>
          <p:nvPr/>
        </p:nvSpPr>
        <p:spPr>
          <a:xfrm>
            <a:off x="5322790" y="809369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現場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58" name="円柱 57">
            <a:extLst>
              <a:ext uri="{FF2B5EF4-FFF2-40B4-BE49-F238E27FC236}">
                <a16:creationId xmlns:a16="http://schemas.microsoft.com/office/drawing/2014/main" id="{84ABBC6B-3C23-AD32-08DF-C10A68F424B4}"/>
              </a:ext>
            </a:extLst>
          </p:cNvPr>
          <p:cNvSpPr/>
          <p:nvPr/>
        </p:nvSpPr>
        <p:spPr>
          <a:xfrm>
            <a:off x="6992070" y="1441501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D689250-3FFC-77C0-5564-A7E0B58DC568}"/>
              </a:ext>
            </a:extLst>
          </p:cNvPr>
          <p:cNvSpPr/>
          <p:nvPr/>
        </p:nvSpPr>
        <p:spPr>
          <a:xfrm>
            <a:off x="5509454" y="1361664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データ登録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C0207300-3994-D231-E3A7-84882DB58DBE}"/>
              </a:ext>
            </a:extLst>
          </p:cNvPr>
          <p:cNvSpPr/>
          <p:nvPr/>
        </p:nvSpPr>
        <p:spPr>
          <a:xfrm>
            <a:off x="6557962" y="1564374"/>
            <a:ext cx="434108" cy="213794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7BA445EF-9BAE-8D00-CBF2-AA70770239E9}"/>
              </a:ext>
            </a:extLst>
          </p:cNvPr>
          <p:cNvCxnSpPr>
            <a:cxnSpLocks/>
            <a:stCxn id="54" idx="1"/>
            <a:endCxn id="77" idx="3"/>
          </p:cNvCxnSpPr>
          <p:nvPr/>
        </p:nvCxnSpPr>
        <p:spPr>
          <a:xfrm rot="10800000">
            <a:off x="4980122" y="1628955"/>
            <a:ext cx="342668" cy="32942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4F05551E-7E15-E054-51C1-C3F4EC020E4F}"/>
              </a:ext>
            </a:extLst>
          </p:cNvPr>
          <p:cNvSpPr/>
          <p:nvPr/>
        </p:nvSpPr>
        <p:spPr>
          <a:xfrm>
            <a:off x="4358961" y="1408643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9996A0B2-AEA9-D273-5D72-EDC105888DB8}"/>
              </a:ext>
            </a:extLst>
          </p:cNvPr>
          <p:cNvCxnSpPr>
            <a:cxnSpLocks/>
            <a:stCxn id="77" idx="1"/>
            <a:endCxn id="35" idx="3"/>
          </p:cNvCxnSpPr>
          <p:nvPr/>
        </p:nvCxnSpPr>
        <p:spPr>
          <a:xfrm rot="10800000" flipV="1">
            <a:off x="3948791" y="1628954"/>
            <a:ext cx="410171" cy="19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33128D73-3DC4-B478-DE8B-0A99DBE76224}"/>
              </a:ext>
            </a:extLst>
          </p:cNvPr>
          <p:cNvSpPr txBox="1"/>
          <p:nvPr/>
        </p:nvSpPr>
        <p:spPr>
          <a:xfrm>
            <a:off x="5214577" y="298589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見える化</a:t>
            </a:r>
            <a:r>
              <a:rPr lang="ja-JP" altLang="en-US" sz="1200" dirty="0"/>
              <a:t>モニタ</a:t>
            </a:r>
            <a:endParaRPr kumimoji="1" lang="ja-JP" altLang="en-US" sz="1200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89B63F05-9A5A-E325-02F4-74F81157074B}"/>
              </a:ext>
            </a:extLst>
          </p:cNvPr>
          <p:cNvSpPr/>
          <p:nvPr/>
        </p:nvSpPr>
        <p:spPr>
          <a:xfrm>
            <a:off x="5526915" y="2168434"/>
            <a:ext cx="1854094" cy="598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稼働状況表示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pic>
        <p:nvPicPr>
          <p:cNvPr id="1026" name="Picture 2" descr="複合グラフ・レポートのイラスト | 無料のフリー素材 イラストエイト">
            <a:extLst>
              <a:ext uri="{FF2B5EF4-FFF2-40B4-BE49-F238E27FC236}">
                <a16:creationId xmlns:a16="http://schemas.microsoft.com/office/drawing/2014/main" id="{4B03EF6B-830A-D0D8-7701-E84111F7F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722" y="3362620"/>
            <a:ext cx="1466248" cy="119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直方体 89">
            <a:extLst>
              <a:ext uri="{FF2B5EF4-FFF2-40B4-BE49-F238E27FC236}">
                <a16:creationId xmlns:a16="http://schemas.microsoft.com/office/drawing/2014/main" id="{599A4E31-4970-6E75-92D2-7691203FB9E2}"/>
              </a:ext>
            </a:extLst>
          </p:cNvPr>
          <p:cNvSpPr/>
          <p:nvPr/>
        </p:nvSpPr>
        <p:spPr>
          <a:xfrm>
            <a:off x="5322790" y="3272261"/>
            <a:ext cx="2175166" cy="1344824"/>
          </a:xfrm>
          <a:prstGeom prst="cube">
            <a:avLst>
              <a:gd name="adj" fmla="val 21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713F29BA-D9B8-BC5E-F42D-DBC0B63EDB5F}"/>
              </a:ext>
            </a:extLst>
          </p:cNvPr>
          <p:cNvSpPr/>
          <p:nvPr/>
        </p:nvSpPr>
        <p:spPr>
          <a:xfrm rot="5400000">
            <a:off x="6594234" y="2911906"/>
            <a:ext cx="501478" cy="219238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AE399383-A833-C70D-FA85-0A7C77F2CA66}"/>
              </a:ext>
            </a:extLst>
          </p:cNvPr>
          <p:cNvSpPr txBox="1"/>
          <p:nvPr/>
        </p:nvSpPr>
        <p:spPr>
          <a:xfrm>
            <a:off x="5322790" y="4664842"/>
            <a:ext cx="162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※70</a:t>
            </a:r>
            <a:r>
              <a:rPr kumimoji="1" lang="ja-JP" altLang="en-US" sz="800" dirty="0"/>
              <a:t>インチ程度のサブモニタ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99B21B1-069C-7FD3-BFEC-3BCF8AA4B3CB}"/>
              </a:ext>
            </a:extLst>
          </p:cNvPr>
          <p:cNvSpPr txBox="1"/>
          <p:nvPr/>
        </p:nvSpPr>
        <p:spPr>
          <a:xfrm>
            <a:off x="6905691" y="1919657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07FA4745-2356-79F4-E035-70FE52E14BEB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4669542" y="1849264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D9A8FC01-6902-4173-7334-3FFDBECA7C95}"/>
              </a:ext>
            </a:extLst>
          </p:cNvPr>
          <p:cNvCxnSpPr>
            <a:cxnSpLocks/>
          </p:cNvCxnSpPr>
          <p:nvPr/>
        </p:nvCxnSpPr>
        <p:spPr>
          <a:xfrm>
            <a:off x="4504442" y="1845396"/>
            <a:ext cx="0" cy="92137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CC320C69-BF5F-2AAB-015A-47520456EDE6}"/>
              </a:ext>
            </a:extLst>
          </p:cNvPr>
          <p:cNvCxnSpPr>
            <a:cxnSpLocks/>
          </p:cNvCxnSpPr>
          <p:nvPr/>
        </p:nvCxnSpPr>
        <p:spPr>
          <a:xfrm>
            <a:off x="4831467" y="1845396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A63DC67F-53D4-BF13-1683-8C5D64C08C95}"/>
              </a:ext>
            </a:extLst>
          </p:cNvPr>
          <p:cNvSpPr txBox="1"/>
          <p:nvPr/>
        </p:nvSpPr>
        <p:spPr>
          <a:xfrm>
            <a:off x="4327269" y="2808636"/>
            <a:ext cx="797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他検査機へ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2F7C2ADA-D6D6-9C82-6881-EAB63D1200D4}"/>
              </a:ext>
            </a:extLst>
          </p:cNvPr>
          <p:cNvSpPr txBox="1"/>
          <p:nvPr/>
        </p:nvSpPr>
        <p:spPr>
          <a:xfrm>
            <a:off x="228022" y="168868"/>
            <a:ext cx="52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コバテック様向け</a:t>
            </a:r>
            <a:endParaRPr kumimoji="1" lang="en-US" altLang="ja-JP" sz="1200" dirty="0"/>
          </a:p>
          <a:p>
            <a:r>
              <a:rPr kumimoji="1" lang="ja-JP" altLang="en-US" sz="1600" u="sng" dirty="0"/>
              <a:t>ボディ検査装置データ自動取集＆見える化 構想図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222E061-4E3F-8C41-F650-18B8F71BD464}"/>
              </a:ext>
            </a:extLst>
          </p:cNvPr>
          <p:cNvSpPr/>
          <p:nvPr/>
        </p:nvSpPr>
        <p:spPr>
          <a:xfrm>
            <a:off x="9003631" y="1238388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E2D210D4-9066-62A1-1007-4E593EA5F80E}"/>
              </a:ext>
            </a:extLst>
          </p:cNvPr>
          <p:cNvCxnSpPr>
            <a:cxnSpLocks/>
            <a:stCxn id="106" idx="1"/>
            <a:endCxn id="54" idx="3"/>
          </p:cNvCxnSpPr>
          <p:nvPr/>
        </p:nvCxnSpPr>
        <p:spPr>
          <a:xfrm rot="10800000" flipV="1">
            <a:off x="8104221" y="1458699"/>
            <a:ext cx="899411" cy="49967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BBBD51B8-F736-70EA-553F-E278C9E11ACC}"/>
              </a:ext>
            </a:extLst>
          </p:cNvPr>
          <p:cNvSpPr/>
          <p:nvPr/>
        </p:nvSpPr>
        <p:spPr>
          <a:xfrm>
            <a:off x="8816210" y="2427346"/>
            <a:ext cx="2175166" cy="13448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円柱 112">
            <a:extLst>
              <a:ext uri="{FF2B5EF4-FFF2-40B4-BE49-F238E27FC236}">
                <a16:creationId xmlns:a16="http://schemas.microsoft.com/office/drawing/2014/main" id="{E8C8C5C3-EDE9-C9B2-C74E-FE2D059A56D9}"/>
              </a:ext>
            </a:extLst>
          </p:cNvPr>
          <p:cNvSpPr/>
          <p:nvPr/>
        </p:nvSpPr>
        <p:spPr>
          <a:xfrm>
            <a:off x="9006772" y="261545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Backup1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円柱 113">
            <a:extLst>
              <a:ext uri="{FF2B5EF4-FFF2-40B4-BE49-F238E27FC236}">
                <a16:creationId xmlns:a16="http://schemas.microsoft.com/office/drawing/2014/main" id="{72DCBD98-3C4E-9BBB-0886-55FECC001524}"/>
              </a:ext>
            </a:extLst>
          </p:cNvPr>
          <p:cNvSpPr/>
          <p:nvPr/>
        </p:nvSpPr>
        <p:spPr>
          <a:xfrm>
            <a:off x="9006772" y="314068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Backup3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5" name="円柱 114">
            <a:extLst>
              <a:ext uri="{FF2B5EF4-FFF2-40B4-BE49-F238E27FC236}">
                <a16:creationId xmlns:a16="http://schemas.microsoft.com/office/drawing/2014/main" id="{95DF5348-C87D-B85E-12BC-C49F2D9DE30C}"/>
              </a:ext>
            </a:extLst>
          </p:cNvPr>
          <p:cNvSpPr/>
          <p:nvPr/>
        </p:nvSpPr>
        <p:spPr>
          <a:xfrm>
            <a:off x="9945066" y="262153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6" name="円柱 115">
            <a:extLst>
              <a:ext uri="{FF2B5EF4-FFF2-40B4-BE49-F238E27FC236}">
                <a16:creationId xmlns:a16="http://schemas.microsoft.com/office/drawing/2014/main" id="{81C8BBE7-3818-46F1-7D7A-6BCB3D2CB4D0}"/>
              </a:ext>
            </a:extLst>
          </p:cNvPr>
          <p:cNvSpPr/>
          <p:nvPr/>
        </p:nvSpPr>
        <p:spPr>
          <a:xfrm>
            <a:off x="9945066" y="314676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Backup4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817DD1B1-E905-1B44-DABC-61CACF94FD96}"/>
              </a:ext>
            </a:extLst>
          </p:cNvPr>
          <p:cNvCxnSpPr>
            <a:cxnSpLocks/>
            <a:stCxn id="106" idx="2"/>
            <a:endCxn id="112" idx="0"/>
          </p:cNvCxnSpPr>
          <p:nvPr/>
        </p:nvCxnSpPr>
        <p:spPr>
          <a:xfrm rot="16200000" flipH="1">
            <a:off x="9234834" y="1758386"/>
            <a:ext cx="748337" cy="58958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46C57C3B-2984-6D54-A24B-006389FDAE67}"/>
              </a:ext>
            </a:extLst>
          </p:cNvPr>
          <p:cNvSpPr txBox="1"/>
          <p:nvPr/>
        </p:nvSpPr>
        <p:spPr>
          <a:xfrm>
            <a:off x="8816210" y="2168434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NAS</a:t>
            </a:r>
            <a:endParaRPr kumimoji="1" lang="ja-JP" altLang="en-US" sz="1200" dirty="0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B612839C-61EE-52C9-714B-5B10ADB75794}"/>
              </a:ext>
            </a:extLst>
          </p:cNvPr>
          <p:cNvSpPr/>
          <p:nvPr/>
        </p:nvSpPr>
        <p:spPr>
          <a:xfrm>
            <a:off x="4358961" y="5049120"/>
            <a:ext cx="7404414" cy="14302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dirty="0">
                <a:solidFill>
                  <a:schemeClr val="tx1"/>
                </a:solidFill>
              </a:rPr>
              <a:t>・データ登録（各機械の吸い出し含む）は</a:t>
            </a:r>
            <a:r>
              <a:rPr kumimoji="1" lang="en-US" altLang="ja-JP" sz="900" dirty="0">
                <a:solidFill>
                  <a:schemeClr val="tx1"/>
                </a:solidFill>
              </a:rPr>
              <a:t>1</a:t>
            </a:r>
            <a:r>
              <a:rPr kumimoji="1" lang="ja-JP" altLang="en-US" sz="900" dirty="0">
                <a:solidFill>
                  <a:schemeClr val="tx1"/>
                </a:solidFill>
              </a:rPr>
              <a:t>ロットごとに手動で行う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・稼働状況表示は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のデバイス</a:t>
            </a:r>
            <a:r>
              <a:rPr lang="en-US" altLang="ja-JP" sz="900" dirty="0">
                <a:solidFill>
                  <a:schemeClr val="tx1"/>
                </a:solidFill>
              </a:rPr>
              <a:t>(EM)</a:t>
            </a:r>
            <a:r>
              <a:rPr lang="ja-JP" altLang="en-US" sz="900" dirty="0">
                <a:solidFill>
                  <a:schemeClr val="tx1"/>
                </a:solidFill>
              </a:rPr>
              <a:t>を読む（リアルタイム表示</a:t>
            </a:r>
            <a:r>
              <a:rPr lang="en-US" altLang="ja-JP" sz="900" dirty="0">
                <a:solidFill>
                  <a:schemeClr val="tx1"/>
                </a:solidFill>
              </a:rPr>
              <a:t>)</a:t>
            </a:r>
          </a:p>
          <a:p>
            <a:r>
              <a:rPr lang="ja-JP" altLang="en-US" sz="900" dirty="0">
                <a:solidFill>
                  <a:schemeClr val="tx1"/>
                </a:solidFill>
              </a:rPr>
              <a:t>・推移図は</a:t>
            </a:r>
            <a:r>
              <a:rPr lang="en-US" altLang="ja-JP" sz="900" dirty="0">
                <a:solidFill>
                  <a:schemeClr val="tx1"/>
                </a:solidFill>
              </a:rPr>
              <a:t>DB</a:t>
            </a:r>
            <a:r>
              <a:rPr lang="ja-JP" altLang="en-US" sz="900" dirty="0">
                <a:solidFill>
                  <a:schemeClr val="tx1"/>
                </a:solidFill>
              </a:rPr>
              <a:t>ファイルを参照してグラフ化する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B4C9852A-44FF-6C6B-183F-1C2E851FC092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9624792" y="1458699"/>
            <a:ext cx="67744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91851BFC-25F1-28B7-0917-8600B2B3A1A7}"/>
              </a:ext>
            </a:extLst>
          </p:cNvPr>
          <p:cNvSpPr txBox="1"/>
          <p:nvPr/>
        </p:nvSpPr>
        <p:spPr>
          <a:xfrm>
            <a:off x="10320031" y="1303323"/>
            <a:ext cx="99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コバテック様</a:t>
            </a:r>
            <a:endParaRPr kumimoji="1" lang="en-US" altLang="ja-JP" sz="800" dirty="0"/>
          </a:p>
          <a:p>
            <a:r>
              <a:rPr lang="ja-JP" altLang="en-US" sz="800" dirty="0"/>
              <a:t>他</a:t>
            </a:r>
            <a:r>
              <a:rPr lang="en-US" altLang="ja-JP" sz="800" dirty="0"/>
              <a:t>PC</a:t>
            </a:r>
            <a:r>
              <a:rPr lang="ja-JP" altLang="en-US" sz="800" dirty="0"/>
              <a:t>へ</a:t>
            </a:r>
            <a:endParaRPr kumimoji="1" lang="ja-JP" altLang="en-US" sz="800" dirty="0"/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649B2A9C-2570-CB1D-A319-1384860B5DD8}"/>
              </a:ext>
            </a:extLst>
          </p:cNvPr>
          <p:cNvSpPr txBox="1"/>
          <p:nvPr/>
        </p:nvSpPr>
        <p:spPr>
          <a:xfrm>
            <a:off x="10774582" y="244711"/>
            <a:ext cx="12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最終更新</a:t>
            </a:r>
            <a:r>
              <a:rPr lang="en-US" altLang="ja-JP" sz="800" dirty="0"/>
              <a:t> : 2026/5/11</a:t>
            </a:r>
          </a:p>
          <a:p>
            <a:r>
              <a:rPr kumimoji="1" lang="ja-JP" altLang="en-US" sz="800" dirty="0"/>
              <a:t>京和製作所 間瀬</a:t>
            </a:r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E67573ED-572E-3E00-333F-4981E325964D}"/>
              </a:ext>
            </a:extLst>
          </p:cNvPr>
          <p:cNvCxnSpPr>
            <a:cxnSpLocks/>
          </p:cNvCxnSpPr>
          <p:nvPr/>
        </p:nvCxnSpPr>
        <p:spPr>
          <a:xfrm>
            <a:off x="8250373" y="1015446"/>
            <a:ext cx="92089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矢印コネクタ 1030">
            <a:extLst>
              <a:ext uri="{FF2B5EF4-FFF2-40B4-BE49-F238E27FC236}">
                <a16:creationId xmlns:a16="http://schemas.microsoft.com/office/drawing/2014/main" id="{06874E2A-3465-369B-80DA-E2B6042C9D39}"/>
              </a:ext>
            </a:extLst>
          </p:cNvPr>
          <p:cNvCxnSpPr>
            <a:cxnSpLocks/>
          </p:cNvCxnSpPr>
          <p:nvPr/>
        </p:nvCxnSpPr>
        <p:spPr>
          <a:xfrm flipH="1">
            <a:off x="4265341" y="1041654"/>
            <a:ext cx="920898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23CED234-EFD8-ED84-4A25-D5B55C358A13}"/>
              </a:ext>
            </a:extLst>
          </p:cNvPr>
          <p:cNvSpPr txBox="1"/>
          <p:nvPr/>
        </p:nvSpPr>
        <p:spPr>
          <a:xfrm>
            <a:off x="8201497" y="78931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rgbClr val="C00000"/>
                </a:solidFill>
              </a:rPr>
              <a:t>社内ネットワーク</a:t>
            </a:r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6AFBF52C-5E29-5D3F-FE67-6CF2FCB29071}"/>
              </a:ext>
            </a:extLst>
          </p:cNvPr>
          <p:cNvSpPr txBox="1"/>
          <p:nvPr/>
        </p:nvSpPr>
        <p:spPr>
          <a:xfrm>
            <a:off x="4265341" y="800002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chemeClr val="accent5">
                    <a:lumMod val="75000"/>
                  </a:schemeClr>
                </a:solidFill>
              </a:rPr>
              <a:t>設備ネットワーク</a:t>
            </a:r>
          </a:p>
        </p:txBody>
      </p:sp>
    </p:spTree>
    <p:extLst>
      <p:ext uri="{BB962C8B-B14F-4D97-AF65-F5344CB8AC3E}">
        <p14:creationId xmlns:p14="http://schemas.microsoft.com/office/powerpoint/2010/main" val="53369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1C04F0-39EE-DF00-3EA2-3FA77B1B0B08}"/>
              </a:ext>
            </a:extLst>
          </p:cNvPr>
          <p:cNvSpPr txBox="1"/>
          <p:nvPr/>
        </p:nvSpPr>
        <p:spPr>
          <a:xfrm>
            <a:off x="203747" y="162142"/>
            <a:ext cx="2701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u="sng" dirty="0"/>
              <a:t>作業フロー（全体）</a:t>
            </a:r>
          </a:p>
        </p:txBody>
      </p:sp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EE5B35BE-59E3-FAAE-07EE-A75CAD56765B}"/>
              </a:ext>
            </a:extLst>
          </p:cNvPr>
          <p:cNvSpPr/>
          <p:nvPr/>
        </p:nvSpPr>
        <p:spPr>
          <a:xfrm>
            <a:off x="825387" y="744469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初回検査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6" name="フローチャート: 処理 35">
            <a:extLst>
              <a:ext uri="{FF2B5EF4-FFF2-40B4-BE49-F238E27FC236}">
                <a16:creationId xmlns:a16="http://schemas.microsoft.com/office/drawing/2014/main" id="{1A8C750D-D33D-3AAC-AEA8-3BE304BB4E68}"/>
              </a:ext>
            </a:extLst>
          </p:cNvPr>
          <p:cNvSpPr/>
          <p:nvPr/>
        </p:nvSpPr>
        <p:spPr>
          <a:xfrm>
            <a:off x="825387" y="1864861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NG</a:t>
            </a:r>
            <a:r>
              <a:rPr lang="ja-JP" altLang="en-US" sz="1000" dirty="0">
                <a:solidFill>
                  <a:schemeClr val="tx1"/>
                </a:solidFill>
              </a:rPr>
              <a:t>品再</a:t>
            </a:r>
            <a:r>
              <a:rPr kumimoji="1" lang="ja-JP" altLang="en-US" sz="1000" dirty="0">
                <a:solidFill>
                  <a:schemeClr val="tx1"/>
                </a:solidFill>
              </a:rPr>
              <a:t>検査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34A12D4-4512-DBE3-B74A-0FEE64D00EF9}"/>
              </a:ext>
            </a:extLst>
          </p:cNvPr>
          <p:cNvSpPr txBox="1"/>
          <p:nvPr/>
        </p:nvSpPr>
        <p:spPr>
          <a:xfrm>
            <a:off x="1444427" y="2285647"/>
            <a:ext cx="45598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</a:t>
            </a:r>
            <a:r>
              <a:rPr lang="en-US" altLang="ja-JP" sz="900" dirty="0"/>
              <a:t>TP</a:t>
            </a:r>
            <a:r>
              <a:rPr lang="ja-JP" altLang="en-US" sz="900" dirty="0"/>
              <a:t>再検査モード選択（</a:t>
            </a:r>
            <a:r>
              <a:rPr lang="en-US" altLang="ja-JP" sz="900" dirty="0"/>
              <a:t>※2</a:t>
            </a:r>
            <a:r>
              <a:rPr lang="ja-JP" altLang="en-US" sz="900" dirty="0"/>
              <a:t>）</a:t>
            </a:r>
            <a:endParaRPr lang="en-US" altLang="ja-JP" sz="900" dirty="0"/>
          </a:p>
          <a:p>
            <a:r>
              <a:rPr lang="en-US" altLang="ja-JP" sz="900" dirty="0"/>
              <a:t>PLC</a:t>
            </a:r>
            <a:r>
              <a:rPr lang="ja-JP" altLang="en-US" sz="900" dirty="0"/>
              <a:t>：不良総数をリセット</a:t>
            </a:r>
            <a:endParaRPr lang="en-US" altLang="ja-JP" sz="900" dirty="0"/>
          </a:p>
          <a:p>
            <a:r>
              <a:rPr lang="ja-JP" altLang="en-US" sz="900" dirty="0"/>
              <a:t>再検査専用の</a:t>
            </a:r>
            <a:r>
              <a:rPr lang="en-US" altLang="ja-JP" sz="900" dirty="0"/>
              <a:t>OK/NG</a:t>
            </a:r>
            <a:r>
              <a:rPr lang="ja-JP" altLang="en-US" sz="900" dirty="0"/>
              <a:t>カウンタ使用</a:t>
            </a:r>
            <a:endParaRPr lang="en-US" altLang="ja-JP" sz="900" dirty="0"/>
          </a:p>
          <a:p>
            <a:r>
              <a:rPr lang="ja-JP" altLang="en-US" sz="900" dirty="0"/>
              <a:t>再検査用の</a:t>
            </a:r>
            <a:r>
              <a:rPr lang="en-US" altLang="ja-JP" sz="900" dirty="0"/>
              <a:t>OK/NG</a:t>
            </a:r>
            <a:r>
              <a:rPr lang="ja-JP" altLang="en-US" sz="900" dirty="0"/>
              <a:t>カウンタが全て</a:t>
            </a:r>
            <a:r>
              <a:rPr lang="en-US" altLang="ja-JP" sz="900" dirty="0"/>
              <a:t>0</a:t>
            </a:r>
            <a:r>
              <a:rPr lang="ja-JP" altLang="en-US" sz="900" dirty="0"/>
              <a:t>の場合は再検査実施しなかったとする</a:t>
            </a:r>
            <a:endParaRPr lang="en-US" altLang="ja-JP" sz="900" dirty="0"/>
          </a:p>
          <a:p>
            <a:r>
              <a:rPr lang="ja-JP" altLang="en-US" sz="900" dirty="0"/>
              <a:t>→その場合の不良総数は初回検査時の不良総数を採用する</a:t>
            </a:r>
            <a:endParaRPr lang="en-US" altLang="ja-JP" sz="900" dirty="0"/>
          </a:p>
          <a:p>
            <a:r>
              <a:rPr lang="en-US" altLang="ja-JP" sz="900" dirty="0"/>
              <a:t>※</a:t>
            </a:r>
            <a:r>
              <a:rPr lang="ja-JP" altLang="en-US" sz="900" dirty="0"/>
              <a:t>作業者はカウンタのリセット作業はしない</a:t>
            </a:r>
            <a:endParaRPr lang="en-US" altLang="ja-JP" sz="900" dirty="0"/>
          </a:p>
          <a:p>
            <a:endParaRPr lang="en-US" altLang="ja-JP" sz="900" dirty="0"/>
          </a:p>
          <a:p>
            <a:endParaRPr lang="en-US" altLang="ja-JP" sz="900" dirty="0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1043EC7-2082-CC29-0CD6-757EB7B7D180}"/>
              </a:ext>
            </a:extLst>
          </p:cNvPr>
          <p:cNvCxnSpPr>
            <a:cxnSpLocks/>
            <a:stCxn id="2" idx="2"/>
            <a:endCxn id="36" idx="0"/>
          </p:cNvCxnSpPr>
          <p:nvPr/>
        </p:nvCxnSpPr>
        <p:spPr>
          <a:xfrm>
            <a:off x="1444428" y="1165255"/>
            <a:ext cx="0" cy="699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232DA4B-AF00-F7A1-4575-922EA101C6FB}"/>
              </a:ext>
            </a:extLst>
          </p:cNvPr>
          <p:cNvSpPr txBox="1"/>
          <p:nvPr/>
        </p:nvSpPr>
        <p:spPr>
          <a:xfrm>
            <a:off x="1444428" y="1172364"/>
            <a:ext cx="2536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/>
              <a:t>PLC</a:t>
            </a:r>
            <a:r>
              <a:rPr lang="ja-JP" altLang="en-US" sz="900" dirty="0"/>
              <a:t>：ロット検査開始日時格納（</a:t>
            </a:r>
            <a:r>
              <a:rPr lang="en-US" altLang="ja-JP" sz="900" dirty="0"/>
              <a:t>※1</a:t>
            </a:r>
            <a:r>
              <a:rPr lang="ja-JP" altLang="en-US" sz="900" dirty="0"/>
              <a:t>）</a:t>
            </a:r>
            <a:endParaRPr lang="en-US" altLang="ja-JP" sz="900" dirty="0"/>
          </a:p>
          <a:p>
            <a:r>
              <a:rPr lang="ja-JP" altLang="en-US" sz="900" dirty="0"/>
              <a:t>初回検査用</a:t>
            </a:r>
            <a:r>
              <a:rPr lang="en-US" altLang="ja-JP" sz="900" dirty="0"/>
              <a:t>OK/NG</a:t>
            </a:r>
            <a:r>
              <a:rPr lang="ja-JP" altLang="en-US" sz="900" dirty="0"/>
              <a:t>カウンタ使用</a:t>
            </a:r>
            <a:endParaRPr lang="en-US" altLang="ja-JP" sz="900" dirty="0"/>
          </a:p>
        </p:txBody>
      </p:sp>
      <p:sp>
        <p:nvSpPr>
          <p:cNvPr id="47" name="フローチャート: 処理 46">
            <a:extLst>
              <a:ext uri="{FF2B5EF4-FFF2-40B4-BE49-F238E27FC236}">
                <a16:creationId xmlns:a16="http://schemas.microsoft.com/office/drawing/2014/main" id="{87AF4B19-EDA4-388F-A1C1-CAF4E7643B8E}"/>
              </a:ext>
            </a:extLst>
          </p:cNvPr>
          <p:cNvSpPr/>
          <p:nvPr/>
        </p:nvSpPr>
        <p:spPr>
          <a:xfrm>
            <a:off x="825387" y="3531520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検査機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記録待ちモードへ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4853CA1F-0645-FD18-C251-0A2C2493F1C6}"/>
              </a:ext>
            </a:extLst>
          </p:cNvPr>
          <p:cNvCxnSpPr>
            <a:cxnSpLocks/>
            <a:stCxn id="36" idx="2"/>
            <a:endCxn id="47" idx="0"/>
          </p:cNvCxnSpPr>
          <p:nvPr/>
        </p:nvCxnSpPr>
        <p:spPr>
          <a:xfrm>
            <a:off x="1444428" y="2285647"/>
            <a:ext cx="0" cy="124587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6B932091-A0BB-6D90-066A-EA7F3C5E0C68}"/>
              </a:ext>
            </a:extLst>
          </p:cNvPr>
          <p:cNvSpPr/>
          <p:nvPr/>
        </p:nvSpPr>
        <p:spPr>
          <a:xfrm>
            <a:off x="6867439" y="744469"/>
            <a:ext cx="4701473" cy="204728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kumimoji="1" lang="ja-JP" altLang="en-US" sz="900" dirty="0">
                <a:solidFill>
                  <a:schemeClr val="tx1"/>
                </a:solidFill>
              </a:rPr>
              <a:t>備考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※1</a:t>
            </a:r>
            <a:r>
              <a:rPr kumimoji="1" lang="ja-JP" altLang="en-US" sz="900" dirty="0">
                <a:solidFill>
                  <a:schemeClr val="tx1"/>
                </a:solidFill>
              </a:rPr>
              <a:t>：日時格納デバイスが</a:t>
            </a:r>
            <a:r>
              <a:rPr kumimoji="1" lang="en-US" altLang="ja-JP" sz="900" dirty="0">
                <a:solidFill>
                  <a:schemeClr val="tx1"/>
                </a:solidFill>
              </a:rPr>
              <a:t>0</a:t>
            </a:r>
            <a:r>
              <a:rPr kumimoji="1" lang="ja-JP" altLang="en-US" sz="900" dirty="0">
                <a:solidFill>
                  <a:schemeClr val="tx1"/>
                </a:solidFill>
              </a:rPr>
              <a:t>担っている場合、自動運転開始時に日時を格納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　　（ロット開始時間は</a:t>
            </a:r>
            <a:r>
              <a:rPr lang="en-US" altLang="ja-JP" sz="900" dirty="0">
                <a:solidFill>
                  <a:schemeClr val="tx1"/>
                </a:solidFill>
              </a:rPr>
              <a:t>TP</a:t>
            </a:r>
            <a:r>
              <a:rPr lang="ja-JP" altLang="en-US" sz="900" dirty="0">
                <a:solidFill>
                  <a:schemeClr val="tx1"/>
                </a:solidFill>
              </a:rPr>
              <a:t>に表示しておく）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en-US" altLang="ja-JP" sz="900" dirty="0">
                <a:solidFill>
                  <a:schemeClr val="tx1"/>
                </a:solidFill>
              </a:rPr>
              <a:t>※2</a:t>
            </a:r>
            <a:r>
              <a:rPr lang="ja-JP" altLang="en-US" sz="900" dirty="0">
                <a:solidFill>
                  <a:schemeClr val="tx1"/>
                </a:solidFill>
              </a:rPr>
              <a:t>：記録実行時に再検査モードはリセットする（ポカヨケ）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※3</a:t>
            </a:r>
            <a:r>
              <a:rPr kumimoji="1" lang="ja-JP" altLang="en-US" sz="900" dirty="0">
                <a:solidFill>
                  <a:schemeClr val="tx1"/>
                </a:solidFill>
              </a:rPr>
              <a:t>：</a:t>
            </a:r>
            <a:r>
              <a:rPr kumimoji="1" lang="en-US" altLang="ja-JP" sz="900" dirty="0">
                <a:solidFill>
                  <a:schemeClr val="tx1"/>
                </a:solidFill>
              </a:rPr>
              <a:t>TP</a:t>
            </a:r>
            <a:r>
              <a:rPr kumimoji="1" lang="ja-JP" altLang="en-US" sz="900" dirty="0">
                <a:solidFill>
                  <a:schemeClr val="tx1"/>
                </a:solidFill>
              </a:rPr>
              <a:t>中央に専用ウィンドウで「記録待ち」と大きく表示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　　（</a:t>
            </a:r>
            <a:r>
              <a:rPr lang="en-US" altLang="ja-JP" sz="900" dirty="0">
                <a:solidFill>
                  <a:schemeClr val="tx1"/>
                </a:solidFill>
              </a:rPr>
              <a:t>PC</a:t>
            </a:r>
            <a:r>
              <a:rPr lang="ja-JP" altLang="en-US" sz="900" dirty="0">
                <a:solidFill>
                  <a:schemeClr val="tx1"/>
                </a:solidFill>
              </a:rPr>
              <a:t>から自動でサーチ。記録後は自動でリセットする。）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E202A4CE-4F19-45AF-D9A4-FC6BC4F16FB9}"/>
              </a:ext>
            </a:extLst>
          </p:cNvPr>
          <p:cNvSpPr txBox="1"/>
          <p:nvPr/>
        </p:nvSpPr>
        <p:spPr>
          <a:xfrm>
            <a:off x="1426219" y="3963518"/>
            <a:ext cx="33298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</a:t>
            </a:r>
            <a:r>
              <a:rPr lang="en-US" altLang="ja-JP" sz="900" dirty="0"/>
              <a:t>TP</a:t>
            </a:r>
            <a:r>
              <a:rPr lang="ja-JP" altLang="en-US" sz="900" dirty="0"/>
              <a:t>ボタン操作（</a:t>
            </a:r>
            <a:r>
              <a:rPr lang="en-US" altLang="ja-JP" sz="900" dirty="0"/>
              <a:t>※3</a:t>
            </a:r>
            <a:r>
              <a:rPr lang="ja-JP" altLang="en-US" sz="900" dirty="0"/>
              <a:t>）</a:t>
            </a:r>
            <a:endParaRPr lang="en-US" altLang="ja-JP" sz="900" dirty="0"/>
          </a:p>
        </p:txBody>
      </p:sp>
      <p:sp>
        <p:nvSpPr>
          <p:cNvPr id="66" name="フローチャート: 処理 65">
            <a:extLst>
              <a:ext uri="{FF2B5EF4-FFF2-40B4-BE49-F238E27FC236}">
                <a16:creationId xmlns:a16="http://schemas.microsoft.com/office/drawing/2014/main" id="{22A4B26C-145E-C726-8D53-DAC9C83DE209}"/>
              </a:ext>
            </a:extLst>
          </p:cNvPr>
          <p:cNvSpPr/>
          <p:nvPr/>
        </p:nvSpPr>
        <p:spPr>
          <a:xfrm>
            <a:off x="825387" y="4479356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現場</a:t>
            </a:r>
            <a:r>
              <a:rPr lang="en-US" altLang="ja-JP" sz="1000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入力作業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6196C1FD-C280-95C7-401C-C49B0D452322}"/>
              </a:ext>
            </a:extLst>
          </p:cNvPr>
          <p:cNvCxnSpPr>
            <a:cxnSpLocks/>
            <a:stCxn id="47" idx="2"/>
            <a:endCxn id="66" idx="0"/>
          </p:cNvCxnSpPr>
          <p:nvPr/>
        </p:nvCxnSpPr>
        <p:spPr>
          <a:xfrm>
            <a:off x="1444428" y="3952306"/>
            <a:ext cx="0" cy="5270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フローチャート: 処理 71">
            <a:extLst>
              <a:ext uri="{FF2B5EF4-FFF2-40B4-BE49-F238E27FC236}">
                <a16:creationId xmlns:a16="http://schemas.microsoft.com/office/drawing/2014/main" id="{251120CB-57E6-ADF1-13DD-A09F8FE75008}"/>
              </a:ext>
            </a:extLst>
          </p:cNvPr>
          <p:cNvSpPr/>
          <p:nvPr/>
        </p:nvSpPr>
        <p:spPr>
          <a:xfrm>
            <a:off x="825387" y="5498535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現場</a:t>
            </a:r>
            <a:r>
              <a:rPr lang="en-US" altLang="ja-JP" sz="1000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記録実行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96FD180C-3BB2-7298-F4C3-4DA8632EC00E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1444428" y="4900142"/>
            <a:ext cx="0" cy="59839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E4739936-3DC6-AC6C-AE9D-3DA2CDBBE862}"/>
              </a:ext>
            </a:extLst>
          </p:cNvPr>
          <p:cNvSpPr txBox="1"/>
          <p:nvPr/>
        </p:nvSpPr>
        <p:spPr>
          <a:xfrm>
            <a:off x="1426219" y="4925869"/>
            <a:ext cx="327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詳細は別資料を参照</a:t>
            </a:r>
            <a:endParaRPr lang="en-US" altLang="ja-JP" sz="900" dirty="0"/>
          </a:p>
          <a:p>
            <a:endParaRPr lang="en-US" altLang="ja-JP" sz="900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B6E9D72-2968-0B60-341C-B85BF860C107}"/>
              </a:ext>
            </a:extLst>
          </p:cNvPr>
          <p:cNvSpPr/>
          <p:nvPr/>
        </p:nvSpPr>
        <p:spPr>
          <a:xfrm>
            <a:off x="6867440" y="2913262"/>
            <a:ext cx="4701473" cy="357417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デバイス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ロット検査開始日時＝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再検査モード＝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記録待ち＝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良品数、不良総数、初回</a:t>
            </a:r>
            <a:r>
              <a:rPr lang="en-US" altLang="ja-JP" sz="900" dirty="0">
                <a:solidFill>
                  <a:schemeClr val="tx1"/>
                </a:solidFill>
              </a:rPr>
              <a:t>NG</a:t>
            </a:r>
            <a:r>
              <a:rPr lang="ja-JP" altLang="en-US" sz="900" dirty="0">
                <a:solidFill>
                  <a:schemeClr val="tx1"/>
                </a:solidFill>
              </a:rPr>
              <a:t>数、再検査</a:t>
            </a:r>
            <a:r>
              <a:rPr lang="en-US" altLang="ja-JP" sz="900" dirty="0">
                <a:solidFill>
                  <a:schemeClr val="tx1"/>
                </a:solidFill>
              </a:rPr>
              <a:t>NG</a:t>
            </a:r>
            <a:r>
              <a:rPr lang="ja-JP" altLang="en-US" sz="900" dirty="0">
                <a:solidFill>
                  <a:schemeClr val="tx1"/>
                </a:solidFill>
              </a:rPr>
              <a:t>数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CB024EC-96D5-5949-3C35-73FAC8F60772}"/>
              </a:ext>
            </a:extLst>
          </p:cNvPr>
          <p:cNvSpPr txBox="1"/>
          <p:nvPr/>
        </p:nvSpPr>
        <p:spPr>
          <a:xfrm>
            <a:off x="1444427" y="5979602"/>
            <a:ext cx="473788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/>
              <a:t>PC</a:t>
            </a:r>
            <a:r>
              <a:rPr lang="ja-JP" altLang="en-US" sz="900" dirty="0"/>
              <a:t>：</a:t>
            </a:r>
            <a:r>
              <a:rPr lang="en-US" altLang="ja-JP" sz="900" dirty="0"/>
              <a:t>DB</a:t>
            </a:r>
            <a:r>
              <a:rPr lang="ja-JP" altLang="en-US" sz="900" dirty="0"/>
              <a:t>ファイルへデータ追加</a:t>
            </a:r>
            <a:endParaRPr lang="en-US" altLang="ja-JP" sz="900" dirty="0"/>
          </a:p>
          <a:p>
            <a:r>
              <a:rPr lang="en-US" altLang="ja-JP" sz="900" dirty="0"/>
              <a:t>PC</a:t>
            </a:r>
            <a:r>
              <a:rPr lang="ja-JP" altLang="en-US" sz="900" dirty="0"/>
              <a:t>：</a:t>
            </a:r>
            <a:r>
              <a:rPr lang="en-US" altLang="ja-JP" sz="900" dirty="0"/>
              <a:t>PLC</a:t>
            </a:r>
            <a:r>
              <a:rPr lang="ja-JP" altLang="en-US" sz="900" dirty="0"/>
              <a:t>デバイスをリセット</a:t>
            </a:r>
            <a:endParaRPr lang="en-US" altLang="ja-JP" sz="900" dirty="0"/>
          </a:p>
          <a:p>
            <a:r>
              <a:rPr lang="ja-JP" altLang="en-US" sz="900" dirty="0">
                <a:solidFill>
                  <a:srgbClr val="C00000"/>
                </a:solidFill>
              </a:rPr>
              <a:t>＊バックアップタイミングを決めておく（</a:t>
            </a:r>
            <a:r>
              <a:rPr lang="en-US" altLang="ja-JP" sz="900" dirty="0">
                <a:solidFill>
                  <a:srgbClr val="C00000"/>
                </a:solidFill>
              </a:rPr>
              <a:t>1</a:t>
            </a:r>
            <a:r>
              <a:rPr lang="ja-JP" altLang="en-US" sz="900" dirty="0">
                <a:solidFill>
                  <a:srgbClr val="C00000"/>
                </a:solidFill>
              </a:rPr>
              <a:t>日</a:t>
            </a:r>
            <a:r>
              <a:rPr lang="en-US" altLang="ja-JP" sz="900" dirty="0">
                <a:solidFill>
                  <a:srgbClr val="C00000"/>
                </a:solidFill>
              </a:rPr>
              <a:t>1</a:t>
            </a:r>
            <a:r>
              <a:rPr lang="ja-JP" altLang="en-US" sz="900" dirty="0">
                <a:solidFill>
                  <a:srgbClr val="C00000"/>
                </a:solidFill>
              </a:rPr>
              <a:t>回、</a:t>
            </a:r>
            <a:r>
              <a:rPr lang="en-US" altLang="ja-JP" sz="900" dirty="0">
                <a:solidFill>
                  <a:srgbClr val="C00000"/>
                </a:solidFill>
              </a:rPr>
              <a:t>NAS</a:t>
            </a:r>
            <a:r>
              <a:rPr lang="ja-JP" altLang="en-US" sz="900" dirty="0">
                <a:solidFill>
                  <a:srgbClr val="C00000"/>
                </a:solidFill>
              </a:rPr>
              <a:t>へバックアップする予定）</a:t>
            </a:r>
            <a:endParaRPr lang="en-US" altLang="ja-JP" sz="9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BFCD26-5E02-06E9-33A5-8C71410CA848}"/>
              </a:ext>
            </a:extLst>
          </p:cNvPr>
          <p:cNvSpPr txBox="1"/>
          <p:nvPr/>
        </p:nvSpPr>
        <p:spPr>
          <a:xfrm>
            <a:off x="10754315" y="162144"/>
            <a:ext cx="12743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900" dirty="0"/>
              <a:t>最終更新：</a:t>
            </a:r>
            <a:r>
              <a:rPr lang="en-US" altLang="ja-JP" sz="900" dirty="0"/>
              <a:t>2026.6.2</a:t>
            </a:r>
          </a:p>
        </p:txBody>
      </p:sp>
    </p:spTree>
    <p:extLst>
      <p:ext uri="{BB962C8B-B14F-4D97-AF65-F5344CB8AC3E}">
        <p14:creationId xmlns:p14="http://schemas.microsoft.com/office/powerpoint/2010/main" val="11984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E7F5-DF12-1686-4797-05F3F2EED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D750B620-E0A2-710C-AA02-D528BB28DC37}"/>
              </a:ext>
            </a:extLst>
          </p:cNvPr>
          <p:cNvSpPr txBox="1"/>
          <p:nvPr/>
        </p:nvSpPr>
        <p:spPr>
          <a:xfrm>
            <a:off x="203747" y="162142"/>
            <a:ext cx="450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u="sng" dirty="0"/>
              <a:t>作業フロー（現場</a:t>
            </a:r>
            <a:r>
              <a:rPr kumimoji="1" lang="en-US" altLang="ja-JP" sz="2000" u="sng" dirty="0"/>
              <a:t>PC</a:t>
            </a:r>
            <a:r>
              <a:rPr kumimoji="1" lang="ja-JP" altLang="en-US" sz="2000" u="sng" dirty="0"/>
              <a:t>作業のみ）</a:t>
            </a:r>
          </a:p>
        </p:txBody>
      </p:sp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DBA9E7BD-8E21-B027-A400-E3C7F7EB9074}"/>
              </a:ext>
            </a:extLst>
          </p:cNvPr>
          <p:cNvSpPr/>
          <p:nvPr/>
        </p:nvSpPr>
        <p:spPr>
          <a:xfrm>
            <a:off x="825387" y="1707417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データ更新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ボタン押下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6" name="フローチャート: 処理 35">
            <a:extLst>
              <a:ext uri="{FF2B5EF4-FFF2-40B4-BE49-F238E27FC236}">
                <a16:creationId xmlns:a16="http://schemas.microsoft.com/office/drawing/2014/main" id="{0B50D752-1961-0D8A-04CA-961E1BD191AE}"/>
              </a:ext>
            </a:extLst>
          </p:cNvPr>
          <p:cNvSpPr/>
          <p:nvPr/>
        </p:nvSpPr>
        <p:spPr>
          <a:xfrm>
            <a:off x="825387" y="3262175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手動入力</a:t>
            </a:r>
            <a:r>
              <a:rPr lang="en-US" altLang="ja-JP" sz="1000" dirty="0">
                <a:solidFill>
                  <a:schemeClr val="tx1"/>
                </a:solidFill>
              </a:rPr>
              <a:t>/</a:t>
            </a:r>
            <a:r>
              <a:rPr lang="ja-JP" altLang="en-US" sz="1000" dirty="0">
                <a:solidFill>
                  <a:schemeClr val="tx1"/>
                </a:solidFill>
              </a:rPr>
              <a:t>修正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バーコード入力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EF824A89-0525-CE96-0CED-387C8EA3117A}"/>
              </a:ext>
            </a:extLst>
          </p:cNvPr>
          <p:cNvCxnSpPr>
            <a:cxnSpLocks/>
            <a:stCxn id="2" idx="2"/>
            <a:endCxn id="36" idx="0"/>
          </p:cNvCxnSpPr>
          <p:nvPr/>
        </p:nvCxnSpPr>
        <p:spPr>
          <a:xfrm>
            <a:off x="1444428" y="2128203"/>
            <a:ext cx="0" cy="11339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C4FE0F9E-CFF2-A0AF-D825-3BE91C6F920E}"/>
              </a:ext>
            </a:extLst>
          </p:cNvPr>
          <p:cNvCxnSpPr>
            <a:cxnSpLocks/>
            <a:stCxn id="36" idx="2"/>
            <a:endCxn id="12" idx="0"/>
          </p:cNvCxnSpPr>
          <p:nvPr/>
        </p:nvCxnSpPr>
        <p:spPr>
          <a:xfrm>
            <a:off x="1444428" y="3682961"/>
            <a:ext cx="0" cy="8307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23E6FCA-4C1B-BD83-C043-54EAFD80F6D7}"/>
              </a:ext>
            </a:extLst>
          </p:cNvPr>
          <p:cNvSpPr/>
          <p:nvPr/>
        </p:nvSpPr>
        <p:spPr>
          <a:xfrm>
            <a:off x="6867439" y="744469"/>
            <a:ext cx="4701473" cy="204728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kumimoji="1" lang="ja-JP" altLang="en-US" sz="900" dirty="0">
                <a:solidFill>
                  <a:schemeClr val="tx1"/>
                </a:solidFill>
              </a:rPr>
              <a:t>備考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※1</a:t>
            </a:r>
            <a:r>
              <a:rPr kumimoji="1" lang="ja-JP" altLang="en-US" sz="9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2A6C8FFA-7354-8DEB-591A-D017567513A2}"/>
              </a:ext>
            </a:extLst>
          </p:cNvPr>
          <p:cNvSpPr txBox="1"/>
          <p:nvPr/>
        </p:nvSpPr>
        <p:spPr>
          <a:xfrm>
            <a:off x="1444428" y="1218240"/>
            <a:ext cx="33298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作業者：アプリ起動＋言語選択（日本語／英語）</a:t>
            </a:r>
            <a:endParaRPr lang="en-US" altLang="ja-JP" sz="900" dirty="0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D7F243D3-B356-E990-9B3A-2E51C2E574DB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>
            <a:off x="1444428" y="1178398"/>
            <a:ext cx="0" cy="52901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9B38A7-4592-5F0E-E769-2BFD8F6F39E8}"/>
              </a:ext>
            </a:extLst>
          </p:cNvPr>
          <p:cNvSpPr txBox="1"/>
          <p:nvPr/>
        </p:nvSpPr>
        <p:spPr>
          <a:xfrm>
            <a:off x="1445100" y="2156574"/>
            <a:ext cx="511754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アプリ：記録待ちの設備をサーチし、検査機番格納</a:t>
            </a:r>
            <a:endParaRPr lang="en-US" altLang="ja-JP" sz="900" dirty="0"/>
          </a:p>
          <a:p>
            <a:r>
              <a:rPr lang="ja-JP" altLang="en-US" sz="900" dirty="0"/>
              <a:t>アプリ：以下の項目自動入力（デフォルトまたは</a:t>
            </a:r>
            <a:r>
              <a:rPr lang="en-US" altLang="ja-JP" sz="900" dirty="0"/>
              <a:t>PLC</a:t>
            </a:r>
            <a:r>
              <a:rPr lang="ja-JP" altLang="en-US" sz="900" dirty="0"/>
              <a:t>データ入力）</a:t>
            </a:r>
            <a:endParaRPr lang="en-US" altLang="ja-JP" sz="900" dirty="0"/>
          </a:p>
          <a:p>
            <a:r>
              <a:rPr lang="ja-JP" altLang="en-US" sz="900" dirty="0"/>
              <a:t>　　　　記録日／シフト／月別通し</a:t>
            </a:r>
            <a:r>
              <a:rPr lang="en-US" altLang="ja-JP" sz="900" dirty="0"/>
              <a:t>No</a:t>
            </a:r>
            <a:r>
              <a:rPr lang="ja-JP" altLang="en-US" sz="900" dirty="0"/>
              <a:t>／検査開始時間／検査終了時間／変化点記録</a:t>
            </a:r>
            <a:endParaRPr lang="en-US" altLang="ja-JP" sz="900" dirty="0"/>
          </a:p>
          <a:p>
            <a:r>
              <a:rPr lang="ja-JP" altLang="en-US" sz="900" dirty="0"/>
              <a:t>アプリ：</a:t>
            </a:r>
            <a:r>
              <a:rPr lang="en-US" altLang="ja-JP" sz="900" dirty="0"/>
              <a:t>PLC</a:t>
            </a:r>
            <a:r>
              <a:rPr lang="ja-JP" altLang="en-US" sz="900" dirty="0"/>
              <a:t>の良品数、不良数の受信</a:t>
            </a:r>
            <a:endParaRPr lang="en-US" altLang="ja-JP" sz="900" dirty="0"/>
          </a:p>
          <a:p>
            <a:r>
              <a:rPr lang="ja-JP" altLang="en-US" sz="900" dirty="0"/>
              <a:t>アプリ：</a:t>
            </a:r>
            <a:r>
              <a:rPr lang="en-US" altLang="ja-JP" sz="900" dirty="0"/>
              <a:t>VT</a:t>
            </a:r>
            <a:r>
              <a:rPr lang="ja-JP" altLang="en-US" sz="900" dirty="0"/>
              <a:t>からアラーム履歴受信＆ロット別アラーム数の入力</a:t>
            </a:r>
            <a:endParaRPr lang="en-US" altLang="ja-JP" sz="9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5B723E-E1F1-5FE5-D887-13D34508A25E}"/>
              </a:ext>
            </a:extLst>
          </p:cNvPr>
          <p:cNvSpPr txBox="1"/>
          <p:nvPr/>
        </p:nvSpPr>
        <p:spPr>
          <a:xfrm>
            <a:off x="1445100" y="3831028"/>
            <a:ext cx="51175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詳細は「画面構想</a:t>
            </a:r>
            <a:r>
              <a:rPr lang="en-US" altLang="ja-JP" sz="900" dirty="0"/>
              <a:t>.</a:t>
            </a:r>
            <a:r>
              <a:rPr lang="en-US" altLang="ja-JP" sz="900" dirty="0" err="1"/>
              <a:t>xls</a:t>
            </a:r>
            <a:r>
              <a:rPr lang="ja-JP" altLang="en-US" sz="900" dirty="0"/>
              <a:t>」参照のこと</a:t>
            </a:r>
            <a:endParaRPr lang="en-US" altLang="ja-JP" sz="900" dirty="0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0DC30E0C-57E7-B55D-EA9F-9E57B6D4F83E}"/>
              </a:ext>
            </a:extLst>
          </p:cNvPr>
          <p:cNvSpPr/>
          <p:nvPr/>
        </p:nvSpPr>
        <p:spPr>
          <a:xfrm>
            <a:off x="825387" y="757612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準備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E32C27F-92C3-58C9-CAFC-E9C44B925C47}"/>
              </a:ext>
            </a:extLst>
          </p:cNvPr>
          <p:cNvSpPr/>
          <p:nvPr/>
        </p:nvSpPr>
        <p:spPr>
          <a:xfrm>
            <a:off x="825387" y="4513672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記録実行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ボタン押下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0965C15-81AF-37FB-A08D-E9B0C44CFD7D}"/>
              </a:ext>
            </a:extLst>
          </p:cNvPr>
          <p:cNvSpPr txBox="1"/>
          <p:nvPr/>
        </p:nvSpPr>
        <p:spPr>
          <a:xfrm>
            <a:off x="1444428" y="4977625"/>
            <a:ext cx="51175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アプリ：データ登録処理、各種リセット処理（別資料参照）</a:t>
            </a:r>
            <a:endParaRPr lang="en-US" altLang="ja-JP" sz="900" dirty="0"/>
          </a:p>
        </p:txBody>
      </p:sp>
    </p:spTree>
    <p:extLst>
      <p:ext uri="{BB962C8B-B14F-4D97-AF65-F5344CB8AC3E}">
        <p14:creationId xmlns:p14="http://schemas.microsoft.com/office/powerpoint/2010/main" val="34218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4F02-EEE4-98B3-3E73-7931429C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59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642</Words>
  <Application>Microsoft Office PowerPoint</Application>
  <PresentationFormat>ワイド画面</PresentationFormat>
  <Paragraphs>105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FUMIHIRO MASE</dc:creator>
  <cp:lastModifiedBy>FUMIHIRO MASE</cp:lastModifiedBy>
  <cp:revision>5</cp:revision>
  <dcterms:created xsi:type="dcterms:W3CDTF">2026-05-11T14:31:53Z</dcterms:created>
  <dcterms:modified xsi:type="dcterms:W3CDTF">2026-06-02T15:28:13Z</dcterms:modified>
</cp:coreProperties>
</file>