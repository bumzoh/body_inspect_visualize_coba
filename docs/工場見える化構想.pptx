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淡色スタイル 2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7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18C27-436E-72A3-EA37-52E7435400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F0F752-48DB-015B-EBA7-DCB7354E2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E877B3-5F1B-2D43-42BA-0AC586168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48F96C-030B-3368-EACF-5E4DB6CCF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5DDD4-40CF-9BD8-1025-C7A7DBB6F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092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B9A143-6DC4-C42F-588B-DC824B6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116EF6-366A-062F-D8FF-6590C9FD3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2CEEDF-33A4-BC43-B478-799842D2F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27DBEB-2FA3-4C4E-8FBA-A63ADDBC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53ACC5-F206-A4D5-4E1F-D06D8C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423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840CEE-9D5A-20EA-0A1C-16D61BD41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471C42-51E4-0C9D-F122-6D7EE1A60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52692D-41A4-1E0C-A878-0F0770CE9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1B3D4A-EF39-3429-C317-F3402E27C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013BD5-A194-1259-DB95-6436755A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128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F3C9F-4EF7-4666-A9BB-3413712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03F27-67B1-CC8B-BD98-5567A1CC8C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83367-026B-F70A-31DF-B21625ECC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087740-E3DE-15D3-A500-AFA805B4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8B9EA0-E14C-539F-9798-A131DB3FB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0855FF-7F95-4888-8939-774E4191B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539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972DF-3814-3C00-20C8-60EDB92D7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7BBF45-9821-BCA3-4984-0FE78129A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0F33A8-568A-32B9-698F-8FF1926FF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60E135F-4B2B-C7EE-A9AC-D74BA1648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7D9269-EC9A-22C9-0CBE-1A2D131F82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731B05-4437-2134-A56D-A98F88BA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CC62B8-F9B9-8C91-40E2-66D29147C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507AAE1-EF41-FD3B-846C-B6F4BAF6C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8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009E9D-BF08-DEF7-62CE-D8F4BD24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1C9848F-F3DC-F5F5-203F-7827D4B2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FBA1FA8-FCDD-8C1E-547F-A64D712C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A1D21B-F2F6-48CF-CEE1-D4E8F9D1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975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507665-207C-9ECE-A2AF-295D6591F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9279DB-D7E6-A117-8127-F5A00C5A9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E1960F-2F9E-AB88-0722-029D47E3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3767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2E4A6-653A-6C5C-DDCC-C7216AE96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291E47-8FAB-756C-4E0A-E2493B5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51B34C-FEA6-11FB-443E-181BBAEB8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E90CC9-30DE-D395-0FD2-29757C183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574723-344D-18EF-F61E-CB6326C8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FE0987-411A-6054-5FBA-2D3532294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933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3B046-3494-BF50-4DF0-A18367D14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0881187-89EF-BAD2-F5D4-B1F60B748B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D075AA9-06D1-2BBC-D801-FE11D5E53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589B0C-D057-B0C0-8EDB-2E14A509B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59AA2C-6AA2-35C4-9FFE-FD4AF155C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224C342-E2E6-1D5B-1F00-F57B96CF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4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DD7AE0-9F27-C0AA-58F5-F8BB9660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F8D3A7-4A15-4F78-1031-60D37E46A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0075F1-8F60-B0C9-1341-8A9E82B67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821C5-5B7A-6ADE-B570-1DE8AD66B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BA30A8-3143-E844-60A2-B47239CD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5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A36A95-52F4-396C-28CA-C2260ED9F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0934DB-FA61-E8C3-533B-FB724C99E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705A53-6FA4-DFA0-6B94-5859A3F65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9E8866-AB38-A732-13B9-4B57F8DBC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CADA84-7529-CA5B-0786-1D35A7A8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543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A768D9-DADE-633A-B2A3-1166B17A1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9BD333-8F8A-CEAD-0182-57DD2DB85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2B70B7-1362-24D0-A56D-F64161E95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65FF4-FB7B-4546-AEDF-E8D6362B3E6C}" type="datetimeFigureOut">
              <a:rPr kumimoji="1" lang="ja-JP" altLang="en-US" smtClean="0"/>
              <a:t>2026/8/30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B9D8B0-C06C-FDEC-6415-012AAD96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A9C4D-B68C-732D-8848-6CC60E164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56CEE-D5C4-4248-BEC6-325B9F7F05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90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0AFFAD9-D5AE-80FF-4E7C-F2629EF0C335}"/>
              </a:ext>
            </a:extLst>
          </p:cNvPr>
          <p:cNvSpPr/>
          <p:nvPr/>
        </p:nvSpPr>
        <p:spPr>
          <a:xfrm>
            <a:off x="739139" y="1410567"/>
            <a:ext cx="2503747" cy="1239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2F8A7-0E58-9E8B-4D25-C0B974DD2ACE}"/>
              </a:ext>
            </a:extLst>
          </p:cNvPr>
          <p:cNvSpPr txBox="1"/>
          <p:nvPr/>
        </p:nvSpPr>
        <p:spPr>
          <a:xfrm>
            <a:off x="669174" y="1179645"/>
            <a:ext cx="1538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PLC(KV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FF65BA4-97EF-00A2-069F-B31B4BC94704}"/>
              </a:ext>
            </a:extLst>
          </p:cNvPr>
          <p:cNvSpPr/>
          <p:nvPr/>
        </p:nvSpPr>
        <p:spPr>
          <a:xfrm>
            <a:off x="1596839" y="1655814"/>
            <a:ext cx="1463559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四角形: 1 つの角を切り取る 6">
            <a:extLst>
              <a:ext uri="{FF2B5EF4-FFF2-40B4-BE49-F238E27FC236}">
                <a16:creationId xmlns:a16="http://schemas.microsoft.com/office/drawing/2014/main" id="{3EBDB43C-7BB7-269B-6A2A-F3DB04E2F40B}"/>
              </a:ext>
            </a:extLst>
          </p:cNvPr>
          <p:cNvSpPr/>
          <p:nvPr/>
        </p:nvSpPr>
        <p:spPr>
          <a:xfrm>
            <a:off x="1768747" y="1778168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稼働データ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8B9DAEF-B369-3D21-9F3E-ADE6BE21EEE1}"/>
              </a:ext>
            </a:extLst>
          </p:cNvPr>
          <p:cNvSpPr/>
          <p:nvPr/>
        </p:nvSpPr>
        <p:spPr>
          <a:xfrm>
            <a:off x="837825" y="1655815"/>
            <a:ext cx="660170" cy="854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470E3D-9787-23E8-F5E9-114C13F7C913}"/>
              </a:ext>
            </a:extLst>
          </p:cNvPr>
          <p:cNvSpPr txBox="1"/>
          <p:nvPr/>
        </p:nvSpPr>
        <p:spPr>
          <a:xfrm>
            <a:off x="790517" y="147097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4D57D23-CDB6-EAFD-69AF-FFDD306A5C3C}"/>
              </a:ext>
            </a:extLst>
          </p:cNvPr>
          <p:cNvSpPr txBox="1"/>
          <p:nvPr/>
        </p:nvSpPr>
        <p:spPr>
          <a:xfrm>
            <a:off x="1496421" y="1479862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11" name="四角形: 1 つの角を切り取る 10">
            <a:extLst>
              <a:ext uri="{FF2B5EF4-FFF2-40B4-BE49-F238E27FC236}">
                <a16:creationId xmlns:a16="http://schemas.microsoft.com/office/drawing/2014/main" id="{1118C512-1894-13D9-1DD8-7F8ED16F4B7F}"/>
              </a:ext>
            </a:extLst>
          </p:cNvPr>
          <p:cNvSpPr/>
          <p:nvPr/>
        </p:nvSpPr>
        <p:spPr>
          <a:xfrm>
            <a:off x="1768747" y="2102787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>
                <a:solidFill>
                  <a:schemeClr val="tx1"/>
                </a:solidFill>
              </a:rPr>
              <a:t>GT2</a:t>
            </a:r>
            <a:r>
              <a:rPr kumimoji="1" lang="ja-JP" altLang="en-US" sz="800" dirty="0">
                <a:solidFill>
                  <a:schemeClr val="tx1"/>
                </a:solidFill>
              </a:rPr>
              <a:t>測定データ</a:t>
            </a:r>
            <a:r>
              <a:rPr lang="en-US" altLang="ja-JP" sz="800" dirty="0">
                <a:solidFill>
                  <a:schemeClr val="tx1"/>
                </a:solidFill>
              </a:rPr>
              <a:t>.CSV</a:t>
            </a:r>
            <a:endParaRPr kumimoji="1" lang="en-US" altLang="ja-JP" sz="800" dirty="0">
              <a:solidFill>
                <a:schemeClr val="tx1"/>
              </a:solidFill>
            </a:endParaRP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A8FE9A6-A74C-9A58-DBD7-66172E182D1E}"/>
              </a:ext>
            </a:extLst>
          </p:cNvPr>
          <p:cNvSpPr/>
          <p:nvPr/>
        </p:nvSpPr>
        <p:spPr>
          <a:xfrm>
            <a:off x="1394742" y="1952221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FEC737-5A96-39C4-7549-89A4432623EC}"/>
              </a:ext>
            </a:extLst>
          </p:cNvPr>
          <p:cNvSpPr/>
          <p:nvPr/>
        </p:nvSpPr>
        <p:spPr>
          <a:xfrm>
            <a:off x="739139" y="3312942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8773A7-F705-A26F-9BA1-FB1EA7D5AC4C}"/>
              </a:ext>
            </a:extLst>
          </p:cNvPr>
          <p:cNvSpPr txBox="1"/>
          <p:nvPr/>
        </p:nvSpPr>
        <p:spPr>
          <a:xfrm>
            <a:off x="669174" y="3082020"/>
            <a:ext cx="22054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タッチパネル</a:t>
            </a:r>
            <a:r>
              <a:rPr kumimoji="1" lang="en-US" altLang="ja-JP" sz="1200" dirty="0"/>
              <a:t>(VT</a:t>
            </a:r>
            <a:r>
              <a:rPr kumimoji="1" lang="ja-JP" altLang="en-US" sz="1200" dirty="0"/>
              <a:t>シリーズ</a:t>
            </a:r>
            <a:r>
              <a:rPr kumimoji="1" lang="en-US" altLang="ja-JP" sz="1200" dirty="0"/>
              <a:t>)</a:t>
            </a:r>
            <a:endParaRPr kumimoji="1" lang="ja-JP" altLang="en-US" sz="1200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8D3A15-1B75-BCA9-C852-2B967CB470F2}"/>
              </a:ext>
            </a:extLst>
          </p:cNvPr>
          <p:cNvSpPr/>
          <p:nvPr/>
        </p:nvSpPr>
        <p:spPr>
          <a:xfrm>
            <a:off x="1596839" y="3558189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四角形: 1 つの角を切り取る 15">
            <a:extLst>
              <a:ext uri="{FF2B5EF4-FFF2-40B4-BE49-F238E27FC236}">
                <a16:creationId xmlns:a16="http://schemas.microsoft.com/office/drawing/2014/main" id="{3848EAC4-D212-B549-763C-45ED7D33EF43}"/>
              </a:ext>
            </a:extLst>
          </p:cNvPr>
          <p:cNvSpPr/>
          <p:nvPr/>
        </p:nvSpPr>
        <p:spPr>
          <a:xfrm>
            <a:off x="1768747" y="3680543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アラーム履歴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875974B-D680-58C1-B09E-48DE67E81B8F}"/>
              </a:ext>
            </a:extLst>
          </p:cNvPr>
          <p:cNvSpPr/>
          <p:nvPr/>
        </p:nvSpPr>
        <p:spPr>
          <a:xfrm>
            <a:off x="889361" y="3558190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51BC7E2-1DC4-CAAE-52F4-C91ACFE37211}"/>
              </a:ext>
            </a:extLst>
          </p:cNvPr>
          <p:cNvSpPr txBox="1"/>
          <p:nvPr/>
        </p:nvSpPr>
        <p:spPr>
          <a:xfrm>
            <a:off x="790517" y="337334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098FF69-D2C2-E137-F7A7-92BDFF9415A1}"/>
              </a:ext>
            </a:extLst>
          </p:cNvPr>
          <p:cNvSpPr txBox="1"/>
          <p:nvPr/>
        </p:nvSpPr>
        <p:spPr>
          <a:xfrm>
            <a:off x="1496421" y="3382237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C47CCE1-1C60-9B96-7014-BED67E1653FE}"/>
              </a:ext>
            </a:extLst>
          </p:cNvPr>
          <p:cNvSpPr/>
          <p:nvPr/>
        </p:nvSpPr>
        <p:spPr>
          <a:xfrm>
            <a:off x="1394742" y="3746646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798DCE1-C610-8507-813F-0BDBD5705985}"/>
              </a:ext>
            </a:extLst>
          </p:cNvPr>
          <p:cNvSpPr/>
          <p:nvPr/>
        </p:nvSpPr>
        <p:spPr>
          <a:xfrm>
            <a:off x="739139" y="4764381"/>
            <a:ext cx="2503747" cy="9062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3748793-B955-FA66-883E-DB83CD5EF480}"/>
              </a:ext>
            </a:extLst>
          </p:cNvPr>
          <p:cNvSpPr txBox="1"/>
          <p:nvPr/>
        </p:nvSpPr>
        <p:spPr>
          <a:xfrm>
            <a:off x="669174" y="4533459"/>
            <a:ext cx="2391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画像コントローラ</a:t>
            </a:r>
            <a:r>
              <a:rPr kumimoji="1" lang="en-US" altLang="ja-JP" sz="1200" dirty="0"/>
              <a:t>(XG-X)</a:t>
            </a:r>
            <a:endParaRPr kumimoji="1" lang="ja-JP" altLang="en-US" sz="1200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F47C72A-59E8-8E84-288E-CFFB0E84283C}"/>
              </a:ext>
            </a:extLst>
          </p:cNvPr>
          <p:cNvSpPr/>
          <p:nvPr/>
        </p:nvSpPr>
        <p:spPr>
          <a:xfrm>
            <a:off x="1596839" y="5009628"/>
            <a:ext cx="1463559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四角形: 1 つの角を切り取る 24">
            <a:extLst>
              <a:ext uri="{FF2B5EF4-FFF2-40B4-BE49-F238E27FC236}">
                <a16:creationId xmlns:a16="http://schemas.microsoft.com/office/drawing/2014/main" id="{3F88DC94-353E-C268-33B7-9DC0B9A69D39}"/>
              </a:ext>
            </a:extLst>
          </p:cNvPr>
          <p:cNvSpPr/>
          <p:nvPr/>
        </p:nvSpPr>
        <p:spPr>
          <a:xfrm>
            <a:off x="1768747" y="5131982"/>
            <a:ext cx="1150620" cy="265493"/>
          </a:xfrm>
          <a:prstGeom prst="snip1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数値測定結果</a:t>
            </a:r>
            <a:r>
              <a:rPr kumimoji="1" lang="en-US" altLang="ja-JP" sz="800" dirty="0">
                <a:solidFill>
                  <a:schemeClr val="tx1"/>
                </a:solidFill>
              </a:rPr>
              <a:t>.CSV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D63927A-2925-EECE-6BAF-7728961081C8}"/>
              </a:ext>
            </a:extLst>
          </p:cNvPr>
          <p:cNvSpPr/>
          <p:nvPr/>
        </p:nvSpPr>
        <p:spPr>
          <a:xfrm>
            <a:off x="889361" y="5009629"/>
            <a:ext cx="608634" cy="5149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941ED7C-5AFB-286C-4EE1-41D42943236F}"/>
              </a:ext>
            </a:extLst>
          </p:cNvPr>
          <p:cNvSpPr txBox="1"/>
          <p:nvPr/>
        </p:nvSpPr>
        <p:spPr>
          <a:xfrm>
            <a:off x="790517" y="482478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内部メモリ</a:t>
            </a:r>
            <a:endParaRPr kumimoji="1" lang="ja-JP" altLang="en-US" sz="8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C4E8DFE-301A-997A-EF30-24C470DB76C5}"/>
              </a:ext>
            </a:extLst>
          </p:cNvPr>
          <p:cNvSpPr txBox="1"/>
          <p:nvPr/>
        </p:nvSpPr>
        <p:spPr>
          <a:xfrm>
            <a:off x="1496421" y="4833676"/>
            <a:ext cx="8155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800" dirty="0"/>
              <a:t>SD</a:t>
            </a:r>
            <a:r>
              <a:rPr lang="ja-JP" altLang="en-US" sz="800" dirty="0"/>
              <a:t>カード</a:t>
            </a:r>
            <a:endParaRPr kumimoji="1" lang="ja-JP" altLang="en-US" sz="800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A88521F6-6FE0-95D5-1B9B-12DB2C39BCB0}"/>
              </a:ext>
            </a:extLst>
          </p:cNvPr>
          <p:cNvSpPr/>
          <p:nvPr/>
        </p:nvSpPr>
        <p:spPr>
          <a:xfrm>
            <a:off x="1394742" y="5198085"/>
            <a:ext cx="282633" cy="182880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73F55FB-EED8-AD8D-AD01-BD538DCD33BA}"/>
              </a:ext>
            </a:extLst>
          </p:cNvPr>
          <p:cNvSpPr txBox="1"/>
          <p:nvPr/>
        </p:nvSpPr>
        <p:spPr>
          <a:xfrm>
            <a:off x="739139" y="2641710"/>
            <a:ext cx="25037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稼働データは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日に</a:t>
            </a:r>
            <a:r>
              <a:rPr kumimoji="1" lang="en-US" altLang="ja-JP" sz="800" dirty="0"/>
              <a:t>1</a:t>
            </a:r>
            <a:r>
              <a:rPr kumimoji="1" lang="ja-JP" altLang="en-US" sz="800" dirty="0"/>
              <a:t>回自動出力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測定データは固定数毎</a:t>
            </a:r>
            <a:r>
              <a:rPr lang="en-US" altLang="ja-JP" sz="800" dirty="0"/>
              <a:t>(</a:t>
            </a:r>
            <a:r>
              <a:rPr lang="ja-JP" altLang="en-US" sz="800" dirty="0"/>
              <a:t>例えば</a:t>
            </a:r>
            <a:r>
              <a:rPr lang="en-US" altLang="ja-JP" sz="800" dirty="0"/>
              <a:t>1000</a:t>
            </a:r>
            <a:r>
              <a:rPr lang="ja-JP" altLang="en-US" sz="800" dirty="0"/>
              <a:t>個毎</a:t>
            </a:r>
            <a:r>
              <a:rPr lang="en-US" altLang="ja-JP" sz="800" dirty="0"/>
              <a:t>)</a:t>
            </a:r>
            <a:endParaRPr kumimoji="1" lang="ja-JP" altLang="en-US" sz="80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778971D-A49A-68E7-FF76-1AD95645D78D}"/>
              </a:ext>
            </a:extLst>
          </p:cNvPr>
          <p:cNvSpPr txBox="1"/>
          <p:nvPr/>
        </p:nvSpPr>
        <p:spPr>
          <a:xfrm>
            <a:off x="739138" y="4211400"/>
            <a:ext cx="2503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アラーム履歴は</a:t>
            </a:r>
            <a:r>
              <a:rPr kumimoji="1" lang="en-US" altLang="ja-JP" sz="800" dirty="0"/>
              <a:t>PC</a:t>
            </a:r>
            <a:r>
              <a:rPr kumimoji="1" lang="ja-JP" altLang="en-US" sz="800" dirty="0"/>
              <a:t>からの要求時に</a:t>
            </a:r>
            <a:r>
              <a:rPr kumimoji="1" lang="en-US" altLang="ja-JP" sz="800" dirty="0"/>
              <a:t>SD</a:t>
            </a:r>
            <a:r>
              <a:rPr kumimoji="1" lang="ja-JP" altLang="en-US" sz="800" dirty="0"/>
              <a:t>へ出力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7C85114-E6FD-DE97-4937-827673BC8FA2}"/>
              </a:ext>
            </a:extLst>
          </p:cNvPr>
          <p:cNvSpPr txBox="1"/>
          <p:nvPr/>
        </p:nvSpPr>
        <p:spPr>
          <a:xfrm>
            <a:off x="739138" y="5670664"/>
            <a:ext cx="2503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測定時に自動出力される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最新ファイルは</a:t>
            </a:r>
            <a:r>
              <a:rPr lang="en-US" altLang="ja-JP" sz="800" dirty="0"/>
              <a:t>PC</a:t>
            </a:r>
            <a:r>
              <a:rPr lang="ja-JP" altLang="en-US" sz="800" dirty="0"/>
              <a:t>からアクセスしない</a:t>
            </a:r>
            <a:endParaRPr lang="en-US" altLang="ja-JP" sz="800" dirty="0"/>
          </a:p>
          <a:p>
            <a:r>
              <a:rPr kumimoji="1" lang="en-US" altLang="ja-JP" sz="800" dirty="0"/>
              <a:t>  </a:t>
            </a:r>
            <a:r>
              <a:rPr kumimoji="1" lang="ja-JP" altLang="en-US" sz="800" dirty="0"/>
              <a:t> </a:t>
            </a:r>
            <a:r>
              <a:rPr kumimoji="1" lang="en-US" altLang="ja-JP" sz="800" dirty="0"/>
              <a:t>(</a:t>
            </a:r>
            <a:r>
              <a:rPr kumimoji="1" lang="ja-JP" altLang="en-US" sz="800" dirty="0"/>
              <a:t>データが壊れる可能性があるため）</a:t>
            </a:r>
            <a:endParaRPr kumimoji="1" lang="en-US" altLang="ja-JP" sz="800" dirty="0"/>
          </a:p>
          <a:p>
            <a:r>
              <a:rPr lang="en-US" altLang="ja-JP" sz="800" dirty="0"/>
              <a:t>※</a:t>
            </a:r>
            <a:r>
              <a:rPr lang="ja-JP" altLang="en-US" sz="800" dirty="0"/>
              <a:t>画像データは巨大すぎるため対象外</a:t>
            </a:r>
            <a:endParaRPr lang="en-US" altLang="ja-JP" sz="800" dirty="0"/>
          </a:p>
          <a:p>
            <a:r>
              <a:rPr kumimoji="1" lang="en-US" altLang="ja-JP" sz="800" dirty="0"/>
              <a:t>※</a:t>
            </a:r>
            <a:r>
              <a:rPr kumimoji="1" lang="ja-JP" altLang="en-US" sz="800" dirty="0"/>
              <a:t>データ出力ユニットを利用する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DE030D1-3C64-4465-0DEE-9F11F57BB44F}"/>
              </a:ext>
            </a:extLst>
          </p:cNvPr>
          <p:cNvSpPr/>
          <p:nvPr/>
        </p:nvSpPr>
        <p:spPr>
          <a:xfrm>
            <a:off x="861097" y="1685149"/>
            <a:ext cx="600926" cy="2748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</a:rPr>
              <a:t>カウンタ</a:t>
            </a: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477DE2E5-CB42-0F15-C3AA-5FC7FBDC0D1F}"/>
              </a:ext>
            </a:extLst>
          </p:cNvPr>
          <p:cNvSpPr/>
          <p:nvPr/>
        </p:nvSpPr>
        <p:spPr>
          <a:xfrm>
            <a:off x="523009" y="1086368"/>
            <a:ext cx="3549534" cy="5394961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06E11FBE-DE01-BAF7-54B1-8012E271821F}"/>
              </a:ext>
            </a:extLst>
          </p:cNvPr>
          <p:cNvSpPr/>
          <p:nvPr/>
        </p:nvSpPr>
        <p:spPr>
          <a:xfrm>
            <a:off x="3327629" y="1410567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04252902-8C41-9B71-9E3F-4526156316B2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242886" y="1849264"/>
            <a:ext cx="266008" cy="181063"/>
          </a:xfrm>
          <a:prstGeom prst="bentConnector3">
            <a:avLst>
              <a:gd name="adj1" fmla="val 94162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41C35EFF-7DAC-3986-2E44-6C97D2496991}"/>
              </a:ext>
            </a:extLst>
          </p:cNvPr>
          <p:cNvCxnSpPr>
            <a:cxnSpLocks/>
            <a:stCxn id="13" idx="3"/>
            <a:endCxn id="35" idx="2"/>
          </p:cNvCxnSpPr>
          <p:nvPr/>
        </p:nvCxnSpPr>
        <p:spPr>
          <a:xfrm flipV="1">
            <a:off x="3242886" y="1851188"/>
            <a:ext cx="395324" cy="1914896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B3260882-5C29-3428-64A6-D61C964E766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3242886" y="1849264"/>
            <a:ext cx="539058" cy="3368259"/>
          </a:xfrm>
          <a:prstGeom prst="bentConnector2">
            <a:avLst/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9CF9DC5-5C06-B6A5-ACD4-5FDEA8E55C3E}"/>
              </a:ext>
            </a:extLst>
          </p:cNvPr>
          <p:cNvSpPr/>
          <p:nvPr/>
        </p:nvSpPr>
        <p:spPr>
          <a:xfrm>
            <a:off x="5322790" y="1041654"/>
            <a:ext cx="2781430" cy="1833442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A6FD659-F172-9898-EA1B-2FF87E5EF9EC}"/>
              </a:ext>
            </a:extLst>
          </p:cNvPr>
          <p:cNvSpPr txBox="1"/>
          <p:nvPr/>
        </p:nvSpPr>
        <p:spPr>
          <a:xfrm>
            <a:off x="523009" y="814575"/>
            <a:ext cx="93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検査装置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F83A6C2F-C447-ED40-75BF-845AC99272C4}"/>
              </a:ext>
            </a:extLst>
          </p:cNvPr>
          <p:cNvSpPr txBox="1"/>
          <p:nvPr/>
        </p:nvSpPr>
        <p:spPr>
          <a:xfrm>
            <a:off x="5322790" y="809369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現場</a:t>
            </a:r>
            <a:r>
              <a:rPr kumimoji="1" lang="en-US" altLang="ja-JP" sz="1200" dirty="0"/>
              <a:t>PC</a:t>
            </a:r>
            <a:endParaRPr kumimoji="1" lang="ja-JP" altLang="en-US" sz="1200" dirty="0"/>
          </a:p>
        </p:txBody>
      </p:sp>
      <p:sp>
        <p:nvSpPr>
          <p:cNvPr id="58" name="円柱 57">
            <a:extLst>
              <a:ext uri="{FF2B5EF4-FFF2-40B4-BE49-F238E27FC236}">
                <a16:creationId xmlns:a16="http://schemas.microsoft.com/office/drawing/2014/main" id="{C2C7750B-1896-4763-C2A9-EEC5FDF56493}"/>
              </a:ext>
            </a:extLst>
          </p:cNvPr>
          <p:cNvSpPr/>
          <p:nvPr/>
        </p:nvSpPr>
        <p:spPr>
          <a:xfrm>
            <a:off x="6992070" y="1441501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DB</a:t>
            </a:r>
            <a:r>
              <a:rPr kumimoji="1" lang="ja-JP" altLang="en-US" sz="900" dirty="0">
                <a:solidFill>
                  <a:schemeClr val="tx1"/>
                </a:solidFill>
              </a:rPr>
              <a:t>ファイル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723ADD5B-83C7-A44E-9133-33E22D9AFFDE}"/>
              </a:ext>
            </a:extLst>
          </p:cNvPr>
          <p:cNvSpPr/>
          <p:nvPr/>
        </p:nvSpPr>
        <p:spPr>
          <a:xfrm>
            <a:off x="5509454" y="1361664"/>
            <a:ext cx="1038707" cy="5208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</a:rPr>
              <a:t>データ登録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FC495AD9-56BA-3247-189E-CD93BBA1E964}"/>
              </a:ext>
            </a:extLst>
          </p:cNvPr>
          <p:cNvSpPr/>
          <p:nvPr/>
        </p:nvSpPr>
        <p:spPr>
          <a:xfrm>
            <a:off x="6557962" y="1564374"/>
            <a:ext cx="434108" cy="213794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2D0E463D-67CA-0015-AF6A-5AAE7B80E42F}"/>
              </a:ext>
            </a:extLst>
          </p:cNvPr>
          <p:cNvCxnSpPr>
            <a:cxnSpLocks/>
            <a:stCxn id="54" idx="1"/>
            <a:endCxn id="77" idx="3"/>
          </p:cNvCxnSpPr>
          <p:nvPr/>
        </p:nvCxnSpPr>
        <p:spPr>
          <a:xfrm rot="10800000">
            <a:off x="4980122" y="1628955"/>
            <a:ext cx="342668" cy="329421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AB0959BA-9687-E5FE-7964-3E3BACE73894}"/>
              </a:ext>
            </a:extLst>
          </p:cNvPr>
          <p:cNvSpPr/>
          <p:nvPr/>
        </p:nvSpPr>
        <p:spPr>
          <a:xfrm>
            <a:off x="4358961" y="1408643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80" name="コネクタ: カギ線 79">
            <a:extLst>
              <a:ext uri="{FF2B5EF4-FFF2-40B4-BE49-F238E27FC236}">
                <a16:creationId xmlns:a16="http://schemas.microsoft.com/office/drawing/2014/main" id="{27DCEC72-51D3-8413-A4DF-36EB13F2B98C}"/>
              </a:ext>
            </a:extLst>
          </p:cNvPr>
          <p:cNvCxnSpPr>
            <a:cxnSpLocks/>
            <a:stCxn id="77" idx="1"/>
            <a:endCxn id="35" idx="3"/>
          </p:cNvCxnSpPr>
          <p:nvPr/>
        </p:nvCxnSpPr>
        <p:spPr>
          <a:xfrm rot="10800000" flipV="1">
            <a:off x="3948791" y="1628954"/>
            <a:ext cx="410171" cy="192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74FC92A-20BD-D8E3-0509-8011643DC4C8}"/>
              </a:ext>
            </a:extLst>
          </p:cNvPr>
          <p:cNvSpPr txBox="1"/>
          <p:nvPr/>
        </p:nvSpPr>
        <p:spPr>
          <a:xfrm>
            <a:off x="5214577" y="2985895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見える化</a:t>
            </a:r>
            <a:r>
              <a:rPr lang="ja-JP" altLang="en-US" sz="1200" dirty="0"/>
              <a:t>モニタ</a:t>
            </a:r>
            <a:endParaRPr kumimoji="1" lang="ja-JP" altLang="en-US" sz="1200" dirty="0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4EC98FEB-123B-384B-B384-CAE0670592F8}"/>
              </a:ext>
            </a:extLst>
          </p:cNvPr>
          <p:cNvSpPr/>
          <p:nvPr/>
        </p:nvSpPr>
        <p:spPr>
          <a:xfrm>
            <a:off x="5526915" y="2168434"/>
            <a:ext cx="1854094" cy="5983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稼働状況表示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pPr algn="ctr"/>
            <a:r>
              <a:rPr lang="ja-JP" altLang="en-US" sz="900" dirty="0">
                <a:solidFill>
                  <a:schemeClr val="tx1"/>
                </a:solidFill>
              </a:rPr>
              <a:t>プログラム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pic>
        <p:nvPicPr>
          <p:cNvPr id="1026" name="Picture 2" descr="複合グラフ・レポートのイラスト | 無料のフリー素材 イラストエイト">
            <a:extLst>
              <a:ext uri="{FF2B5EF4-FFF2-40B4-BE49-F238E27FC236}">
                <a16:creationId xmlns:a16="http://schemas.microsoft.com/office/drawing/2014/main" id="{B715D81B-CC36-FB2D-2080-8E2F9F2D7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4722" y="3362620"/>
            <a:ext cx="1466248" cy="119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0" name="直方体 89">
            <a:extLst>
              <a:ext uri="{FF2B5EF4-FFF2-40B4-BE49-F238E27FC236}">
                <a16:creationId xmlns:a16="http://schemas.microsoft.com/office/drawing/2014/main" id="{B46F0F9A-4794-C0CF-20A8-341D243FE900}"/>
              </a:ext>
            </a:extLst>
          </p:cNvPr>
          <p:cNvSpPr/>
          <p:nvPr/>
        </p:nvSpPr>
        <p:spPr>
          <a:xfrm>
            <a:off x="5322790" y="3272261"/>
            <a:ext cx="2175166" cy="1344824"/>
          </a:xfrm>
          <a:prstGeom prst="cube">
            <a:avLst>
              <a:gd name="adj" fmla="val 212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矢印: 右 90">
            <a:extLst>
              <a:ext uri="{FF2B5EF4-FFF2-40B4-BE49-F238E27FC236}">
                <a16:creationId xmlns:a16="http://schemas.microsoft.com/office/drawing/2014/main" id="{5D6DF771-187A-C60F-2256-1FCDB7FAD970}"/>
              </a:ext>
            </a:extLst>
          </p:cNvPr>
          <p:cNvSpPr/>
          <p:nvPr/>
        </p:nvSpPr>
        <p:spPr>
          <a:xfrm rot="5400000">
            <a:off x="6594234" y="2911906"/>
            <a:ext cx="501478" cy="219238"/>
          </a:xfrm>
          <a:prstGeom prst="rightArrow">
            <a:avLst>
              <a:gd name="adj1" fmla="val 50000"/>
              <a:gd name="adj2" fmla="val 682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65C1FBDF-C602-927F-E18F-2C670C0DB987}"/>
              </a:ext>
            </a:extLst>
          </p:cNvPr>
          <p:cNvSpPr txBox="1"/>
          <p:nvPr/>
        </p:nvSpPr>
        <p:spPr>
          <a:xfrm>
            <a:off x="5322790" y="4664842"/>
            <a:ext cx="16284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※70</a:t>
            </a:r>
            <a:r>
              <a:rPr kumimoji="1" lang="ja-JP" altLang="en-US" sz="800" dirty="0"/>
              <a:t>インチ程度のサブモニタ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DEB96C9D-E78C-FDA2-6350-2C5D4C110ED7}"/>
              </a:ext>
            </a:extLst>
          </p:cNvPr>
          <p:cNvSpPr txBox="1"/>
          <p:nvPr/>
        </p:nvSpPr>
        <p:spPr>
          <a:xfrm>
            <a:off x="6905691" y="1919657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" dirty="0"/>
              <a:t>※SQLite</a:t>
            </a:r>
            <a:r>
              <a:rPr kumimoji="1" lang="ja-JP" altLang="en-US" sz="800" dirty="0"/>
              <a:t>ファイル</a:t>
            </a:r>
          </a:p>
        </p:txBody>
      </p: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3570BEAD-9D95-913E-0926-E973EE896F4D}"/>
              </a:ext>
            </a:extLst>
          </p:cNvPr>
          <p:cNvCxnSpPr>
            <a:cxnSpLocks/>
            <a:stCxn id="77" idx="2"/>
          </p:cNvCxnSpPr>
          <p:nvPr/>
        </p:nvCxnSpPr>
        <p:spPr>
          <a:xfrm>
            <a:off x="4669542" y="1849264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0225CAB2-4B8C-880C-1034-C020CA48C0E6}"/>
              </a:ext>
            </a:extLst>
          </p:cNvPr>
          <p:cNvCxnSpPr>
            <a:cxnSpLocks/>
          </p:cNvCxnSpPr>
          <p:nvPr/>
        </p:nvCxnSpPr>
        <p:spPr>
          <a:xfrm>
            <a:off x="4504442" y="1845396"/>
            <a:ext cx="0" cy="921375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BDCD3C7D-9AB6-15E7-97E9-D07E11E336EA}"/>
              </a:ext>
            </a:extLst>
          </p:cNvPr>
          <p:cNvCxnSpPr>
            <a:cxnSpLocks/>
          </p:cNvCxnSpPr>
          <p:nvPr/>
        </p:nvCxnSpPr>
        <p:spPr>
          <a:xfrm>
            <a:off x="4831467" y="1845396"/>
            <a:ext cx="0" cy="917507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0B56070F-8EF2-A8B3-A239-509C41A34FFA}"/>
              </a:ext>
            </a:extLst>
          </p:cNvPr>
          <p:cNvSpPr txBox="1"/>
          <p:nvPr/>
        </p:nvSpPr>
        <p:spPr>
          <a:xfrm>
            <a:off x="4327269" y="2808636"/>
            <a:ext cx="7970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他検査機へ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B1C04F0-39EE-DF00-3EA2-3FA77B1B0B08}"/>
              </a:ext>
            </a:extLst>
          </p:cNvPr>
          <p:cNvSpPr txBox="1"/>
          <p:nvPr/>
        </p:nvSpPr>
        <p:spPr>
          <a:xfrm>
            <a:off x="228022" y="168868"/>
            <a:ext cx="5212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コバテック様向け</a:t>
            </a:r>
            <a:endParaRPr kumimoji="1" lang="en-US" altLang="ja-JP" sz="1200" dirty="0"/>
          </a:p>
          <a:p>
            <a:r>
              <a:rPr kumimoji="1" lang="ja-JP" altLang="en-US" sz="1600" u="sng" dirty="0"/>
              <a:t>ボディ検査装置データ自動取集＆見える化 構想図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0F0E7CFB-86AB-1700-B482-C427BB2B3B80}"/>
              </a:ext>
            </a:extLst>
          </p:cNvPr>
          <p:cNvSpPr/>
          <p:nvPr/>
        </p:nvSpPr>
        <p:spPr>
          <a:xfrm>
            <a:off x="9003631" y="1238388"/>
            <a:ext cx="621161" cy="4406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HUB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07" name="コネクタ: カギ線 106">
            <a:extLst>
              <a:ext uri="{FF2B5EF4-FFF2-40B4-BE49-F238E27FC236}">
                <a16:creationId xmlns:a16="http://schemas.microsoft.com/office/drawing/2014/main" id="{D412A20F-DBEE-F972-FF3F-EE024692D066}"/>
              </a:ext>
            </a:extLst>
          </p:cNvPr>
          <p:cNvCxnSpPr>
            <a:cxnSpLocks/>
            <a:stCxn id="106" idx="1"/>
            <a:endCxn id="54" idx="3"/>
          </p:cNvCxnSpPr>
          <p:nvPr/>
        </p:nvCxnSpPr>
        <p:spPr>
          <a:xfrm rot="10800000" flipV="1">
            <a:off x="8104221" y="1458699"/>
            <a:ext cx="899411" cy="499676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四角形: 角を丸くする 111">
            <a:extLst>
              <a:ext uri="{FF2B5EF4-FFF2-40B4-BE49-F238E27FC236}">
                <a16:creationId xmlns:a16="http://schemas.microsoft.com/office/drawing/2014/main" id="{1DB59EE2-076E-C85C-EC76-CD5EB0C3A4E6}"/>
              </a:ext>
            </a:extLst>
          </p:cNvPr>
          <p:cNvSpPr/>
          <p:nvPr/>
        </p:nvSpPr>
        <p:spPr>
          <a:xfrm>
            <a:off x="8816210" y="2427346"/>
            <a:ext cx="2175166" cy="1344825"/>
          </a:xfrm>
          <a:prstGeom prst="roundRect">
            <a:avLst>
              <a:gd name="adj" fmla="val 260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円柱 112">
            <a:extLst>
              <a:ext uri="{FF2B5EF4-FFF2-40B4-BE49-F238E27FC236}">
                <a16:creationId xmlns:a16="http://schemas.microsoft.com/office/drawing/2014/main" id="{419D6D29-331C-2249-9BDC-8703734AE6B2}"/>
              </a:ext>
            </a:extLst>
          </p:cNvPr>
          <p:cNvSpPr/>
          <p:nvPr/>
        </p:nvSpPr>
        <p:spPr>
          <a:xfrm>
            <a:off x="9006772" y="261545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Backup1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4" name="円柱 113">
            <a:extLst>
              <a:ext uri="{FF2B5EF4-FFF2-40B4-BE49-F238E27FC236}">
                <a16:creationId xmlns:a16="http://schemas.microsoft.com/office/drawing/2014/main" id="{CA1E6B3F-8EFC-F48F-2C8B-DB04F373BFEE}"/>
              </a:ext>
            </a:extLst>
          </p:cNvPr>
          <p:cNvSpPr/>
          <p:nvPr/>
        </p:nvSpPr>
        <p:spPr>
          <a:xfrm>
            <a:off x="9006772" y="314068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Backup3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5" name="円柱 114">
            <a:extLst>
              <a:ext uri="{FF2B5EF4-FFF2-40B4-BE49-F238E27FC236}">
                <a16:creationId xmlns:a16="http://schemas.microsoft.com/office/drawing/2014/main" id="{5842154F-791A-3CBC-FEF5-7D8DD9CC9C9D}"/>
              </a:ext>
            </a:extLst>
          </p:cNvPr>
          <p:cNvSpPr/>
          <p:nvPr/>
        </p:nvSpPr>
        <p:spPr>
          <a:xfrm>
            <a:off x="9945066" y="2621538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Backup2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sp>
        <p:nvSpPr>
          <p:cNvPr id="116" name="円柱 115">
            <a:extLst>
              <a:ext uri="{FF2B5EF4-FFF2-40B4-BE49-F238E27FC236}">
                <a16:creationId xmlns:a16="http://schemas.microsoft.com/office/drawing/2014/main" id="{B617B5B5-92BA-0BE1-1F74-ED17033007BC}"/>
              </a:ext>
            </a:extLst>
          </p:cNvPr>
          <p:cNvSpPr/>
          <p:nvPr/>
        </p:nvSpPr>
        <p:spPr>
          <a:xfrm>
            <a:off x="9945066" y="3146764"/>
            <a:ext cx="829516" cy="465513"/>
          </a:xfrm>
          <a:prstGeom prst="can">
            <a:avLst>
              <a:gd name="adj" fmla="val 1396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>
                <a:solidFill>
                  <a:schemeClr val="tx1"/>
                </a:solidFill>
              </a:rPr>
              <a:t>Backup4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69D227E1-C855-F0C8-87DB-7F7C67D87A97}"/>
              </a:ext>
            </a:extLst>
          </p:cNvPr>
          <p:cNvCxnSpPr>
            <a:cxnSpLocks/>
            <a:stCxn id="106" idx="2"/>
            <a:endCxn id="112" idx="0"/>
          </p:cNvCxnSpPr>
          <p:nvPr/>
        </p:nvCxnSpPr>
        <p:spPr>
          <a:xfrm rot="16200000" flipH="1">
            <a:off x="9234834" y="1758386"/>
            <a:ext cx="748337" cy="589581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D38A4713-43E9-C495-578D-5A4ABE16E9FC}"/>
              </a:ext>
            </a:extLst>
          </p:cNvPr>
          <p:cNvSpPr txBox="1"/>
          <p:nvPr/>
        </p:nvSpPr>
        <p:spPr>
          <a:xfrm>
            <a:off x="8816210" y="2168434"/>
            <a:ext cx="1628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NAS</a:t>
            </a:r>
            <a:endParaRPr kumimoji="1" lang="ja-JP" altLang="en-US" sz="1200" dirty="0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E2CBEC9B-6707-863F-DDFA-DB626E105580}"/>
              </a:ext>
            </a:extLst>
          </p:cNvPr>
          <p:cNvSpPr/>
          <p:nvPr/>
        </p:nvSpPr>
        <p:spPr>
          <a:xfrm>
            <a:off x="4358961" y="5049120"/>
            <a:ext cx="7404414" cy="1430285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 dirty="0">
                <a:solidFill>
                  <a:schemeClr val="tx1"/>
                </a:solidFill>
              </a:rPr>
              <a:t>・データ登録（各機械の吸い出し含む）は</a:t>
            </a:r>
            <a:r>
              <a:rPr kumimoji="1" lang="en-US" altLang="ja-JP" sz="900" dirty="0">
                <a:solidFill>
                  <a:schemeClr val="tx1"/>
                </a:solidFill>
              </a:rPr>
              <a:t>1</a:t>
            </a:r>
            <a:r>
              <a:rPr kumimoji="1" lang="ja-JP" altLang="en-US" sz="900" dirty="0">
                <a:solidFill>
                  <a:schemeClr val="tx1"/>
                </a:solidFill>
              </a:rPr>
              <a:t>ロットごとに手動で行う</a:t>
            </a:r>
            <a:endParaRPr kumimoji="1" lang="en-US" altLang="ja-JP" sz="900" dirty="0">
              <a:solidFill>
                <a:schemeClr val="tx1"/>
              </a:solidFill>
            </a:endParaRPr>
          </a:p>
          <a:p>
            <a:endParaRPr kumimoji="1" lang="en-US" altLang="ja-JP" sz="900" dirty="0">
              <a:solidFill>
                <a:schemeClr val="tx1"/>
              </a:solidFill>
            </a:endParaRPr>
          </a:p>
          <a:p>
            <a:r>
              <a:rPr lang="ja-JP" altLang="en-US" sz="900" dirty="0">
                <a:solidFill>
                  <a:schemeClr val="tx1"/>
                </a:solidFill>
              </a:rPr>
              <a:t>・稼働状況表示は</a:t>
            </a:r>
            <a:r>
              <a:rPr lang="en-US" altLang="ja-JP" sz="900" dirty="0">
                <a:solidFill>
                  <a:schemeClr val="tx1"/>
                </a:solidFill>
              </a:rPr>
              <a:t>PLC</a:t>
            </a:r>
            <a:r>
              <a:rPr lang="ja-JP" altLang="en-US" sz="900" dirty="0">
                <a:solidFill>
                  <a:schemeClr val="tx1"/>
                </a:solidFill>
              </a:rPr>
              <a:t>のデバイス</a:t>
            </a:r>
            <a:r>
              <a:rPr lang="en-US" altLang="ja-JP" sz="900" dirty="0">
                <a:solidFill>
                  <a:schemeClr val="tx1"/>
                </a:solidFill>
              </a:rPr>
              <a:t>(EM)</a:t>
            </a:r>
            <a:r>
              <a:rPr lang="ja-JP" altLang="en-US" sz="900" dirty="0">
                <a:solidFill>
                  <a:schemeClr val="tx1"/>
                </a:solidFill>
              </a:rPr>
              <a:t>を読む（リアルタイム表示</a:t>
            </a:r>
            <a:r>
              <a:rPr lang="en-US" altLang="ja-JP" sz="900" dirty="0">
                <a:solidFill>
                  <a:schemeClr val="tx1"/>
                </a:solidFill>
              </a:rPr>
              <a:t>)</a:t>
            </a:r>
          </a:p>
          <a:p>
            <a:r>
              <a:rPr lang="ja-JP" altLang="en-US" sz="900" dirty="0">
                <a:solidFill>
                  <a:schemeClr val="tx1"/>
                </a:solidFill>
              </a:rPr>
              <a:t>・推移図は</a:t>
            </a:r>
            <a:r>
              <a:rPr lang="en-US" altLang="ja-JP" sz="900" dirty="0">
                <a:solidFill>
                  <a:schemeClr val="tx1"/>
                </a:solidFill>
              </a:rPr>
              <a:t>DB</a:t>
            </a:r>
            <a:r>
              <a:rPr lang="ja-JP" altLang="en-US" sz="900" dirty="0">
                <a:solidFill>
                  <a:schemeClr val="tx1"/>
                </a:solidFill>
              </a:rPr>
              <a:t>ファイルを参照してグラフ化する</a:t>
            </a:r>
            <a:endParaRPr kumimoji="1" lang="ja-JP" altLang="en-US" sz="900" dirty="0">
              <a:solidFill>
                <a:schemeClr val="tx1"/>
              </a:solidFill>
            </a:endParaRPr>
          </a:p>
        </p:txBody>
      </p:sp>
      <p:cxnSp>
        <p:nvCxnSpPr>
          <p:cNvPr id="124" name="直線矢印コネクタ 123">
            <a:extLst>
              <a:ext uri="{FF2B5EF4-FFF2-40B4-BE49-F238E27FC236}">
                <a16:creationId xmlns:a16="http://schemas.microsoft.com/office/drawing/2014/main" id="{9DD5C3BA-A469-8C9F-5043-B97CE9BCB8F3}"/>
              </a:ext>
            </a:extLst>
          </p:cNvPr>
          <p:cNvCxnSpPr>
            <a:cxnSpLocks/>
            <a:stCxn id="106" idx="3"/>
          </p:cNvCxnSpPr>
          <p:nvPr/>
        </p:nvCxnSpPr>
        <p:spPr>
          <a:xfrm>
            <a:off x="9624792" y="1458699"/>
            <a:ext cx="67744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71C7EEDE-CAFD-4C6B-3168-E9289E6A1A8D}"/>
              </a:ext>
            </a:extLst>
          </p:cNvPr>
          <p:cNvSpPr txBox="1"/>
          <p:nvPr/>
        </p:nvSpPr>
        <p:spPr>
          <a:xfrm>
            <a:off x="10320031" y="1303323"/>
            <a:ext cx="9956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/>
              <a:t>コバテック様</a:t>
            </a:r>
            <a:endParaRPr kumimoji="1" lang="en-US" altLang="ja-JP" sz="800" dirty="0"/>
          </a:p>
          <a:p>
            <a:r>
              <a:rPr lang="ja-JP" altLang="en-US" sz="800" dirty="0"/>
              <a:t>他</a:t>
            </a:r>
            <a:r>
              <a:rPr lang="en-US" altLang="ja-JP" sz="800" dirty="0"/>
              <a:t>PC</a:t>
            </a:r>
            <a:r>
              <a:rPr lang="ja-JP" altLang="en-US" sz="800" dirty="0"/>
              <a:t>へ</a:t>
            </a:r>
            <a:endParaRPr kumimoji="1" lang="ja-JP" altLang="en-US" sz="800" dirty="0"/>
          </a:p>
        </p:txBody>
      </p:sp>
      <p:sp>
        <p:nvSpPr>
          <p:cNvPr id="1028" name="テキスト ボックス 1027">
            <a:extLst>
              <a:ext uri="{FF2B5EF4-FFF2-40B4-BE49-F238E27FC236}">
                <a16:creationId xmlns:a16="http://schemas.microsoft.com/office/drawing/2014/main" id="{239938EF-6111-F545-7813-AB8739783B7B}"/>
              </a:ext>
            </a:extLst>
          </p:cNvPr>
          <p:cNvSpPr txBox="1"/>
          <p:nvPr/>
        </p:nvSpPr>
        <p:spPr>
          <a:xfrm>
            <a:off x="10774582" y="244711"/>
            <a:ext cx="12067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dirty="0"/>
              <a:t>最終更新</a:t>
            </a:r>
            <a:r>
              <a:rPr lang="en-US" altLang="ja-JP" sz="800" dirty="0"/>
              <a:t> : 2026/5/11</a:t>
            </a:r>
          </a:p>
          <a:p>
            <a:r>
              <a:rPr kumimoji="1" lang="ja-JP" altLang="en-US" sz="800" dirty="0"/>
              <a:t>京和製作所 間瀬</a:t>
            </a:r>
          </a:p>
        </p:txBody>
      </p:sp>
      <p:cxnSp>
        <p:nvCxnSpPr>
          <p:cNvPr id="1030" name="直線矢印コネクタ 1029">
            <a:extLst>
              <a:ext uri="{FF2B5EF4-FFF2-40B4-BE49-F238E27FC236}">
                <a16:creationId xmlns:a16="http://schemas.microsoft.com/office/drawing/2014/main" id="{ABEDB0FC-60D7-2066-51E4-C284711E28F2}"/>
              </a:ext>
            </a:extLst>
          </p:cNvPr>
          <p:cNvCxnSpPr>
            <a:cxnSpLocks/>
          </p:cNvCxnSpPr>
          <p:nvPr/>
        </p:nvCxnSpPr>
        <p:spPr>
          <a:xfrm>
            <a:off x="8250373" y="1015446"/>
            <a:ext cx="920898" cy="0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直線矢印コネクタ 1030">
            <a:extLst>
              <a:ext uri="{FF2B5EF4-FFF2-40B4-BE49-F238E27FC236}">
                <a16:creationId xmlns:a16="http://schemas.microsoft.com/office/drawing/2014/main" id="{FB39715F-1175-7172-A436-1CE29EB68B96}"/>
              </a:ext>
            </a:extLst>
          </p:cNvPr>
          <p:cNvCxnSpPr>
            <a:cxnSpLocks/>
          </p:cNvCxnSpPr>
          <p:nvPr/>
        </p:nvCxnSpPr>
        <p:spPr>
          <a:xfrm flipH="1">
            <a:off x="4265341" y="1041654"/>
            <a:ext cx="920898" cy="0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テキスト ボックス 1034">
            <a:extLst>
              <a:ext uri="{FF2B5EF4-FFF2-40B4-BE49-F238E27FC236}">
                <a16:creationId xmlns:a16="http://schemas.microsoft.com/office/drawing/2014/main" id="{829217D8-CC4F-B17D-D1CE-07157185EB7D}"/>
              </a:ext>
            </a:extLst>
          </p:cNvPr>
          <p:cNvSpPr txBox="1"/>
          <p:nvPr/>
        </p:nvSpPr>
        <p:spPr>
          <a:xfrm>
            <a:off x="8201497" y="789313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rgbClr val="C00000"/>
                </a:solidFill>
              </a:rPr>
              <a:t>社内ネットワーク</a:t>
            </a:r>
          </a:p>
        </p:txBody>
      </p:sp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A6F3FD52-7C87-AA35-D6EA-3AE98170547A}"/>
              </a:ext>
            </a:extLst>
          </p:cNvPr>
          <p:cNvSpPr txBox="1"/>
          <p:nvPr/>
        </p:nvSpPr>
        <p:spPr>
          <a:xfrm>
            <a:off x="4265341" y="800002"/>
            <a:ext cx="11845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" dirty="0">
                <a:solidFill>
                  <a:schemeClr val="accent5">
                    <a:lumMod val="75000"/>
                  </a:schemeClr>
                </a:solidFill>
              </a:rPr>
              <a:t>設備ネットワーク</a:t>
            </a:r>
          </a:p>
        </p:txBody>
      </p:sp>
    </p:spTree>
    <p:extLst>
      <p:ext uri="{BB962C8B-B14F-4D97-AF65-F5344CB8AC3E}">
        <p14:creationId xmlns:p14="http://schemas.microsoft.com/office/powerpoint/2010/main" val="1198485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83C9937-B66E-B901-2DC0-D52FF6C74FB0}"/>
              </a:ext>
            </a:extLst>
          </p:cNvPr>
          <p:cNvSpPr/>
          <p:nvPr/>
        </p:nvSpPr>
        <p:spPr>
          <a:xfrm>
            <a:off x="971049" y="4376365"/>
            <a:ext cx="10544848" cy="224087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8EAF22-1623-F358-2CAA-86E4C59E26B1}"/>
              </a:ext>
            </a:extLst>
          </p:cNvPr>
          <p:cNvSpPr/>
          <p:nvPr/>
        </p:nvSpPr>
        <p:spPr>
          <a:xfrm>
            <a:off x="954423" y="655660"/>
            <a:ext cx="10565477" cy="310065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65000"/>
                  <a:shade val="30000"/>
                  <a:satMod val="115000"/>
                </a:schemeClr>
              </a:gs>
              <a:gs pos="50000">
                <a:schemeClr val="bg1">
                  <a:lumMod val="65000"/>
                  <a:shade val="67500"/>
                  <a:satMod val="115000"/>
                </a:schemeClr>
              </a:gs>
              <a:gs pos="100000">
                <a:schemeClr val="bg1">
                  <a:lumMod val="6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36A4AA7-613D-5CE4-D5E7-8E99D54796FA}"/>
              </a:ext>
            </a:extLst>
          </p:cNvPr>
          <p:cNvSpPr/>
          <p:nvPr/>
        </p:nvSpPr>
        <p:spPr>
          <a:xfrm>
            <a:off x="847897" y="4272026"/>
            <a:ext cx="10565477" cy="2223120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E3D1085-5286-18D9-5F56-1504E19B7E09}"/>
              </a:ext>
            </a:extLst>
          </p:cNvPr>
          <p:cNvSpPr/>
          <p:nvPr/>
        </p:nvSpPr>
        <p:spPr>
          <a:xfrm>
            <a:off x="4234296" y="4738639"/>
            <a:ext cx="4659234" cy="139278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A1F5462-76D7-182A-D998-0A7749C78703}"/>
              </a:ext>
            </a:extLst>
          </p:cNvPr>
          <p:cNvSpPr txBox="1"/>
          <p:nvPr/>
        </p:nvSpPr>
        <p:spPr>
          <a:xfrm>
            <a:off x="739832" y="224135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WEEKLY OPERATING TIME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週間稼働時間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888854E-0E3E-785E-6C9E-0C3BA9BECC4E}"/>
              </a:ext>
            </a:extLst>
          </p:cNvPr>
          <p:cNvSpPr/>
          <p:nvPr/>
        </p:nvSpPr>
        <p:spPr>
          <a:xfrm>
            <a:off x="847897" y="540323"/>
            <a:ext cx="10565477" cy="3100651"/>
          </a:xfrm>
          <a:prstGeom prst="rect">
            <a:avLst/>
          </a:prstGeom>
          <a:solidFill>
            <a:schemeClr val="bg1"/>
          </a:solidFill>
          <a:ln w="381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5DE211-0137-2F11-D1B1-1A1AD4B0B1A9}"/>
              </a:ext>
            </a:extLst>
          </p:cNvPr>
          <p:cNvSpPr/>
          <p:nvPr/>
        </p:nvSpPr>
        <p:spPr>
          <a:xfrm>
            <a:off x="2519888" y="890995"/>
            <a:ext cx="3412682" cy="103795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B6F1729-F60B-DFE1-C2B7-EF1211B31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84" y="1086253"/>
            <a:ext cx="1445115" cy="14106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C2E2519-420E-FC5E-C2FB-36FDF2F96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54" y="1111097"/>
            <a:ext cx="962181" cy="125823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46298EC-F017-CF51-6037-5F9F9D5BC59D}"/>
              </a:ext>
            </a:extLst>
          </p:cNvPr>
          <p:cNvSpPr/>
          <p:nvPr/>
        </p:nvSpPr>
        <p:spPr>
          <a:xfrm>
            <a:off x="5932569" y="890995"/>
            <a:ext cx="3785007" cy="103795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ABDF172-C200-A69A-705D-83E2476078B6}"/>
              </a:ext>
            </a:extLst>
          </p:cNvPr>
          <p:cNvSpPr txBox="1"/>
          <p:nvPr/>
        </p:nvSpPr>
        <p:spPr>
          <a:xfrm>
            <a:off x="2513586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r>
              <a:rPr lang="en-US" altLang="ja-JP" b="1" dirty="0">
                <a:solidFill>
                  <a:schemeClr val="bg1"/>
                </a:solidFill>
              </a:rPr>
              <a:t>46 %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471D7B-17E3-5B65-F805-7D5FAF046058}"/>
              </a:ext>
            </a:extLst>
          </p:cNvPr>
          <p:cNvSpPr txBox="1"/>
          <p:nvPr/>
        </p:nvSpPr>
        <p:spPr>
          <a:xfrm>
            <a:off x="1006948" y="2463863"/>
            <a:ext cx="134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DAY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A768F3-80E7-5017-B57A-E676FA3BA045}"/>
              </a:ext>
            </a:extLst>
          </p:cNvPr>
          <p:cNvSpPr txBox="1"/>
          <p:nvPr/>
        </p:nvSpPr>
        <p:spPr>
          <a:xfrm>
            <a:off x="8092900" y="1086804"/>
            <a:ext cx="1624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 b="1" dirty="0">
                <a:solidFill>
                  <a:schemeClr val="bg1"/>
                </a:solidFill>
              </a:rPr>
              <a:t>22,305 min</a:t>
            </a:r>
          </a:p>
          <a:p>
            <a:pPr algn="r"/>
            <a:r>
              <a:rPr lang="en-US" altLang="ja-JP" b="1" dirty="0">
                <a:solidFill>
                  <a:schemeClr val="bg1"/>
                </a:solidFill>
              </a:rPr>
              <a:t>54 %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045F0D5-8FDD-7BC7-B1EF-ADAFF019C852}"/>
              </a:ext>
            </a:extLst>
          </p:cNvPr>
          <p:cNvSpPr txBox="1"/>
          <p:nvPr/>
        </p:nvSpPr>
        <p:spPr>
          <a:xfrm>
            <a:off x="9823889" y="2443016"/>
            <a:ext cx="148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NIGHT SHIFT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9CCB2A98-0A03-F8C6-B05D-9681F29C6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758858"/>
              </p:ext>
            </p:extLst>
          </p:nvPr>
        </p:nvGraphicFramePr>
        <p:xfrm>
          <a:off x="2536954" y="2301310"/>
          <a:ext cx="7203987" cy="942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029141">
                  <a:extLst>
                    <a:ext uri="{9D8B030D-6E8A-4147-A177-3AD203B41FA5}">
                      <a16:colId xmlns:a16="http://schemas.microsoft.com/office/drawing/2014/main" val="3542659806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1994325327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3844872914"/>
                    </a:ext>
                  </a:extLst>
                </a:gridCol>
                <a:gridCol w="1029141">
                  <a:extLst>
                    <a:ext uri="{9D8B030D-6E8A-4147-A177-3AD203B41FA5}">
                      <a16:colId xmlns:a16="http://schemas.microsoft.com/office/drawing/2014/main" val="2254263030"/>
                    </a:ext>
                  </a:extLst>
                </a:gridCol>
              </a:tblGrid>
              <a:tr h="31412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Mon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Tue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Wed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Thu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Fri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Sat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DAY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454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407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470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  <a:tr h="31412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1" dirty="0">
                          <a:solidFill>
                            <a:schemeClr val="bg1"/>
                          </a:solidFill>
                        </a:rPr>
                        <a:t>NIGHT</a:t>
                      </a:r>
                      <a:endParaRPr kumimoji="1" lang="ja-JP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430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442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156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/>
                        <a:t>0</a:t>
                      </a:r>
                      <a:endParaRPr kumimoji="1" lang="ja-JP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2191600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F404D1E-9412-E6A2-C6C6-7B3AB6C580B2}"/>
              </a:ext>
            </a:extLst>
          </p:cNvPr>
          <p:cNvSpPr/>
          <p:nvPr/>
        </p:nvSpPr>
        <p:spPr>
          <a:xfrm>
            <a:off x="5669279" y="2928525"/>
            <a:ext cx="980902" cy="31514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B6EAC6A-A5AE-9F09-9064-10E8BE611AA8}"/>
              </a:ext>
            </a:extLst>
          </p:cNvPr>
          <p:cNvSpPr txBox="1"/>
          <p:nvPr/>
        </p:nvSpPr>
        <p:spPr>
          <a:xfrm>
            <a:off x="778626" y="3890800"/>
            <a:ext cx="64626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TODAY’S PRODUCTION </a:t>
            </a:r>
            <a:r>
              <a:rPr lang="ja-JP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本日の生産状況</a:t>
            </a:r>
            <a:endParaRPr kumimoji="1" lang="ja-JP" alt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8B3D841-63BD-1C36-165A-FA3DA0E2D7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068392"/>
              </p:ext>
            </p:extLst>
          </p:nvPr>
        </p:nvGraphicFramePr>
        <p:xfrm>
          <a:off x="1018138" y="4739331"/>
          <a:ext cx="2806284" cy="139278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5428">
                  <a:extLst>
                    <a:ext uri="{9D8B030D-6E8A-4147-A177-3AD203B41FA5}">
                      <a16:colId xmlns:a16="http://schemas.microsoft.com/office/drawing/2014/main" val="188364501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3123303698"/>
                    </a:ext>
                  </a:extLst>
                </a:gridCol>
                <a:gridCol w="935428">
                  <a:extLst>
                    <a:ext uri="{9D8B030D-6E8A-4147-A177-3AD203B41FA5}">
                      <a16:colId xmlns:a16="http://schemas.microsoft.com/office/drawing/2014/main" val="1716167615"/>
                    </a:ext>
                  </a:extLst>
                </a:gridCol>
              </a:tblGrid>
              <a:tr h="58635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実  績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目  標</a:t>
                      </a:r>
                      <a:endParaRPr kumimoji="1" lang="en-US" altLang="ja-JP" sz="1400" dirty="0"/>
                    </a:p>
                    <a:p>
                      <a:pPr algn="ctr"/>
                      <a:r>
                        <a:rPr kumimoji="1" lang="ja-JP" altLang="en-US" sz="1400" dirty="0"/>
                        <a:t>ロット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/>
                        <a:t>達成率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24192"/>
                  </a:ext>
                </a:extLst>
              </a:tr>
              <a:tr h="8064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50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65</a:t>
                      </a:r>
                      <a:endParaRPr kumimoji="1" lang="ja-JP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/>
                        <a:t>85%</a:t>
                      </a:r>
                      <a:endParaRPr kumimoji="1" lang="ja-JP" alt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181801"/>
                  </a:ext>
                </a:extLst>
              </a:tr>
            </a:tbl>
          </a:graphicData>
        </a:graphic>
      </p:graphicFrame>
      <p:pic>
        <p:nvPicPr>
          <p:cNvPr id="20" name="図 19" descr="花、植物、木、育つ、成長、エコロジー、自然、枝、満開、イメージ、屋外、白バック、花盛り - イラスト作品紹介 | イラスト ＆写真のストックフォトwaha（ワーハ）">
            <a:extLst>
              <a:ext uri="{FF2B5EF4-FFF2-40B4-BE49-F238E27FC236}">
                <a16:creationId xmlns:a16="http://schemas.microsoft.com/office/drawing/2014/main" id="{B12764AE-00F9-260A-C8E0-39371F45AB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09"/>
          <a:stretch>
            <a:fillRect/>
          </a:stretch>
        </p:blipFill>
        <p:spPr>
          <a:xfrm>
            <a:off x="9849277" y="4357481"/>
            <a:ext cx="1432394" cy="2022090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C28A90C-E78E-F694-E9B2-31CF96BCF230}"/>
              </a:ext>
            </a:extLst>
          </p:cNvPr>
          <p:cNvSpPr/>
          <p:nvPr/>
        </p:nvSpPr>
        <p:spPr>
          <a:xfrm>
            <a:off x="4226229" y="4740067"/>
            <a:ext cx="5258593" cy="1391356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A98BA035-FCD3-4C1B-5983-7D97005EED64}"/>
              </a:ext>
            </a:extLst>
          </p:cNvPr>
          <p:cNvCxnSpPr>
            <a:cxnSpLocks/>
          </p:cNvCxnSpPr>
          <p:nvPr/>
        </p:nvCxnSpPr>
        <p:spPr>
          <a:xfrm>
            <a:off x="6905158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5A1B9551-DFD0-3479-9F98-502500C83DF4}"/>
              </a:ext>
            </a:extLst>
          </p:cNvPr>
          <p:cNvCxnSpPr>
            <a:cxnSpLocks/>
          </p:cNvCxnSpPr>
          <p:nvPr/>
        </p:nvCxnSpPr>
        <p:spPr>
          <a:xfrm>
            <a:off x="5583435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FC06633C-B0F5-C9CC-4E4C-E4F52BA20D58}"/>
              </a:ext>
            </a:extLst>
          </p:cNvPr>
          <p:cNvCxnSpPr>
            <a:cxnSpLocks/>
          </p:cNvCxnSpPr>
          <p:nvPr/>
        </p:nvCxnSpPr>
        <p:spPr>
          <a:xfrm>
            <a:off x="8285071" y="4738639"/>
            <a:ext cx="0" cy="1392783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3FCF835-A8BE-F5DF-597D-C87AD1EBCF8C}"/>
              </a:ext>
            </a:extLst>
          </p:cNvPr>
          <p:cNvSpPr txBox="1"/>
          <p:nvPr/>
        </p:nvSpPr>
        <p:spPr>
          <a:xfrm>
            <a:off x="5286843" y="4470554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25%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8EAD41C-2793-E747-3EA4-EA3CA0D3644C}"/>
              </a:ext>
            </a:extLst>
          </p:cNvPr>
          <p:cNvSpPr txBox="1"/>
          <p:nvPr/>
        </p:nvSpPr>
        <p:spPr>
          <a:xfrm>
            <a:off x="3921295" y="4470555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F3539A-4A4A-D0ED-D9EE-258E5C40DDE2}"/>
              </a:ext>
            </a:extLst>
          </p:cNvPr>
          <p:cNvSpPr txBox="1"/>
          <p:nvPr/>
        </p:nvSpPr>
        <p:spPr>
          <a:xfrm>
            <a:off x="7974570" y="4470553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75%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A9ABF82-478C-1AF0-3186-8B668CFD6F67}"/>
              </a:ext>
            </a:extLst>
          </p:cNvPr>
          <p:cNvSpPr txBox="1"/>
          <p:nvPr/>
        </p:nvSpPr>
        <p:spPr>
          <a:xfrm>
            <a:off x="6602513" y="4461839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50%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10EBBCC-713B-1570-57EB-5A43E34264D5}"/>
              </a:ext>
            </a:extLst>
          </p:cNvPr>
          <p:cNvSpPr txBox="1"/>
          <p:nvPr/>
        </p:nvSpPr>
        <p:spPr>
          <a:xfrm>
            <a:off x="9133209" y="4476768"/>
            <a:ext cx="70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b="1" dirty="0">
                <a:solidFill>
                  <a:schemeClr val="bg2">
                    <a:lumMod val="50000"/>
                  </a:schemeClr>
                </a:solidFill>
              </a:rPr>
              <a:t>100%</a:t>
            </a:r>
            <a:endParaRPr kumimoji="1" lang="ja-JP" alt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288B3DB-9BC9-1FC6-42C8-70CCDF749A67}"/>
              </a:ext>
            </a:extLst>
          </p:cNvPr>
          <p:cNvSpPr txBox="1"/>
          <p:nvPr/>
        </p:nvSpPr>
        <p:spPr>
          <a:xfrm>
            <a:off x="9740941" y="128313"/>
            <a:ext cx="233400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LAST UPDATE: 2026-08-31 15:21 </a:t>
            </a:r>
            <a:endParaRPr kumimoji="1" lang="ja-JP" altLang="en-US" sz="105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12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299</Words>
  <Application>Microsoft Office PowerPoint</Application>
  <PresentationFormat>ワイド画面</PresentationFormat>
  <Paragraphs>95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FUMIHIRO MASE</dc:creator>
  <cp:lastModifiedBy>FUMIHIRO MASE</cp:lastModifiedBy>
  <cp:revision>5</cp:revision>
  <dcterms:created xsi:type="dcterms:W3CDTF">2026-05-11T14:31:53Z</dcterms:created>
  <dcterms:modified xsi:type="dcterms:W3CDTF">2026-08-30T01:21:31Z</dcterms:modified>
</cp:coreProperties>
</file>