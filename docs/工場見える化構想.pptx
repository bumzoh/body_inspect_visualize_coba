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050"/>
    <a:srgbClr val="A500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淡色スタイル 2 - アクセント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69" autoAdjust="0"/>
    <p:restoredTop sz="86525" autoAdjust="0"/>
  </p:normalViewPr>
  <p:slideViewPr>
    <p:cSldViewPr snapToGrid="0">
      <p:cViewPr>
        <p:scale>
          <a:sx n="100" d="100"/>
          <a:sy n="100" d="100"/>
        </p:scale>
        <p:origin x="1080" y="-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8032D9-50E7-4552-AF78-A4AF4DDE4D9C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252D0F-376C-4D15-BC42-A6A8877BE8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56573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 dirty="0"/>
              <a:t>【</a:t>
            </a:r>
            <a:r>
              <a:rPr kumimoji="1" lang="ja-JP" altLang="en-US" dirty="0"/>
              <a:t>稼働時間</a:t>
            </a:r>
            <a:r>
              <a:rPr kumimoji="1" lang="en-US" altLang="ja-JP" dirty="0"/>
              <a:t>】</a:t>
            </a:r>
          </a:p>
          <a:p>
            <a:r>
              <a:rPr kumimoji="1" lang="ja-JP" altLang="en-US" dirty="0"/>
              <a:t>・昼勤は前営業日の夜勤と競う（月曜日昼勤は前の週の金曜夜勤が相手）</a:t>
            </a:r>
            <a:endParaRPr kumimoji="1" lang="en-US" altLang="ja-JP" dirty="0"/>
          </a:p>
          <a:p>
            <a:r>
              <a:rPr kumimoji="1" lang="ja-JP" altLang="en-US" dirty="0"/>
              <a:t>・メンバー写真は下のドロップダウンメニューから手動で選択する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【</a:t>
            </a:r>
            <a:r>
              <a:rPr kumimoji="1" lang="ja-JP" altLang="en-US" dirty="0"/>
              <a:t>本日の稼働状況</a:t>
            </a:r>
            <a:r>
              <a:rPr kumimoji="1" lang="en-US" altLang="ja-JP" dirty="0"/>
              <a:t>】</a:t>
            </a:r>
          </a:p>
          <a:p>
            <a:r>
              <a:rPr kumimoji="1" lang="ja-JP" altLang="en-US" dirty="0"/>
              <a:t>・生産達成率に応じてグラフ色変更 </a:t>
            </a:r>
            <a:r>
              <a:rPr kumimoji="1" lang="en-US" altLang="ja-JP" dirty="0"/>
              <a:t>(25%</a:t>
            </a:r>
            <a:r>
              <a:rPr kumimoji="1" lang="ja-JP" altLang="en-US" dirty="0"/>
              <a:t>以下</a:t>
            </a:r>
            <a:r>
              <a:rPr kumimoji="1" lang="en-US" altLang="ja-JP" dirty="0"/>
              <a:t>=</a:t>
            </a:r>
            <a:r>
              <a:rPr kumimoji="1" lang="ja-JP" altLang="en-US" dirty="0"/>
              <a:t>ピンク、</a:t>
            </a:r>
            <a:r>
              <a:rPr kumimoji="1" lang="en-US" altLang="ja-JP" dirty="0"/>
              <a:t>50</a:t>
            </a:r>
            <a:r>
              <a:rPr kumimoji="1" lang="ja-JP" altLang="en-US" dirty="0"/>
              <a:t>％以下＝オレンジ、</a:t>
            </a:r>
            <a:r>
              <a:rPr kumimoji="1" lang="en-US" altLang="ja-JP" dirty="0"/>
              <a:t>75</a:t>
            </a:r>
            <a:r>
              <a:rPr kumimoji="1" lang="ja-JP" altLang="en-US" dirty="0"/>
              <a:t>％以下＝黄色、</a:t>
            </a:r>
            <a:r>
              <a:rPr kumimoji="1" lang="en-US" altLang="ja-JP" dirty="0"/>
              <a:t>100</a:t>
            </a:r>
            <a:r>
              <a:rPr kumimoji="1" lang="ja-JP" altLang="en-US" dirty="0"/>
              <a:t>％以下＝黄緑、</a:t>
            </a:r>
            <a:r>
              <a:rPr kumimoji="1" lang="en-US" altLang="ja-JP" dirty="0"/>
              <a:t>101</a:t>
            </a:r>
            <a:r>
              <a:rPr kumimoji="1" lang="ja-JP" altLang="en-US" dirty="0"/>
              <a:t>以上＝水色）</a:t>
            </a:r>
            <a:endParaRPr kumimoji="1" lang="en-US" altLang="ja-JP" dirty="0"/>
          </a:p>
          <a:p>
            <a:r>
              <a:rPr kumimoji="1" lang="ja-JP" altLang="en-US" dirty="0"/>
              <a:t>・当日の目標生産数は手入力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A22420-C0FF-4625-9830-0338D4E38C42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91251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418C27-436E-72A3-EA37-52E7435400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9F0F752-48DB-015B-EBA7-DCB7354E28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DE877B3-5F1B-2D43-42BA-0AC5861687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748F96C-030B-3368-EACF-5E4DB6CCF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915DDD4-40CF-9BD8-1025-C7A7DBB6F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0921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B9A143-6DC4-C42F-588B-DC824B62B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7116EF6-366A-062F-D8FF-6590C9FD3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2CEEDF-33A4-BC43-B478-799842D2F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527DBEB-2FA3-4C4E-8FBA-A63ADDBC6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D53ACC5-F206-A4D5-4E1F-D06D8C354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4236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840CEE-9D5A-20EA-0A1C-16D61BD41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471C42-51E4-0C9D-F122-6D7EE1A603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A52692D-41A4-1E0C-A878-0F0770CE9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01B3D4A-EF39-3429-C317-F3402E27C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013BD5-A194-1259-DB95-6436755A1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12810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6F3C9F-4EF7-4666-A9BB-34137120D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EC03F27-67B1-CC8B-BD98-5567A1CC8C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E883367-026B-F70A-31DF-B21625ECC5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B087740-E3DE-15D3-A500-AFA805B4A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48B9EA0-E14C-539F-9798-A131DB3FB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0855FF-7F95-4888-8939-774E4191B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95399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8972DF-3814-3C00-20C8-60EDB92D7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F7BBF45-9821-BCA3-4984-0FE78129AA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10F33A8-568A-32B9-698F-8FF1926FF5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60E135F-4B2B-C7EE-A9AC-D74BA1648C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27D9269-EC9A-22C9-0CBE-1A2D131F82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1731B05-4437-2134-A56D-A98F88BAA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ECC62B8-F9B9-8C91-40E2-66D29147C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507AAE1-EF41-FD3B-846C-B6F4BAF6C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4829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009E9D-BF08-DEF7-62CE-D8F4BD242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1C9848F-F3DC-F5F5-203F-7827D4B29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FBA1FA8-FCDD-8C1E-547F-A64D712CC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6A1D21B-F2F6-48CF-CEE1-D4E8F9D12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3975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7507665-207C-9ECE-A2AF-295D6591F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F9279DB-D7E6-A117-8127-F5A00C5A9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3E1960F-2F9E-AB88-0722-029D47E37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3767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A2E4A6-653A-6C5C-DDCC-C7216AE96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5291E47-8FAB-756C-4E0A-E2493B5D54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451B34C-FEA6-11FB-443E-181BBAEB8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0E90CC9-30DE-D395-0FD2-29757C183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1574723-344D-18EF-F61E-CB6326C88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6FE0987-411A-6054-5FBA-2D3532294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2933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63B046-3494-BF50-4DF0-A18367D14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0881187-89EF-BAD2-F5D4-B1F60B748B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D075AA9-06D1-2BBC-D801-FE11D5E53C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1589B0C-D057-B0C0-8EDB-2E14A509B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E59AA2C-6AA2-35C4-9FFE-FD4AF155C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224C342-E2E6-1D5B-1F00-F57B96CF2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045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DD7AE0-9F27-C0AA-58F5-F8BB96605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1F8D3A7-4A15-4F78-1031-60D37E46AE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E0075F1-8F60-B0C9-1341-8A9E82B67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17821C5-5B7A-6ADE-B570-1DE8AD66B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BA30A8-3143-E844-60A2-B47239CDD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65070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1A36A95-52F4-396C-28CA-C2260ED9FB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B0934DB-FA61-E8C3-533B-FB724C99E2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F705A53-6FA4-DFA0-6B94-5859A3F65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D9E8866-AB38-A732-13B9-4B57F8DBC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FCADA84-7529-CA5B-0786-1D35A7A8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75433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9A768D9-DADE-633A-B2A3-1166B17A1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F9BD333-8F8A-CEAD-0182-57DD2DB857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2B70B7-1362-24D0-A56D-F64161E959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165FF4-FB7B-4546-AEDF-E8D6362B3E6C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B9D8B0-C06C-FDEC-6415-012AAD968A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5EA9C4D-B68C-732D-8848-6CC60E1647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2900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jpe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0AFFAD9-D5AE-80FF-4E7C-F2629EF0C335}"/>
              </a:ext>
            </a:extLst>
          </p:cNvPr>
          <p:cNvSpPr/>
          <p:nvPr/>
        </p:nvSpPr>
        <p:spPr>
          <a:xfrm>
            <a:off x="739139" y="1410567"/>
            <a:ext cx="2503747" cy="1239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E82F8A7-0E58-9E8B-4D25-C0B974DD2ACE}"/>
              </a:ext>
            </a:extLst>
          </p:cNvPr>
          <p:cNvSpPr txBox="1"/>
          <p:nvPr/>
        </p:nvSpPr>
        <p:spPr>
          <a:xfrm>
            <a:off x="669174" y="1179645"/>
            <a:ext cx="15386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PLC(KV</a:t>
            </a:r>
            <a:r>
              <a:rPr kumimoji="1" lang="ja-JP" altLang="en-US" sz="1200" dirty="0"/>
              <a:t>シリーズ</a:t>
            </a:r>
            <a:r>
              <a:rPr kumimoji="1" lang="en-US" altLang="ja-JP" sz="1200" dirty="0"/>
              <a:t>)</a:t>
            </a:r>
            <a:endParaRPr kumimoji="1" lang="ja-JP" altLang="en-US" sz="1200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FF65BA4-97EF-00A2-069F-B31B4BC94704}"/>
              </a:ext>
            </a:extLst>
          </p:cNvPr>
          <p:cNvSpPr/>
          <p:nvPr/>
        </p:nvSpPr>
        <p:spPr>
          <a:xfrm>
            <a:off x="1596839" y="1655814"/>
            <a:ext cx="1463559" cy="854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四角形: 1 つの角を切り取る 6">
            <a:extLst>
              <a:ext uri="{FF2B5EF4-FFF2-40B4-BE49-F238E27FC236}">
                <a16:creationId xmlns:a16="http://schemas.microsoft.com/office/drawing/2014/main" id="{3EBDB43C-7BB7-269B-6A2A-F3DB04E2F40B}"/>
              </a:ext>
            </a:extLst>
          </p:cNvPr>
          <p:cNvSpPr/>
          <p:nvPr/>
        </p:nvSpPr>
        <p:spPr>
          <a:xfrm>
            <a:off x="1768747" y="1778168"/>
            <a:ext cx="1150620" cy="265493"/>
          </a:xfrm>
          <a:prstGeom prst="snip1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</a:rPr>
              <a:t>稼働データ</a:t>
            </a:r>
            <a:r>
              <a:rPr kumimoji="1" lang="en-US" altLang="ja-JP" sz="800" dirty="0">
                <a:solidFill>
                  <a:schemeClr val="tx1"/>
                </a:solidFill>
              </a:rPr>
              <a:t>.CSV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8B9DAEF-B369-3D21-9F3E-ADE6BE21EEE1}"/>
              </a:ext>
            </a:extLst>
          </p:cNvPr>
          <p:cNvSpPr/>
          <p:nvPr/>
        </p:nvSpPr>
        <p:spPr>
          <a:xfrm>
            <a:off x="837825" y="1655815"/>
            <a:ext cx="660170" cy="854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E470E3D-9787-23E8-F5E9-114C13F7C913}"/>
              </a:ext>
            </a:extLst>
          </p:cNvPr>
          <p:cNvSpPr txBox="1"/>
          <p:nvPr/>
        </p:nvSpPr>
        <p:spPr>
          <a:xfrm>
            <a:off x="790517" y="1470972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dirty="0"/>
              <a:t>内部メモリ</a:t>
            </a:r>
            <a:endParaRPr kumimoji="1" lang="ja-JP" altLang="en-US" sz="8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4D57D23-CDB6-EAFD-69AF-FFDD306A5C3C}"/>
              </a:ext>
            </a:extLst>
          </p:cNvPr>
          <p:cNvSpPr txBox="1"/>
          <p:nvPr/>
        </p:nvSpPr>
        <p:spPr>
          <a:xfrm>
            <a:off x="1496421" y="1479862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800" dirty="0"/>
              <a:t>SD</a:t>
            </a:r>
            <a:r>
              <a:rPr lang="ja-JP" altLang="en-US" sz="800" dirty="0"/>
              <a:t>カード</a:t>
            </a:r>
            <a:endParaRPr kumimoji="1" lang="ja-JP" altLang="en-US" sz="800" dirty="0"/>
          </a:p>
        </p:txBody>
      </p:sp>
      <p:sp>
        <p:nvSpPr>
          <p:cNvPr id="11" name="四角形: 1 つの角を切り取る 10">
            <a:extLst>
              <a:ext uri="{FF2B5EF4-FFF2-40B4-BE49-F238E27FC236}">
                <a16:creationId xmlns:a16="http://schemas.microsoft.com/office/drawing/2014/main" id="{1118C512-1894-13D9-1DD8-7F8ED16F4B7F}"/>
              </a:ext>
            </a:extLst>
          </p:cNvPr>
          <p:cNvSpPr/>
          <p:nvPr/>
        </p:nvSpPr>
        <p:spPr>
          <a:xfrm>
            <a:off x="1768747" y="2102787"/>
            <a:ext cx="1150620" cy="265493"/>
          </a:xfrm>
          <a:prstGeom prst="snip1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</a:rPr>
              <a:t>GT2</a:t>
            </a:r>
            <a:r>
              <a:rPr kumimoji="1" lang="ja-JP" altLang="en-US" sz="800" dirty="0">
                <a:solidFill>
                  <a:schemeClr val="tx1"/>
                </a:solidFill>
              </a:rPr>
              <a:t>測定データ</a:t>
            </a:r>
            <a:r>
              <a:rPr lang="en-US" altLang="ja-JP" sz="800" dirty="0">
                <a:solidFill>
                  <a:schemeClr val="tx1"/>
                </a:solidFill>
              </a:rPr>
              <a:t>.CSV</a:t>
            </a:r>
            <a:endParaRPr kumimoji="1" lang="en-US" altLang="ja-JP" sz="800" dirty="0">
              <a:solidFill>
                <a:schemeClr val="tx1"/>
              </a:solidFill>
            </a:endParaRPr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0A8FE9A6-A74C-9A58-DBD7-66172E182D1E}"/>
              </a:ext>
            </a:extLst>
          </p:cNvPr>
          <p:cNvSpPr/>
          <p:nvPr/>
        </p:nvSpPr>
        <p:spPr>
          <a:xfrm>
            <a:off x="1394742" y="1952221"/>
            <a:ext cx="282633" cy="182880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3FEC737-5A96-39C4-7549-89A4432623EC}"/>
              </a:ext>
            </a:extLst>
          </p:cNvPr>
          <p:cNvSpPr/>
          <p:nvPr/>
        </p:nvSpPr>
        <p:spPr>
          <a:xfrm>
            <a:off x="739139" y="3312942"/>
            <a:ext cx="2503747" cy="9062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38773A7-F705-A26F-9BA1-FB1EA7D5AC4C}"/>
              </a:ext>
            </a:extLst>
          </p:cNvPr>
          <p:cNvSpPr txBox="1"/>
          <p:nvPr/>
        </p:nvSpPr>
        <p:spPr>
          <a:xfrm>
            <a:off x="669174" y="3082020"/>
            <a:ext cx="22054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/>
              <a:t>タッチパネル</a:t>
            </a:r>
            <a:r>
              <a:rPr kumimoji="1" lang="en-US" altLang="ja-JP" sz="1200" dirty="0"/>
              <a:t>(VT</a:t>
            </a:r>
            <a:r>
              <a:rPr kumimoji="1" lang="ja-JP" altLang="en-US" sz="1200" dirty="0"/>
              <a:t>シリーズ</a:t>
            </a:r>
            <a:r>
              <a:rPr kumimoji="1" lang="en-US" altLang="ja-JP" sz="1200" dirty="0"/>
              <a:t>)</a:t>
            </a:r>
            <a:endParaRPr kumimoji="1" lang="ja-JP" altLang="en-US" sz="1200" dirty="0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988D3A15-1B75-BCA9-C852-2B967CB470F2}"/>
              </a:ext>
            </a:extLst>
          </p:cNvPr>
          <p:cNvSpPr/>
          <p:nvPr/>
        </p:nvSpPr>
        <p:spPr>
          <a:xfrm>
            <a:off x="1596839" y="3558189"/>
            <a:ext cx="1463559" cy="514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6" name="四角形: 1 つの角を切り取る 15">
            <a:extLst>
              <a:ext uri="{FF2B5EF4-FFF2-40B4-BE49-F238E27FC236}">
                <a16:creationId xmlns:a16="http://schemas.microsoft.com/office/drawing/2014/main" id="{3848EAC4-D212-B549-763C-45ED7D33EF43}"/>
              </a:ext>
            </a:extLst>
          </p:cNvPr>
          <p:cNvSpPr/>
          <p:nvPr/>
        </p:nvSpPr>
        <p:spPr>
          <a:xfrm>
            <a:off x="1768747" y="3680543"/>
            <a:ext cx="1150620" cy="265493"/>
          </a:xfrm>
          <a:prstGeom prst="snip1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</a:rPr>
              <a:t>アラーム履歴</a:t>
            </a:r>
            <a:r>
              <a:rPr kumimoji="1" lang="en-US" altLang="ja-JP" sz="800" dirty="0">
                <a:solidFill>
                  <a:schemeClr val="tx1"/>
                </a:solidFill>
              </a:rPr>
              <a:t>.CSV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7875974B-D680-58C1-B09E-48DE67E81B8F}"/>
              </a:ext>
            </a:extLst>
          </p:cNvPr>
          <p:cNvSpPr/>
          <p:nvPr/>
        </p:nvSpPr>
        <p:spPr>
          <a:xfrm>
            <a:off x="889361" y="3558190"/>
            <a:ext cx="608634" cy="514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51BC7E2-1DC4-CAAE-52F4-C91ACFE37211}"/>
              </a:ext>
            </a:extLst>
          </p:cNvPr>
          <p:cNvSpPr txBox="1"/>
          <p:nvPr/>
        </p:nvSpPr>
        <p:spPr>
          <a:xfrm>
            <a:off x="790517" y="3373347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dirty="0"/>
              <a:t>内部メモリ</a:t>
            </a:r>
            <a:endParaRPr kumimoji="1" lang="ja-JP" altLang="en-US" sz="8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098FF69-D2C2-E137-F7A7-92BDFF9415A1}"/>
              </a:ext>
            </a:extLst>
          </p:cNvPr>
          <p:cNvSpPr txBox="1"/>
          <p:nvPr/>
        </p:nvSpPr>
        <p:spPr>
          <a:xfrm>
            <a:off x="1496421" y="3382237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800" dirty="0"/>
              <a:t>SD</a:t>
            </a:r>
            <a:r>
              <a:rPr lang="ja-JP" altLang="en-US" sz="800" dirty="0"/>
              <a:t>カード</a:t>
            </a:r>
            <a:endParaRPr kumimoji="1" lang="ja-JP" altLang="en-US" sz="800" dirty="0"/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AC47CCE1-1C60-9B96-7014-BED67E1653FE}"/>
              </a:ext>
            </a:extLst>
          </p:cNvPr>
          <p:cNvSpPr/>
          <p:nvPr/>
        </p:nvSpPr>
        <p:spPr>
          <a:xfrm>
            <a:off x="1394742" y="3746646"/>
            <a:ext cx="282633" cy="182880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6798DCE1-C610-8507-813F-0BDBD5705985}"/>
              </a:ext>
            </a:extLst>
          </p:cNvPr>
          <p:cNvSpPr/>
          <p:nvPr/>
        </p:nvSpPr>
        <p:spPr>
          <a:xfrm>
            <a:off x="739139" y="4764381"/>
            <a:ext cx="2503747" cy="9062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03748793-B955-FA66-883E-DB83CD5EF480}"/>
              </a:ext>
            </a:extLst>
          </p:cNvPr>
          <p:cNvSpPr txBox="1"/>
          <p:nvPr/>
        </p:nvSpPr>
        <p:spPr>
          <a:xfrm>
            <a:off x="669174" y="4533459"/>
            <a:ext cx="23912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/>
              <a:t>画像コントローラ</a:t>
            </a:r>
            <a:r>
              <a:rPr kumimoji="1" lang="en-US" altLang="ja-JP" sz="1200" dirty="0"/>
              <a:t>(XG-X)</a:t>
            </a:r>
            <a:endParaRPr kumimoji="1" lang="ja-JP" altLang="en-US" sz="1200" dirty="0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6F47C72A-59E8-8E84-288E-CFFB0E84283C}"/>
              </a:ext>
            </a:extLst>
          </p:cNvPr>
          <p:cNvSpPr/>
          <p:nvPr/>
        </p:nvSpPr>
        <p:spPr>
          <a:xfrm>
            <a:off x="1596839" y="5009628"/>
            <a:ext cx="1463559" cy="514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5" name="四角形: 1 つの角を切り取る 24">
            <a:extLst>
              <a:ext uri="{FF2B5EF4-FFF2-40B4-BE49-F238E27FC236}">
                <a16:creationId xmlns:a16="http://schemas.microsoft.com/office/drawing/2014/main" id="{3F88DC94-353E-C268-33B7-9DC0B9A69D39}"/>
              </a:ext>
            </a:extLst>
          </p:cNvPr>
          <p:cNvSpPr/>
          <p:nvPr/>
        </p:nvSpPr>
        <p:spPr>
          <a:xfrm>
            <a:off x="1768747" y="5131982"/>
            <a:ext cx="1150620" cy="265493"/>
          </a:xfrm>
          <a:prstGeom prst="snip1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</a:rPr>
              <a:t>数値測定結果</a:t>
            </a:r>
            <a:r>
              <a:rPr kumimoji="1" lang="en-US" altLang="ja-JP" sz="800" dirty="0">
                <a:solidFill>
                  <a:schemeClr val="tx1"/>
                </a:solidFill>
              </a:rPr>
              <a:t>.CSV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9D63927A-2925-EECE-6BAF-7728961081C8}"/>
              </a:ext>
            </a:extLst>
          </p:cNvPr>
          <p:cNvSpPr/>
          <p:nvPr/>
        </p:nvSpPr>
        <p:spPr>
          <a:xfrm>
            <a:off x="889361" y="5009629"/>
            <a:ext cx="608634" cy="514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6941ED7C-5AFB-286C-4EE1-41D42943236F}"/>
              </a:ext>
            </a:extLst>
          </p:cNvPr>
          <p:cNvSpPr txBox="1"/>
          <p:nvPr/>
        </p:nvSpPr>
        <p:spPr>
          <a:xfrm>
            <a:off x="790517" y="4824786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dirty="0"/>
              <a:t>内部メモリ</a:t>
            </a:r>
            <a:endParaRPr kumimoji="1" lang="ja-JP" altLang="en-US" sz="800" dirty="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C4E8DFE-301A-997A-EF30-24C470DB76C5}"/>
              </a:ext>
            </a:extLst>
          </p:cNvPr>
          <p:cNvSpPr txBox="1"/>
          <p:nvPr/>
        </p:nvSpPr>
        <p:spPr>
          <a:xfrm>
            <a:off x="1496421" y="4833676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800" dirty="0"/>
              <a:t>SD</a:t>
            </a:r>
            <a:r>
              <a:rPr lang="ja-JP" altLang="en-US" sz="800" dirty="0"/>
              <a:t>カード</a:t>
            </a:r>
            <a:endParaRPr kumimoji="1" lang="ja-JP" altLang="en-US" sz="800" dirty="0"/>
          </a:p>
        </p:txBody>
      </p:sp>
      <p:sp>
        <p:nvSpPr>
          <p:cNvPr id="29" name="矢印: 右 28">
            <a:extLst>
              <a:ext uri="{FF2B5EF4-FFF2-40B4-BE49-F238E27FC236}">
                <a16:creationId xmlns:a16="http://schemas.microsoft.com/office/drawing/2014/main" id="{A88521F6-6FE0-95D5-1B9B-12DB2C39BCB0}"/>
              </a:ext>
            </a:extLst>
          </p:cNvPr>
          <p:cNvSpPr/>
          <p:nvPr/>
        </p:nvSpPr>
        <p:spPr>
          <a:xfrm>
            <a:off x="1394742" y="5198085"/>
            <a:ext cx="282633" cy="182880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73F55FB-EED8-AD8D-AD01-BD538DCD33BA}"/>
              </a:ext>
            </a:extLst>
          </p:cNvPr>
          <p:cNvSpPr txBox="1"/>
          <p:nvPr/>
        </p:nvSpPr>
        <p:spPr>
          <a:xfrm>
            <a:off x="739139" y="2641710"/>
            <a:ext cx="25037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稼働データは</a:t>
            </a:r>
            <a:r>
              <a:rPr kumimoji="1" lang="en-US" altLang="ja-JP" sz="800" dirty="0"/>
              <a:t>1</a:t>
            </a:r>
            <a:r>
              <a:rPr kumimoji="1" lang="ja-JP" altLang="en-US" sz="800" dirty="0"/>
              <a:t>日に</a:t>
            </a:r>
            <a:r>
              <a:rPr kumimoji="1" lang="en-US" altLang="ja-JP" sz="800" dirty="0"/>
              <a:t>1</a:t>
            </a:r>
            <a:r>
              <a:rPr kumimoji="1" lang="ja-JP" altLang="en-US" sz="800" dirty="0"/>
              <a:t>回自動出力</a:t>
            </a:r>
            <a:endParaRPr kumimoji="1" lang="en-US" altLang="ja-JP" sz="800" dirty="0"/>
          </a:p>
          <a:p>
            <a:r>
              <a:rPr lang="en-US" altLang="ja-JP" sz="800" dirty="0"/>
              <a:t>※</a:t>
            </a:r>
            <a:r>
              <a:rPr lang="ja-JP" altLang="en-US" sz="800" dirty="0"/>
              <a:t>測定データは固定数毎</a:t>
            </a:r>
            <a:r>
              <a:rPr lang="en-US" altLang="ja-JP" sz="800" dirty="0"/>
              <a:t>(</a:t>
            </a:r>
            <a:r>
              <a:rPr lang="ja-JP" altLang="en-US" sz="800" dirty="0"/>
              <a:t>例えば</a:t>
            </a:r>
            <a:r>
              <a:rPr lang="en-US" altLang="ja-JP" sz="800" dirty="0"/>
              <a:t>1000</a:t>
            </a:r>
            <a:r>
              <a:rPr lang="ja-JP" altLang="en-US" sz="800" dirty="0"/>
              <a:t>個毎</a:t>
            </a:r>
            <a:r>
              <a:rPr lang="en-US" altLang="ja-JP" sz="800" dirty="0"/>
              <a:t>)</a:t>
            </a:r>
            <a:endParaRPr kumimoji="1" lang="ja-JP" altLang="en-US" sz="800" dirty="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778971D-A49A-68E7-FF76-1AD95645D78D}"/>
              </a:ext>
            </a:extLst>
          </p:cNvPr>
          <p:cNvSpPr txBox="1"/>
          <p:nvPr/>
        </p:nvSpPr>
        <p:spPr>
          <a:xfrm>
            <a:off x="739138" y="4211400"/>
            <a:ext cx="25037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アラーム履歴は</a:t>
            </a:r>
            <a:r>
              <a:rPr kumimoji="1" lang="en-US" altLang="ja-JP" sz="800" dirty="0"/>
              <a:t>PC</a:t>
            </a:r>
            <a:r>
              <a:rPr kumimoji="1" lang="ja-JP" altLang="en-US" sz="800" dirty="0"/>
              <a:t>からの要求時に</a:t>
            </a:r>
            <a:r>
              <a:rPr kumimoji="1" lang="en-US" altLang="ja-JP" sz="800" dirty="0"/>
              <a:t>SD</a:t>
            </a:r>
            <a:r>
              <a:rPr kumimoji="1" lang="ja-JP" altLang="en-US" sz="800" dirty="0"/>
              <a:t>へ出力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7C85114-E6FD-DE97-4937-827673BC8FA2}"/>
              </a:ext>
            </a:extLst>
          </p:cNvPr>
          <p:cNvSpPr txBox="1"/>
          <p:nvPr/>
        </p:nvSpPr>
        <p:spPr>
          <a:xfrm>
            <a:off x="739138" y="5670664"/>
            <a:ext cx="25037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測定時に自動出力される</a:t>
            </a:r>
            <a:endParaRPr kumimoji="1" lang="en-US" altLang="ja-JP" sz="800" dirty="0"/>
          </a:p>
          <a:p>
            <a:r>
              <a:rPr lang="en-US" altLang="ja-JP" sz="800" dirty="0"/>
              <a:t>※</a:t>
            </a:r>
            <a:r>
              <a:rPr lang="ja-JP" altLang="en-US" sz="800" dirty="0"/>
              <a:t>最新ファイルは</a:t>
            </a:r>
            <a:r>
              <a:rPr lang="en-US" altLang="ja-JP" sz="800" dirty="0"/>
              <a:t>PC</a:t>
            </a:r>
            <a:r>
              <a:rPr lang="ja-JP" altLang="en-US" sz="800" dirty="0"/>
              <a:t>からアクセスしない</a:t>
            </a:r>
            <a:endParaRPr lang="en-US" altLang="ja-JP" sz="800" dirty="0"/>
          </a:p>
          <a:p>
            <a:r>
              <a:rPr kumimoji="1" lang="en-US" altLang="ja-JP" sz="800" dirty="0"/>
              <a:t>  </a:t>
            </a:r>
            <a:r>
              <a:rPr kumimoji="1" lang="ja-JP" altLang="en-US" sz="800" dirty="0"/>
              <a:t> </a:t>
            </a:r>
            <a:r>
              <a:rPr kumimoji="1" lang="en-US" altLang="ja-JP" sz="800" dirty="0"/>
              <a:t>(</a:t>
            </a:r>
            <a:r>
              <a:rPr kumimoji="1" lang="ja-JP" altLang="en-US" sz="800" dirty="0"/>
              <a:t>データが壊れる可能性があるため）</a:t>
            </a:r>
            <a:endParaRPr kumimoji="1" lang="en-US" altLang="ja-JP" sz="800" dirty="0"/>
          </a:p>
          <a:p>
            <a:r>
              <a:rPr lang="en-US" altLang="ja-JP" sz="800" dirty="0"/>
              <a:t>※</a:t>
            </a:r>
            <a:r>
              <a:rPr lang="ja-JP" altLang="en-US" sz="800" dirty="0"/>
              <a:t>画像データは巨大すぎるため対象外</a:t>
            </a:r>
            <a:endParaRPr lang="en-US" altLang="ja-JP" sz="800" dirty="0"/>
          </a:p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データ出力ユニットを利用する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1DE030D1-3C64-4465-0DEE-9F11F57BB44F}"/>
              </a:ext>
            </a:extLst>
          </p:cNvPr>
          <p:cNvSpPr/>
          <p:nvPr/>
        </p:nvSpPr>
        <p:spPr>
          <a:xfrm>
            <a:off x="861097" y="1685149"/>
            <a:ext cx="600926" cy="2748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</a:rPr>
              <a:t>カウンタ</a:t>
            </a:r>
          </a:p>
        </p:txBody>
      </p:sp>
      <p:sp>
        <p:nvSpPr>
          <p:cNvPr id="34" name="四角形: 角を丸くする 33">
            <a:extLst>
              <a:ext uri="{FF2B5EF4-FFF2-40B4-BE49-F238E27FC236}">
                <a16:creationId xmlns:a16="http://schemas.microsoft.com/office/drawing/2014/main" id="{477DE2E5-CB42-0F15-C3AA-5FC7FBDC0D1F}"/>
              </a:ext>
            </a:extLst>
          </p:cNvPr>
          <p:cNvSpPr/>
          <p:nvPr/>
        </p:nvSpPr>
        <p:spPr>
          <a:xfrm>
            <a:off x="523009" y="1086368"/>
            <a:ext cx="3549534" cy="5394961"/>
          </a:xfrm>
          <a:prstGeom prst="roundRect">
            <a:avLst>
              <a:gd name="adj" fmla="val 260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06E11FBE-DE01-BAF7-54B1-8012E271821F}"/>
              </a:ext>
            </a:extLst>
          </p:cNvPr>
          <p:cNvSpPr/>
          <p:nvPr/>
        </p:nvSpPr>
        <p:spPr>
          <a:xfrm>
            <a:off x="3327629" y="1410567"/>
            <a:ext cx="621161" cy="4406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HUB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37" name="コネクタ: カギ線 36">
            <a:extLst>
              <a:ext uri="{FF2B5EF4-FFF2-40B4-BE49-F238E27FC236}">
                <a16:creationId xmlns:a16="http://schemas.microsoft.com/office/drawing/2014/main" id="{04252902-8C41-9B71-9E3F-4526156316B2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3242886" y="1849264"/>
            <a:ext cx="266008" cy="181063"/>
          </a:xfrm>
          <a:prstGeom prst="bentConnector3">
            <a:avLst>
              <a:gd name="adj1" fmla="val 94162"/>
            </a:avLst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コネクタ: カギ線 39">
            <a:extLst>
              <a:ext uri="{FF2B5EF4-FFF2-40B4-BE49-F238E27FC236}">
                <a16:creationId xmlns:a16="http://schemas.microsoft.com/office/drawing/2014/main" id="{41C35EFF-7DAC-3986-2E44-6C97D2496991}"/>
              </a:ext>
            </a:extLst>
          </p:cNvPr>
          <p:cNvCxnSpPr>
            <a:cxnSpLocks/>
            <a:stCxn id="13" idx="3"/>
            <a:endCxn id="35" idx="2"/>
          </p:cNvCxnSpPr>
          <p:nvPr/>
        </p:nvCxnSpPr>
        <p:spPr>
          <a:xfrm flipV="1">
            <a:off x="3242886" y="1851188"/>
            <a:ext cx="395324" cy="1914896"/>
          </a:xfrm>
          <a:prstGeom prst="bentConnector2">
            <a:avLst/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コネクタ: カギ線 43">
            <a:extLst>
              <a:ext uri="{FF2B5EF4-FFF2-40B4-BE49-F238E27FC236}">
                <a16:creationId xmlns:a16="http://schemas.microsoft.com/office/drawing/2014/main" id="{B3260882-5C29-3428-64A6-D61C964E766C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3242886" y="1849264"/>
            <a:ext cx="539058" cy="3368259"/>
          </a:xfrm>
          <a:prstGeom prst="bentConnector2">
            <a:avLst/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四角形: 角を丸くする 53">
            <a:extLst>
              <a:ext uri="{FF2B5EF4-FFF2-40B4-BE49-F238E27FC236}">
                <a16:creationId xmlns:a16="http://schemas.microsoft.com/office/drawing/2014/main" id="{79CF9DC5-5C06-B6A5-ACD4-5FDEA8E55C3E}"/>
              </a:ext>
            </a:extLst>
          </p:cNvPr>
          <p:cNvSpPr/>
          <p:nvPr/>
        </p:nvSpPr>
        <p:spPr>
          <a:xfrm>
            <a:off x="5322790" y="1041654"/>
            <a:ext cx="2781430" cy="1833442"/>
          </a:xfrm>
          <a:prstGeom prst="roundRect">
            <a:avLst>
              <a:gd name="adj" fmla="val 260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3A6FD659-F172-9898-EA1B-2FF87E5EF9EC}"/>
              </a:ext>
            </a:extLst>
          </p:cNvPr>
          <p:cNvSpPr txBox="1"/>
          <p:nvPr/>
        </p:nvSpPr>
        <p:spPr>
          <a:xfrm>
            <a:off x="523009" y="814575"/>
            <a:ext cx="9390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検査装置</a:t>
            </a:r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F83A6C2F-C447-ED40-75BF-845AC99272C4}"/>
              </a:ext>
            </a:extLst>
          </p:cNvPr>
          <p:cNvSpPr txBox="1"/>
          <p:nvPr/>
        </p:nvSpPr>
        <p:spPr>
          <a:xfrm>
            <a:off x="5322790" y="809369"/>
            <a:ext cx="16284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現場</a:t>
            </a:r>
            <a:r>
              <a:rPr kumimoji="1" lang="en-US" altLang="ja-JP" sz="1200" dirty="0"/>
              <a:t>PC</a:t>
            </a:r>
            <a:endParaRPr kumimoji="1" lang="ja-JP" altLang="en-US" sz="1200" dirty="0"/>
          </a:p>
        </p:txBody>
      </p:sp>
      <p:sp>
        <p:nvSpPr>
          <p:cNvPr id="58" name="円柱 57">
            <a:extLst>
              <a:ext uri="{FF2B5EF4-FFF2-40B4-BE49-F238E27FC236}">
                <a16:creationId xmlns:a16="http://schemas.microsoft.com/office/drawing/2014/main" id="{C2C7750B-1896-4763-C2A9-EEC5FDF56493}"/>
              </a:ext>
            </a:extLst>
          </p:cNvPr>
          <p:cNvSpPr/>
          <p:nvPr/>
        </p:nvSpPr>
        <p:spPr>
          <a:xfrm>
            <a:off x="6992070" y="1441501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DB</a:t>
            </a:r>
            <a:r>
              <a:rPr kumimoji="1" lang="ja-JP" altLang="en-US" sz="900" dirty="0">
                <a:solidFill>
                  <a:schemeClr val="tx1"/>
                </a:solidFill>
              </a:rPr>
              <a:t>ファイル</a:t>
            </a:r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723ADD5B-83C7-A44E-9133-33E22D9AFFDE}"/>
              </a:ext>
            </a:extLst>
          </p:cNvPr>
          <p:cNvSpPr/>
          <p:nvPr/>
        </p:nvSpPr>
        <p:spPr>
          <a:xfrm>
            <a:off x="5509454" y="1361664"/>
            <a:ext cx="1038707" cy="5208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データ登録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プログラム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FC495AD9-56BA-3247-189E-CD93BBA1E964}"/>
              </a:ext>
            </a:extLst>
          </p:cNvPr>
          <p:cNvSpPr/>
          <p:nvPr/>
        </p:nvSpPr>
        <p:spPr>
          <a:xfrm>
            <a:off x="6557962" y="1564374"/>
            <a:ext cx="434108" cy="213794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2" name="コネクタ: カギ線 61">
            <a:extLst>
              <a:ext uri="{FF2B5EF4-FFF2-40B4-BE49-F238E27FC236}">
                <a16:creationId xmlns:a16="http://schemas.microsoft.com/office/drawing/2014/main" id="{2D0E463D-67CA-0015-AF6A-5AAE7B80E42F}"/>
              </a:ext>
            </a:extLst>
          </p:cNvPr>
          <p:cNvCxnSpPr>
            <a:cxnSpLocks/>
            <a:stCxn id="54" idx="1"/>
            <a:endCxn id="77" idx="3"/>
          </p:cNvCxnSpPr>
          <p:nvPr/>
        </p:nvCxnSpPr>
        <p:spPr>
          <a:xfrm rot="10800000">
            <a:off x="4980122" y="1628955"/>
            <a:ext cx="342668" cy="329421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AB0959BA-9687-E5FE-7964-3E3BACE73894}"/>
              </a:ext>
            </a:extLst>
          </p:cNvPr>
          <p:cNvSpPr/>
          <p:nvPr/>
        </p:nvSpPr>
        <p:spPr>
          <a:xfrm>
            <a:off x="4358961" y="1408643"/>
            <a:ext cx="621161" cy="4406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HUB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80" name="コネクタ: カギ線 79">
            <a:extLst>
              <a:ext uri="{FF2B5EF4-FFF2-40B4-BE49-F238E27FC236}">
                <a16:creationId xmlns:a16="http://schemas.microsoft.com/office/drawing/2014/main" id="{27DCEC72-51D3-8413-A4DF-36EB13F2B98C}"/>
              </a:ext>
            </a:extLst>
          </p:cNvPr>
          <p:cNvCxnSpPr>
            <a:cxnSpLocks/>
            <a:stCxn id="77" idx="1"/>
            <a:endCxn id="35" idx="3"/>
          </p:cNvCxnSpPr>
          <p:nvPr/>
        </p:nvCxnSpPr>
        <p:spPr>
          <a:xfrm rot="10800000" flipV="1">
            <a:off x="3948791" y="1628954"/>
            <a:ext cx="410171" cy="1924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F74FC92A-20BD-D8E3-0509-8011643DC4C8}"/>
              </a:ext>
            </a:extLst>
          </p:cNvPr>
          <p:cNvSpPr txBox="1"/>
          <p:nvPr/>
        </p:nvSpPr>
        <p:spPr>
          <a:xfrm>
            <a:off x="5214577" y="2985895"/>
            <a:ext cx="16284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見える化</a:t>
            </a:r>
            <a:r>
              <a:rPr lang="ja-JP" altLang="en-US" sz="1200" dirty="0"/>
              <a:t>モニタ</a:t>
            </a:r>
            <a:endParaRPr kumimoji="1" lang="ja-JP" altLang="en-US" sz="1200" dirty="0"/>
          </a:p>
        </p:txBody>
      </p:sp>
      <p:sp>
        <p:nvSpPr>
          <p:cNvPr id="87" name="正方形/長方形 86">
            <a:extLst>
              <a:ext uri="{FF2B5EF4-FFF2-40B4-BE49-F238E27FC236}">
                <a16:creationId xmlns:a16="http://schemas.microsoft.com/office/drawing/2014/main" id="{4EC98FEB-123B-384B-B384-CAE0670592F8}"/>
              </a:ext>
            </a:extLst>
          </p:cNvPr>
          <p:cNvSpPr/>
          <p:nvPr/>
        </p:nvSpPr>
        <p:spPr>
          <a:xfrm>
            <a:off x="5526915" y="2168434"/>
            <a:ext cx="1854094" cy="5983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稼働状況表示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プログラム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pic>
        <p:nvPicPr>
          <p:cNvPr id="1026" name="Picture 2" descr="複合グラフ・レポートのイラスト | 無料のフリー素材 イラストエイト">
            <a:extLst>
              <a:ext uri="{FF2B5EF4-FFF2-40B4-BE49-F238E27FC236}">
                <a16:creationId xmlns:a16="http://schemas.microsoft.com/office/drawing/2014/main" id="{B715D81B-CC36-FB2D-2080-8E2F9F2D75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4722" y="3362620"/>
            <a:ext cx="1466248" cy="1193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0" name="直方体 89">
            <a:extLst>
              <a:ext uri="{FF2B5EF4-FFF2-40B4-BE49-F238E27FC236}">
                <a16:creationId xmlns:a16="http://schemas.microsoft.com/office/drawing/2014/main" id="{B46F0F9A-4794-C0CF-20A8-341D243FE900}"/>
              </a:ext>
            </a:extLst>
          </p:cNvPr>
          <p:cNvSpPr/>
          <p:nvPr/>
        </p:nvSpPr>
        <p:spPr>
          <a:xfrm>
            <a:off x="5322790" y="3272261"/>
            <a:ext cx="2175166" cy="1344824"/>
          </a:xfrm>
          <a:prstGeom prst="cube">
            <a:avLst>
              <a:gd name="adj" fmla="val 212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1" name="矢印: 右 90">
            <a:extLst>
              <a:ext uri="{FF2B5EF4-FFF2-40B4-BE49-F238E27FC236}">
                <a16:creationId xmlns:a16="http://schemas.microsoft.com/office/drawing/2014/main" id="{5D6DF771-187A-C60F-2256-1FCDB7FAD970}"/>
              </a:ext>
            </a:extLst>
          </p:cNvPr>
          <p:cNvSpPr/>
          <p:nvPr/>
        </p:nvSpPr>
        <p:spPr>
          <a:xfrm rot="5400000">
            <a:off x="6594234" y="2911906"/>
            <a:ext cx="501478" cy="219238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2" name="テキスト ボックス 91">
            <a:extLst>
              <a:ext uri="{FF2B5EF4-FFF2-40B4-BE49-F238E27FC236}">
                <a16:creationId xmlns:a16="http://schemas.microsoft.com/office/drawing/2014/main" id="{65C1FBDF-C602-927F-E18F-2C670C0DB987}"/>
              </a:ext>
            </a:extLst>
          </p:cNvPr>
          <p:cNvSpPr txBox="1"/>
          <p:nvPr/>
        </p:nvSpPr>
        <p:spPr>
          <a:xfrm>
            <a:off x="5322790" y="4664842"/>
            <a:ext cx="16284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※70</a:t>
            </a:r>
            <a:r>
              <a:rPr kumimoji="1" lang="ja-JP" altLang="en-US" sz="800" dirty="0"/>
              <a:t>インチ程度のサブモニタ</a:t>
            </a:r>
          </a:p>
        </p:txBody>
      </p:sp>
      <p:sp>
        <p:nvSpPr>
          <p:cNvPr id="93" name="テキスト ボックス 92">
            <a:extLst>
              <a:ext uri="{FF2B5EF4-FFF2-40B4-BE49-F238E27FC236}">
                <a16:creationId xmlns:a16="http://schemas.microsoft.com/office/drawing/2014/main" id="{DEB96C9D-E78C-FDA2-6350-2C5D4C110ED7}"/>
              </a:ext>
            </a:extLst>
          </p:cNvPr>
          <p:cNvSpPr txBox="1"/>
          <p:nvPr/>
        </p:nvSpPr>
        <p:spPr>
          <a:xfrm>
            <a:off x="6905691" y="1919657"/>
            <a:ext cx="11845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※SQLite</a:t>
            </a:r>
            <a:r>
              <a:rPr kumimoji="1" lang="ja-JP" altLang="en-US" sz="800" dirty="0"/>
              <a:t>ファイル</a:t>
            </a:r>
          </a:p>
        </p:txBody>
      </p:sp>
      <p:cxnSp>
        <p:nvCxnSpPr>
          <p:cNvPr id="98" name="直線矢印コネクタ 97">
            <a:extLst>
              <a:ext uri="{FF2B5EF4-FFF2-40B4-BE49-F238E27FC236}">
                <a16:creationId xmlns:a16="http://schemas.microsoft.com/office/drawing/2014/main" id="{3570BEAD-9D95-913E-0926-E973EE896F4D}"/>
              </a:ext>
            </a:extLst>
          </p:cNvPr>
          <p:cNvCxnSpPr>
            <a:cxnSpLocks/>
            <a:stCxn id="77" idx="2"/>
          </p:cNvCxnSpPr>
          <p:nvPr/>
        </p:nvCxnSpPr>
        <p:spPr>
          <a:xfrm>
            <a:off x="4669542" y="1849264"/>
            <a:ext cx="0" cy="917507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0225CAB2-4B8C-880C-1034-C020CA48C0E6}"/>
              </a:ext>
            </a:extLst>
          </p:cNvPr>
          <p:cNvCxnSpPr>
            <a:cxnSpLocks/>
          </p:cNvCxnSpPr>
          <p:nvPr/>
        </p:nvCxnSpPr>
        <p:spPr>
          <a:xfrm>
            <a:off x="4504442" y="1845396"/>
            <a:ext cx="0" cy="921375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線矢印コネクタ 100">
            <a:extLst>
              <a:ext uri="{FF2B5EF4-FFF2-40B4-BE49-F238E27FC236}">
                <a16:creationId xmlns:a16="http://schemas.microsoft.com/office/drawing/2014/main" id="{BDCD3C7D-9AB6-15E7-97E9-D07E11E336EA}"/>
              </a:ext>
            </a:extLst>
          </p:cNvPr>
          <p:cNvCxnSpPr>
            <a:cxnSpLocks/>
          </p:cNvCxnSpPr>
          <p:nvPr/>
        </p:nvCxnSpPr>
        <p:spPr>
          <a:xfrm>
            <a:off x="4831467" y="1845396"/>
            <a:ext cx="0" cy="917507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テキスト ボックス 101">
            <a:extLst>
              <a:ext uri="{FF2B5EF4-FFF2-40B4-BE49-F238E27FC236}">
                <a16:creationId xmlns:a16="http://schemas.microsoft.com/office/drawing/2014/main" id="{0B56070F-8EF2-A8B3-A239-509C41A34FFA}"/>
              </a:ext>
            </a:extLst>
          </p:cNvPr>
          <p:cNvSpPr txBox="1"/>
          <p:nvPr/>
        </p:nvSpPr>
        <p:spPr>
          <a:xfrm>
            <a:off x="4327269" y="2808636"/>
            <a:ext cx="7970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800" dirty="0"/>
              <a:t>他検査機へ</a:t>
            </a:r>
          </a:p>
        </p:txBody>
      </p:sp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6B1C04F0-39EE-DF00-3EA2-3FA77B1B0B08}"/>
              </a:ext>
            </a:extLst>
          </p:cNvPr>
          <p:cNvSpPr txBox="1"/>
          <p:nvPr/>
        </p:nvSpPr>
        <p:spPr>
          <a:xfrm>
            <a:off x="228022" y="168868"/>
            <a:ext cx="52122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コバテック様向け</a:t>
            </a:r>
            <a:endParaRPr kumimoji="1" lang="en-US" altLang="ja-JP" sz="1200" dirty="0"/>
          </a:p>
          <a:p>
            <a:r>
              <a:rPr kumimoji="1" lang="ja-JP" altLang="en-US" sz="1600" u="sng" dirty="0"/>
              <a:t>ボディ検査装置データ自動取集＆見える化 構想図</a:t>
            </a:r>
          </a:p>
        </p:txBody>
      </p:sp>
      <p:sp>
        <p:nvSpPr>
          <p:cNvPr id="106" name="正方形/長方形 105">
            <a:extLst>
              <a:ext uri="{FF2B5EF4-FFF2-40B4-BE49-F238E27FC236}">
                <a16:creationId xmlns:a16="http://schemas.microsoft.com/office/drawing/2014/main" id="{0F0E7CFB-86AB-1700-B482-C427BB2B3B80}"/>
              </a:ext>
            </a:extLst>
          </p:cNvPr>
          <p:cNvSpPr/>
          <p:nvPr/>
        </p:nvSpPr>
        <p:spPr>
          <a:xfrm>
            <a:off x="9003631" y="1238388"/>
            <a:ext cx="621161" cy="4406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HUB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107" name="コネクタ: カギ線 106">
            <a:extLst>
              <a:ext uri="{FF2B5EF4-FFF2-40B4-BE49-F238E27FC236}">
                <a16:creationId xmlns:a16="http://schemas.microsoft.com/office/drawing/2014/main" id="{D412A20F-DBEE-F972-FF3F-EE024692D066}"/>
              </a:ext>
            </a:extLst>
          </p:cNvPr>
          <p:cNvCxnSpPr>
            <a:cxnSpLocks/>
            <a:stCxn id="106" idx="1"/>
            <a:endCxn id="54" idx="3"/>
          </p:cNvCxnSpPr>
          <p:nvPr/>
        </p:nvCxnSpPr>
        <p:spPr>
          <a:xfrm rot="10800000" flipV="1">
            <a:off x="8104221" y="1458699"/>
            <a:ext cx="899411" cy="499676"/>
          </a:xfrm>
          <a:prstGeom prst="bentConnector3">
            <a:avLst>
              <a:gd name="adj1" fmla="val 50000"/>
            </a:avLst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四角形: 角を丸くする 111">
            <a:extLst>
              <a:ext uri="{FF2B5EF4-FFF2-40B4-BE49-F238E27FC236}">
                <a16:creationId xmlns:a16="http://schemas.microsoft.com/office/drawing/2014/main" id="{1DB59EE2-076E-C85C-EC76-CD5EB0C3A4E6}"/>
              </a:ext>
            </a:extLst>
          </p:cNvPr>
          <p:cNvSpPr/>
          <p:nvPr/>
        </p:nvSpPr>
        <p:spPr>
          <a:xfrm>
            <a:off x="8816210" y="2427346"/>
            <a:ext cx="2175166" cy="1344825"/>
          </a:xfrm>
          <a:prstGeom prst="roundRect">
            <a:avLst>
              <a:gd name="adj" fmla="val 260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3" name="円柱 112">
            <a:extLst>
              <a:ext uri="{FF2B5EF4-FFF2-40B4-BE49-F238E27FC236}">
                <a16:creationId xmlns:a16="http://schemas.microsoft.com/office/drawing/2014/main" id="{419D6D29-331C-2249-9BDC-8703734AE6B2}"/>
              </a:ext>
            </a:extLst>
          </p:cNvPr>
          <p:cNvSpPr/>
          <p:nvPr/>
        </p:nvSpPr>
        <p:spPr>
          <a:xfrm>
            <a:off x="9006772" y="2615458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Backup1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114" name="円柱 113">
            <a:extLst>
              <a:ext uri="{FF2B5EF4-FFF2-40B4-BE49-F238E27FC236}">
                <a16:creationId xmlns:a16="http://schemas.microsoft.com/office/drawing/2014/main" id="{CA1E6B3F-8EFC-F48F-2C8B-DB04F373BFEE}"/>
              </a:ext>
            </a:extLst>
          </p:cNvPr>
          <p:cNvSpPr/>
          <p:nvPr/>
        </p:nvSpPr>
        <p:spPr>
          <a:xfrm>
            <a:off x="9006772" y="3140684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Backup3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115" name="円柱 114">
            <a:extLst>
              <a:ext uri="{FF2B5EF4-FFF2-40B4-BE49-F238E27FC236}">
                <a16:creationId xmlns:a16="http://schemas.microsoft.com/office/drawing/2014/main" id="{5842154F-791A-3CBC-FEF5-7D8DD9CC9C9D}"/>
              </a:ext>
            </a:extLst>
          </p:cNvPr>
          <p:cNvSpPr/>
          <p:nvPr/>
        </p:nvSpPr>
        <p:spPr>
          <a:xfrm>
            <a:off x="9945066" y="2621538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Backup2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116" name="円柱 115">
            <a:extLst>
              <a:ext uri="{FF2B5EF4-FFF2-40B4-BE49-F238E27FC236}">
                <a16:creationId xmlns:a16="http://schemas.microsoft.com/office/drawing/2014/main" id="{B617B5B5-92BA-0BE1-1F74-ED17033007BC}"/>
              </a:ext>
            </a:extLst>
          </p:cNvPr>
          <p:cNvSpPr/>
          <p:nvPr/>
        </p:nvSpPr>
        <p:spPr>
          <a:xfrm>
            <a:off x="9945066" y="3146764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Backup4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117" name="コネクタ: カギ線 116">
            <a:extLst>
              <a:ext uri="{FF2B5EF4-FFF2-40B4-BE49-F238E27FC236}">
                <a16:creationId xmlns:a16="http://schemas.microsoft.com/office/drawing/2014/main" id="{69D227E1-C855-F0C8-87DB-7F7C67D87A97}"/>
              </a:ext>
            </a:extLst>
          </p:cNvPr>
          <p:cNvCxnSpPr>
            <a:cxnSpLocks/>
            <a:stCxn id="106" idx="2"/>
            <a:endCxn id="112" idx="0"/>
          </p:cNvCxnSpPr>
          <p:nvPr/>
        </p:nvCxnSpPr>
        <p:spPr>
          <a:xfrm rot="16200000" flipH="1">
            <a:off x="9234834" y="1758386"/>
            <a:ext cx="748337" cy="589581"/>
          </a:xfrm>
          <a:prstGeom prst="bentConnector3">
            <a:avLst>
              <a:gd name="adj1" fmla="val 50000"/>
            </a:avLst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テキスト ボックス 119">
            <a:extLst>
              <a:ext uri="{FF2B5EF4-FFF2-40B4-BE49-F238E27FC236}">
                <a16:creationId xmlns:a16="http://schemas.microsoft.com/office/drawing/2014/main" id="{D38A4713-43E9-C495-578D-5A4ABE16E9FC}"/>
              </a:ext>
            </a:extLst>
          </p:cNvPr>
          <p:cNvSpPr txBox="1"/>
          <p:nvPr/>
        </p:nvSpPr>
        <p:spPr>
          <a:xfrm>
            <a:off x="8816210" y="2168434"/>
            <a:ext cx="16284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NAS</a:t>
            </a:r>
            <a:endParaRPr kumimoji="1" lang="ja-JP" altLang="en-US" sz="1200" dirty="0"/>
          </a:p>
        </p:txBody>
      </p:sp>
      <p:sp>
        <p:nvSpPr>
          <p:cNvPr id="123" name="正方形/長方形 122">
            <a:extLst>
              <a:ext uri="{FF2B5EF4-FFF2-40B4-BE49-F238E27FC236}">
                <a16:creationId xmlns:a16="http://schemas.microsoft.com/office/drawing/2014/main" id="{E2CBEC9B-6707-863F-DDFA-DB626E105580}"/>
              </a:ext>
            </a:extLst>
          </p:cNvPr>
          <p:cNvSpPr/>
          <p:nvPr/>
        </p:nvSpPr>
        <p:spPr>
          <a:xfrm>
            <a:off x="4358961" y="5049120"/>
            <a:ext cx="7404414" cy="1430285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900" dirty="0">
                <a:solidFill>
                  <a:schemeClr val="tx1"/>
                </a:solidFill>
              </a:rPr>
              <a:t>・データ登録（各機械の吸い出し含む）は</a:t>
            </a:r>
            <a:r>
              <a:rPr kumimoji="1" lang="en-US" altLang="ja-JP" sz="900" dirty="0">
                <a:solidFill>
                  <a:schemeClr val="tx1"/>
                </a:solidFill>
              </a:rPr>
              <a:t>1</a:t>
            </a:r>
            <a:r>
              <a:rPr kumimoji="1" lang="ja-JP" altLang="en-US" sz="900" dirty="0">
                <a:solidFill>
                  <a:schemeClr val="tx1"/>
                </a:solidFill>
              </a:rPr>
              <a:t>ロットごとに手動で行う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endParaRPr kumimoji="1" lang="en-US" altLang="ja-JP" sz="900" dirty="0">
              <a:solidFill>
                <a:schemeClr val="tx1"/>
              </a:solidFill>
            </a:endParaRPr>
          </a:p>
          <a:p>
            <a:r>
              <a:rPr lang="ja-JP" altLang="en-US" sz="900" dirty="0">
                <a:solidFill>
                  <a:schemeClr val="tx1"/>
                </a:solidFill>
              </a:rPr>
              <a:t>・稼働状況表示は</a:t>
            </a:r>
            <a:r>
              <a:rPr lang="en-US" altLang="ja-JP" sz="900" dirty="0">
                <a:solidFill>
                  <a:schemeClr val="tx1"/>
                </a:solidFill>
              </a:rPr>
              <a:t>PLC</a:t>
            </a:r>
            <a:r>
              <a:rPr lang="ja-JP" altLang="en-US" sz="900" dirty="0">
                <a:solidFill>
                  <a:schemeClr val="tx1"/>
                </a:solidFill>
              </a:rPr>
              <a:t>のデバイス</a:t>
            </a:r>
            <a:r>
              <a:rPr lang="en-US" altLang="ja-JP" sz="900" dirty="0">
                <a:solidFill>
                  <a:schemeClr val="tx1"/>
                </a:solidFill>
              </a:rPr>
              <a:t>(EM)</a:t>
            </a:r>
            <a:r>
              <a:rPr lang="ja-JP" altLang="en-US" sz="900" dirty="0">
                <a:solidFill>
                  <a:schemeClr val="tx1"/>
                </a:solidFill>
              </a:rPr>
              <a:t>を読む（リアルタイム表示</a:t>
            </a:r>
            <a:r>
              <a:rPr lang="en-US" altLang="ja-JP" sz="900" dirty="0">
                <a:solidFill>
                  <a:schemeClr val="tx1"/>
                </a:solidFill>
              </a:rPr>
              <a:t>)</a:t>
            </a:r>
          </a:p>
          <a:p>
            <a:r>
              <a:rPr lang="ja-JP" altLang="en-US" sz="900" dirty="0">
                <a:solidFill>
                  <a:schemeClr val="tx1"/>
                </a:solidFill>
              </a:rPr>
              <a:t>・推移図は</a:t>
            </a:r>
            <a:r>
              <a:rPr lang="en-US" altLang="ja-JP" sz="900" dirty="0">
                <a:solidFill>
                  <a:schemeClr val="tx1"/>
                </a:solidFill>
              </a:rPr>
              <a:t>DB</a:t>
            </a:r>
            <a:r>
              <a:rPr lang="ja-JP" altLang="en-US" sz="900" dirty="0">
                <a:solidFill>
                  <a:schemeClr val="tx1"/>
                </a:solidFill>
              </a:rPr>
              <a:t>ファイルを参照してグラフ化する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124" name="直線矢印コネクタ 123">
            <a:extLst>
              <a:ext uri="{FF2B5EF4-FFF2-40B4-BE49-F238E27FC236}">
                <a16:creationId xmlns:a16="http://schemas.microsoft.com/office/drawing/2014/main" id="{9DD5C3BA-A469-8C9F-5043-B97CE9BCB8F3}"/>
              </a:ext>
            </a:extLst>
          </p:cNvPr>
          <p:cNvCxnSpPr>
            <a:cxnSpLocks/>
            <a:stCxn id="106" idx="3"/>
          </p:cNvCxnSpPr>
          <p:nvPr/>
        </p:nvCxnSpPr>
        <p:spPr>
          <a:xfrm>
            <a:off x="9624792" y="1458699"/>
            <a:ext cx="677448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5" name="テキスト ボックス 1024">
            <a:extLst>
              <a:ext uri="{FF2B5EF4-FFF2-40B4-BE49-F238E27FC236}">
                <a16:creationId xmlns:a16="http://schemas.microsoft.com/office/drawing/2014/main" id="{71C7EEDE-CAFD-4C6B-3168-E9289E6A1A8D}"/>
              </a:ext>
            </a:extLst>
          </p:cNvPr>
          <p:cNvSpPr txBox="1"/>
          <p:nvPr/>
        </p:nvSpPr>
        <p:spPr>
          <a:xfrm>
            <a:off x="10320031" y="1303323"/>
            <a:ext cx="9956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800" dirty="0"/>
              <a:t>コバテック様</a:t>
            </a:r>
            <a:endParaRPr kumimoji="1" lang="en-US" altLang="ja-JP" sz="800" dirty="0"/>
          </a:p>
          <a:p>
            <a:r>
              <a:rPr lang="ja-JP" altLang="en-US" sz="800" dirty="0"/>
              <a:t>他</a:t>
            </a:r>
            <a:r>
              <a:rPr lang="en-US" altLang="ja-JP" sz="800" dirty="0"/>
              <a:t>PC</a:t>
            </a:r>
            <a:r>
              <a:rPr lang="ja-JP" altLang="en-US" sz="800" dirty="0"/>
              <a:t>へ</a:t>
            </a:r>
            <a:endParaRPr kumimoji="1" lang="ja-JP" altLang="en-US" sz="800" dirty="0"/>
          </a:p>
        </p:txBody>
      </p:sp>
      <p:sp>
        <p:nvSpPr>
          <p:cNvPr id="1028" name="テキスト ボックス 1027">
            <a:extLst>
              <a:ext uri="{FF2B5EF4-FFF2-40B4-BE49-F238E27FC236}">
                <a16:creationId xmlns:a16="http://schemas.microsoft.com/office/drawing/2014/main" id="{239938EF-6111-F545-7813-AB8739783B7B}"/>
              </a:ext>
            </a:extLst>
          </p:cNvPr>
          <p:cNvSpPr txBox="1"/>
          <p:nvPr/>
        </p:nvSpPr>
        <p:spPr>
          <a:xfrm>
            <a:off x="10774582" y="244711"/>
            <a:ext cx="12067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dirty="0"/>
              <a:t>最終更新</a:t>
            </a:r>
            <a:r>
              <a:rPr lang="en-US" altLang="ja-JP" sz="800" dirty="0"/>
              <a:t> : 2026/5/11</a:t>
            </a:r>
          </a:p>
          <a:p>
            <a:r>
              <a:rPr kumimoji="1" lang="ja-JP" altLang="en-US" sz="800" dirty="0"/>
              <a:t>京和製作所 間瀬</a:t>
            </a:r>
          </a:p>
        </p:txBody>
      </p:sp>
      <p:cxnSp>
        <p:nvCxnSpPr>
          <p:cNvPr id="1030" name="直線矢印コネクタ 1029">
            <a:extLst>
              <a:ext uri="{FF2B5EF4-FFF2-40B4-BE49-F238E27FC236}">
                <a16:creationId xmlns:a16="http://schemas.microsoft.com/office/drawing/2014/main" id="{ABEDB0FC-60D7-2066-51E4-C284711E28F2}"/>
              </a:ext>
            </a:extLst>
          </p:cNvPr>
          <p:cNvCxnSpPr>
            <a:cxnSpLocks/>
          </p:cNvCxnSpPr>
          <p:nvPr/>
        </p:nvCxnSpPr>
        <p:spPr>
          <a:xfrm>
            <a:off x="8250373" y="1015446"/>
            <a:ext cx="920898" cy="0"/>
          </a:xfrm>
          <a:prstGeom prst="straightConnector1">
            <a:avLst/>
          </a:prstGeom>
          <a:ln w="28575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直線矢印コネクタ 1030">
            <a:extLst>
              <a:ext uri="{FF2B5EF4-FFF2-40B4-BE49-F238E27FC236}">
                <a16:creationId xmlns:a16="http://schemas.microsoft.com/office/drawing/2014/main" id="{FB39715F-1175-7172-A436-1CE29EB68B96}"/>
              </a:ext>
            </a:extLst>
          </p:cNvPr>
          <p:cNvCxnSpPr>
            <a:cxnSpLocks/>
          </p:cNvCxnSpPr>
          <p:nvPr/>
        </p:nvCxnSpPr>
        <p:spPr>
          <a:xfrm flipH="1">
            <a:off x="4265341" y="1041654"/>
            <a:ext cx="920898" cy="0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5" name="テキスト ボックス 1034">
            <a:extLst>
              <a:ext uri="{FF2B5EF4-FFF2-40B4-BE49-F238E27FC236}">
                <a16:creationId xmlns:a16="http://schemas.microsoft.com/office/drawing/2014/main" id="{829217D8-CC4F-B17D-D1CE-07157185EB7D}"/>
              </a:ext>
            </a:extLst>
          </p:cNvPr>
          <p:cNvSpPr txBox="1"/>
          <p:nvPr/>
        </p:nvSpPr>
        <p:spPr>
          <a:xfrm>
            <a:off x="8201497" y="789313"/>
            <a:ext cx="11845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800" dirty="0">
                <a:solidFill>
                  <a:srgbClr val="C00000"/>
                </a:solidFill>
              </a:rPr>
              <a:t>社内ネットワーク</a:t>
            </a:r>
          </a:p>
        </p:txBody>
      </p:sp>
      <p:sp>
        <p:nvSpPr>
          <p:cNvPr id="1036" name="テキスト ボックス 1035">
            <a:extLst>
              <a:ext uri="{FF2B5EF4-FFF2-40B4-BE49-F238E27FC236}">
                <a16:creationId xmlns:a16="http://schemas.microsoft.com/office/drawing/2014/main" id="{A6F3FD52-7C87-AA35-D6EA-3AE98170547A}"/>
              </a:ext>
            </a:extLst>
          </p:cNvPr>
          <p:cNvSpPr txBox="1"/>
          <p:nvPr/>
        </p:nvSpPr>
        <p:spPr>
          <a:xfrm>
            <a:off x="4265341" y="800002"/>
            <a:ext cx="11845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800" dirty="0">
                <a:solidFill>
                  <a:schemeClr val="accent5">
                    <a:lumMod val="75000"/>
                  </a:schemeClr>
                </a:solidFill>
              </a:rPr>
              <a:t>設備ネットワーク</a:t>
            </a:r>
          </a:p>
        </p:txBody>
      </p:sp>
    </p:spTree>
    <p:extLst>
      <p:ext uri="{BB962C8B-B14F-4D97-AF65-F5344CB8AC3E}">
        <p14:creationId xmlns:p14="http://schemas.microsoft.com/office/powerpoint/2010/main" val="1198485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83C9937-B66E-B901-2DC0-D52FF6C74FB0}"/>
              </a:ext>
            </a:extLst>
          </p:cNvPr>
          <p:cNvSpPr/>
          <p:nvPr/>
        </p:nvSpPr>
        <p:spPr>
          <a:xfrm>
            <a:off x="971049" y="4376365"/>
            <a:ext cx="10544848" cy="2240874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  <a:shade val="30000"/>
                  <a:satMod val="115000"/>
                </a:schemeClr>
              </a:gs>
              <a:gs pos="50000">
                <a:schemeClr val="bg1">
                  <a:lumMod val="65000"/>
                  <a:shade val="67500"/>
                  <a:satMod val="115000"/>
                </a:schemeClr>
              </a:gs>
              <a:gs pos="100000">
                <a:schemeClr val="bg1">
                  <a:lumMod val="6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9F8EAF22-1623-F358-2CAA-86E4C59E26B1}"/>
              </a:ext>
            </a:extLst>
          </p:cNvPr>
          <p:cNvSpPr/>
          <p:nvPr/>
        </p:nvSpPr>
        <p:spPr>
          <a:xfrm>
            <a:off x="954423" y="655660"/>
            <a:ext cx="10565477" cy="3100651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  <a:shade val="30000"/>
                  <a:satMod val="115000"/>
                </a:schemeClr>
              </a:gs>
              <a:gs pos="50000">
                <a:schemeClr val="bg1">
                  <a:lumMod val="65000"/>
                  <a:shade val="67500"/>
                  <a:satMod val="115000"/>
                </a:schemeClr>
              </a:gs>
              <a:gs pos="100000">
                <a:schemeClr val="bg1">
                  <a:lumMod val="6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36A4AA7-613D-5CE4-D5E7-8E99D54796FA}"/>
              </a:ext>
            </a:extLst>
          </p:cNvPr>
          <p:cNvSpPr/>
          <p:nvPr/>
        </p:nvSpPr>
        <p:spPr>
          <a:xfrm>
            <a:off x="847897" y="4272026"/>
            <a:ext cx="10565477" cy="2223120"/>
          </a:xfrm>
          <a:prstGeom prst="rect">
            <a:avLst/>
          </a:prstGeom>
          <a:solidFill>
            <a:schemeClr val="bg1"/>
          </a:solidFill>
          <a:ln w="381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1E3D1085-5286-18D9-5F56-1504E19B7E09}"/>
              </a:ext>
            </a:extLst>
          </p:cNvPr>
          <p:cNvSpPr/>
          <p:nvPr/>
        </p:nvSpPr>
        <p:spPr>
          <a:xfrm>
            <a:off x="4234296" y="4738639"/>
            <a:ext cx="4659234" cy="139278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A1F5462-76D7-182A-D998-0A7749C78703}"/>
              </a:ext>
            </a:extLst>
          </p:cNvPr>
          <p:cNvSpPr txBox="1"/>
          <p:nvPr/>
        </p:nvSpPr>
        <p:spPr>
          <a:xfrm>
            <a:off x="739832" y="224135"/>
            <a:ext cx="64626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WEEKLY OPERATING TIME </a:t>
            </a:r>
            <a:r>
              <a:rPr lang="ja-JP" alt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週間稼働時間</a:t>
            </a:r>
            <a:endParaRPr kumimoji="1" lang="ja-JP" alt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888854E-0E3E-785E-6C9E-0C3BA9BECC4E}"/>
              </a:ext>
            </a:extLst>
          </p:cNvPr>
          <p:cNvSpPr/>
          <p:nvPr/>
        </p:nvSpPr>
        <p:spPr>
          <a:xfrm>
            <a:off x="847897" y="540323"/>
            <a:ext cx="10565477" cy="3100651"/>
          </a:xfrm>
          <a:prstGeom prst="rect">
            <a:avLst/>
          </a:prstGeom>
          <a:solidFill>
            <a:schemeClr val="bg1"/>
          </a:solidFill>
          <a:ln w="381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95DE211-0137-2F11-D1B1-1A1AD4B0B1A9}"/>
              </a:ext>
            </a:extLst>
          </p:cNvPr>
          <p:cNvSpPr/>
          <p:nvPr/>
        </p:nvSpPr>
        <p:spPr>
          <a:xfrm>
            <a:off x="2519888" y="890995"/>
            <a:ext cx="3412682" cy="1037951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EB6F1729-F60B-DFE1-C2B7-EF1211B31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184" y="1086253"/>
            <a:ext cx="1445115" cy="1410617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7C2E2519-420E-FC5E-C2FB-36FDF2F964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0254" y="1111097"/>
            <a:ext cx="962181" cy="1258237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46298EC-F017-CF51-6037-5F9F9D5BC59D}"/>
              </a:ext>
            </a:extLst>
          </p:cNvPr>
          <p:cNvSpPr/>
          <p:nvPr/>
        </p:nvSpPr>
        <p:spPr>
          <a:xfrm>
            <a:off x="5932569" y="890995"/>
            <a:ext cx="3785007" cy="1037951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ABDF172-C200-A69A-705D-83E2476078B6}"/>
              </a:ext>
            </a:extLst>
          </p:cNvPr>
          <p:cNvSpPr txBox="1"/>
          <p:nvPr/>
        </p:nvSpPr>
        <p:spPr>
          <a:xfrm>
            <a:off x="2513586" y="1086804"/>
            <a:ext cx="16246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>
                <a:solidFill>
                  <a:schemeClr val="bg1"/>
                </a:solidFill>
              </a:rPr>
              <a:t>22,305 min</a:t>
            </a:r>
          </a:p>
          <a:p>
            <a:r>
              <a:rPr lang="en-US" altLang="ja-JP" b="1" dirty="0">
                <a:solidFill>
                  <a:schemeClr val="bg1"/>
                </a:solidFill>
              </a:rPr>
              <a:t>46 %</a:t>
            </a:r>
            <a:endParaRPr kumimoji="1" lang="ja-JP" altLang="en-US" b="1" dirty="0">
              <a:solidFill>
                <a:schemeClr val="bg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6471D7B-17E3-5B65-F805-7D5FAF046058}"/>
              </a:ext>
            </a:extLst>
          </p:cNvPr>
          <p:cNvSpPr txBox="1"/>
          <p:nvPr/>
        </p:nvSpPr>
        <p:spPr>
          <a:xfrm>
            <a:off x="1006948" y="2463863"/>
            <a:ext cx="1347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b="1" dirty="0">
                <a:solidFill>
                  <a:schemeClr val="bg2">
                    <a:lumMod val="50000"/>
                  </a:schemeClr>
                </a:solidFill>
              </a:rPr>
              <a:t>DAY SHIFT</a:t>
            </a:r>
            <a:endParaRPr kumimoji="1" lang="ja-JP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5A768F3-80E7-5017-B57A-E676FA3BA045}"/>
              </a:ext>
            </a:extLst>
          </p:cNvPr>
          <p:cNvSpPr txBox="1"/>
          <p:nvPr/>
        </p:nvSpPr>
        <p:spPr>
          <a:xfrm>
            <a:off x="8092900" y="1086804"/>
            <a:ext cx="16246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ja-JP" b="1" dirty="0">
                <a:solidFill>
                  <a:schemeClr val="bg1"/>
                </a:solidFill>
              </a:rPr>
              <a:t>22,305 min</a:t>
            </a:r>
          </a:p>
          <a:p>
            <a:pPr algn="r"/>
            <a:r>
              <a:rPr lang="en-US" altLang="ja-JP" b="1" dirty="0">
                <a:solidFill>
                  <a:schemeClr val="bg1"/>
                </a:solidFill>
              </a:rPr>
              <a:t>54 %</a:t>
            </a:r>
            <a:endParaRPr kumimoji="1" lang="ja-JP" altLang="en-US" b="1" dirty="0">
              <a:solidFill>
                <a:schemeClr val="bg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045F0D5-8FDD-7BC7-B1EF-ADAFF019C852}"/>
              </a:ext>
            </a:extLst>
          </p:cNvPr>
          <p:cNvSpPr txBox="1"/>
          <p:nvPr/>
        </p:nvSpPr>
        <p:spPr>
          <a:xfrm>
            <a:off x="9823889" y="2443016"/>
            <a:ext cx="14831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b="1" dirty="0">
                <a:solidFill>
                  <a:schemeClr val="bg2">
                    <a:lumMod val="50000"/>
                  </a:schemeClr>
                </a:solidFill>
              </a:rPr>
              <a:t>NIGHT SHIFT</a:t>
            </a:r>
            <a:endParaRPr kumimoji="1" lang="ja-JP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graphicFrame>
        <p:nvGraphicFramePr>
          <p:cNvPr id="15" name="表 14">
            <a:extLst>
              <a:ext uri="{FF2B5EF4-FFF2-40B4-BE49-F238E27FC236}">
                <a16:creationId xmlns:a16="http://schemas.microsoft.com/office/drawing/2014/main" id="{9CCB2A98-0A03-F8C6-B05D-9681F29C6A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3758858"/>
              </p:ext>
            </p:extLst>
          </p:nvPr>
        </p:nvGraphicFramePr>
        <p:xfrm>
          <a:off x="2536954" y="2301310"/>
          <a:ext cx="7203987" cy="942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029141">
                  <a:extLst>
                    <a:ext uri="{9D8B030D-6E8A-4147-A177-3AD203B41FA5}">
                      <a16:colId xmlns:a16="http://schemas.microsoft.com/office/drawing/2014/main" val="3542659806"/>
                    </a:ext>
                  </a:extLst>
                </a:gridCol>
                <a:gridCol w="1029141">
                  <a:extLst>
                    <a:ext uri="{9D8B030D-6E8A-4147-A177-3AD203B41FA5}">
                      <a16:colId xmlns:a16="http://schemas.microsoft.com/office/drawing/2014/main" val="188364501"/>
                    </a:ext>
                  </a:extLst>
                </a:gridCol>
                <a:gridCol w="1029141">
                  <a:extLst>
                    <a:ext uri="{9D8B030D-6E8A-4147-A177-3AD203B41FA5}">
                      <a16:colId xmlns:a16="http://schemas.microsoft.com/office/drawing/2014/main" val="3123303698"/>
                    </a:ext>
                  </a:extLst>
                </a:gridCol>
                <a:gridCol w="1029141">
                  <a:extLst>
                    <a:ext uri="{9D8B030D-6E8A-4147-A177-3AD203B41FA5}">
                      <a16:colId xmlns:a16="http://schemas.microsoft.com/office/drawing/2014/main" val="1716167615"/>
                    </a:ext>
                  </a:extLst>
                </a:gridCol>
                <a:gridCol w="1029141">
                  <a:extLst>
                    <a:ext uri="{9D8B030D-6E8A-4147-A177-3AD203B41FA5}">
                      <a16:colId xmlns:a16="http://schemas.microsoft.com/office/drawing/2014/main" val="1994325327"/>
                    </a:ext>
                  </a:extLst>
                </a:gridCol>
                <a:gridCol w="1029141">
                  <a:extLst>
                    <a:ext uri="{9D8B030D-6E8A-4147-A177-3AD203B41FA5}">
                      <a16:colId xmlns:a16="http://schemas.microsoft.com/office/drawing/2014/main" val="3844872914"/>
                    </a:ext>
                  </a:extLst>
                </a:gridCol>
                <a:gridCol w="1029141">
                  <a:extLst>
                    <a:ext uri="{9D8B030D-6E8A-4147-A177-3AD203B41FA5}">
                      <a16:colId xmlns:a16="http://schemas.microsoft.com/office/drawing/2014/main" val="2254263030"/>
                    </a:ext>
                  </a:extLst>
                </a:gridCol>
              </a:tblGrid>
              <a:tr h="314120"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Mon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Tue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Wed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Thu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Fri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Sat</a:t>
                      </a:r>
                      <a:endParaRPr kumimoji="1" lang="ja-JP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2724192"/>
                  </a:ext>
                </a:extLst>
              </a:tr>
              <a:tr h="31412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1" dirty="0">
                          <a:solidFill>
                            <a:schemeClr val="bg1"/>
                          </a:solidFill>
                        </a:rPr>
                        <a:t>DAY</a:t>
                      </a:r>
                      <a:endParaRPr kumimoji="1" lang="ja-JP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454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407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470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0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0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0</a:t>
                      </a:r>
                      <a:endParaRPr kumimoji="1" lang="ja-JP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1181801"/>
                  </a:ext>
                </a:extLst>
              </a:tr>
              <a:tr h="31412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1" dirty="0">
                          <a:solidFill>
                            <a:schemeClr val="bg1"/>
                          </a:solidFill>
                        </a:rPr>
                        <a:t>NIGHT</a:t>
                      </a:r>
                      <a:endParaRPr kumimoji="1" lang="ja-JP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430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442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156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0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0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0</a:t>
                      </a:r>
                      <a:endParaRPr kumimoji="1" lang="ja-JP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2191600"/>
                  </a:ext>
                </a:extLst>
              </a:tr>
            </a:tbl>
          </a:graphicData>
        </a:graphic>
      </p:graphicFrame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F404D1E-9412-E6A2-C6C6-7B3AB6C580B2}"/>
              </a:ext>
            </a:extLst>
          </p:cNvPr>
          <p:cNvSpPr/>
          <p:nvPr/>
        </p:nvSpPr>
        <p:spPr>
          <a:xfrm>
            <a:off x="5669279" y="2928525"/>
            <a:ext cx="980902" cy="315145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B6EAC6A-A5AE-9F09-9064-10E8BE611AA8}"/>
              </a:ext>
            </a:extLst>
          </p:cNvPr>
          <p:cNvSpPr txBox="1"/>
          <p:nvPr/>
        </p:nvSpPr>
        <p:spPr>
          <a:xfrm>
            <a:off x="778626" y="3890800"/>
            <a:ext cx="64626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TODAY’S PRODUCTION </a:t>
            </a:r>
            <a:r>
              <a:rPr lang="ja-JP" alt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本日の生産状況</a:t>
            </a:r>
            <a:endParaRPr kumimoji="1" lang="ja-JP" alt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9" name="表 18">
            <a:extLst>
              <a:ext uri="{FF2B5EF4-FFF2-40B4-BE49-F238E27FC236}">
                <a16:creationId xmlns:a16="http://schemas.microsoft.com/office/drawing/2014/main" id="{58B3D841-63BD-1C36-165A-FA3DA0E2D7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7068392"/>
              </p:ext>
            </p:extLst>
          </p:nvPr>
        </p:nvGraphicFramePr>
        <p:xfrm>
          <a:off x="1018138" y="4739331"/>
          <a:ext cx="2806284" cy="1392783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935428">
                  <a:extLst>
                    <a:ext uri="{9D8B030D-6E8A-4147-A177-3AD203B41FA5}">
                      <a16:colId xmlns:a16="http://schemas.microsoft.com/office/drawing/2014/main" val="188364501"/>
                    </a:ext>
                  </a:extLst>
                </a:gridCol>
                <a:gridCol w="935428">
                  <a:extLst>
                    <a:ext uri="{9D8B030D-6E8A-4147-A177-3AD203B41FA5}">
                      <a16:colId xmlns:a16="http://schemas.microsoft.com/office/drawing/2014/main" val="3123303698"/>
                    </a:ext>
                  </a:extLst>
                </a:gridCol>
                <a:gridCol w="935428">
                  <a:extLst>
                    <a:ext uri="{9D8B030D-6E8A-4147-A177-3AD203B41FA5}">
                      <a16:colId xmlns:a16="http://schemas.microsoft.com/office/drawing/2014/main" val="1716167615"/>
                    </a:ext>
                  </a:extLst>
                </a:gridCol>
              </a:tblGrid>
              <a:tr h="586352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/>
                        <a:t>実  績</a:t>
                      </a:r>
                      <a:endParaRPr kumimoji="1" lang="en-US" altLang="ja-JP" sz="1400" dirty="0"/>
                    </a:p>
                    <a:p>
                      <a:pPr algn="ctr"/>
                      <a:r>
                        <a:rPr kumimoji="1" lang="ja-JP" altLang="en-US" sz="1400" dirty="0"/>
                        <a:t>ロット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/>
                        <a:t>目  標</a:t>
                      </a:r>
                      <a:endParaRPr kumimoji="1" lang="en-US" altLang="ja-JP" sz="1400" dirty="0"/>
                    </a:p>
                    <a:p>
                      <a:pPr algn="ctr"/>
                      <a:r>
                        <a:rPr kumimoji="1" lang="ja-JP" altLang="en-US" sz="1400" dirty="0"/>
                        <a:t>ロット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/>
                        <a:t>達成率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2724192"/>
                  </a:ext>
                </a:extLst>
              </a:tr>
              <a:tr h="80643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50</a:t>
                      </a:r>
                      <a:endParaRPr kumimoji="1" lang="ja-JP" alt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65</a:t>
                      </a:r>
                      <a:endParaRPr kumimoji="1" lang="ja-JP" alt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85%</a:t>
                      </a:r>
                      <a:endParaRPr kumimoji="1" lang="ja-JP" altLang="en-US"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1181801"/>
                  </a:ext>
                </a:extLst>
              </a:tr>
            </a:tbl>
          </a:graphicData>
        </a:graphic>
      </p:graphicFrame>
      <p:pic>
        <p:nvPicPr>
          <p:cNvPr id="20" name="図 19" descr="花、植物、木、育つ、成長、エコロジー、自然、枝、満開、イメージ、屋外、白バック、花盛り - イラスト作品紹介 | イラスト ＆写真のストックフォトwaha（ワーハ）">
            <a:extLst>
              <a:ext uri="{FF2B5EF4-FFF2-40B4-BE49-F238E27FC236}">
                <a16:creationId xmlns:a16="http://schemas.microsoft.com/office/drawing/2014/main" id="{B12764AE-00F9-260A-C8E0-39371F45ABE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209"/>
          <a:stretch>
            <a:fillRect/>
          </a:stretch>
        </p:blipFill>
        <p:spPr>
          <a:xfrm>
            <a:off x="9849277" y="4357481"/>
            <a:ext cx="1432394" cy="2022090"/>
          </a:xfrm>
          <a:prstGeom prst="rect">
            <a:avLst/>
          </a:prstGeom>
        </p:spPr>
      </p:pic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AC28A90C-E78E-F694-E9B2-31CF96BCF230}"/>
              </a:ext>
            </a:extLst>
          </p:cNvPr>
          <p:cNvSpPr/>
          <p:nvPr/>
        </p:nvSpPr>
        <p:spPr>
          <a:xfrm>
            <a:off x="4226229" y="4740067"/>
            <a:ext cx="5258593" cy="1391356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A98BA035-FCD3-4C1B-5983-7D97005EED64}"/>
              </a:ext>
            </a:extLst>
          </p:cNvPr>
          <p:cNvCxnSpPr>
            <a:cxnSpLocks/>
          </p:cNvCxnSpPr>
          <p:nvPr/>
        </p:nvCxnSpPr>
        <p:spPr>
          <a:xfrm>
            <a:off x="6905158" y="4738639"/>
            <a:ext cx="0" cy="1392783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5A1B9551-DFD0-3479-9F98-502500C83DF4}"/>
              </a:ext>
            </a:extLst>
          </p:cNvPr>
          <p:cNvCxnSpPr>
            <a:cxnSpLocks/>
          </p:cNvCxnSpPr>
          <p:nvPr/>
        </p:nvCxnSpPr>
        <p:spPr>
          <a:xfrm>
            <a:off x="5583435" y="4738639"/>
            <a:ext cx="0" cy="1392783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FC06633C-B0F5-C9CC-4E4C-E4F52BA20D58}"/>
              </a:ext>
            </a:extLst>
          </p:cNvPr>
          <p:cNvCxnSpPr>
            <a:cxnSpLocks/>
          </p:cNvCxnSpPr>
          <p:nvPr/>
        </p:nvCxnSpPr>
        <p:spPr>
          <a:xfrm>
            <a:off x="8285071" y="4738639"/>
            <a:ext cx="0" cy="1392783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3FCF835-A8BE-F5DF-597D-C87AD1EBCF8C}"/>
              </a:ext>
            </a:extLst>
          </p:cNvPr>
          <p:cNvSpPr txBox="1"/>
          <p:nvPr/>
        </p:nvSpPr>
        <p:spPr>
          <a:xfrm>
            <a:off x="5286843" y="4470554"/>
            <a:ext cx="7063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b="1" dirty="0">
                <a:solidFill>
                  <a:schemeClr val="bg2">
                    <a:lumMod val="50000"/>
                  </a:schemeClr>
                </a:solidFill>
              </a:rPr>
              <a:t>25%</a:t>
            </a:r>
            <a:endParaRPr kumimoji="1" lang="ja-JP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18EAD41C-2793-E747-3EA4-EA3CA0D3644C}"/>
              </a:ext>
            </a:extLst>
          </p:cNvPr>
          <p:cNvSpPr txBox="1"/>
          <p:nvPr/>
        </p:nvSpPr>
        <p:spPr>
          <a:xfrm>
            <a:off x="3921295" y="4470555"/>
            <a:ext cx="7063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b="1" dirty="0">
                <a:solidFill>
                  <a:schemeClr val="bg2">
                    <a:lumMod val="50000"/>
                  </a:schemeClr>
                </a:solidFill>
              </a:rPr>
              <a:t>0%</a:t>
            </a:r>
            <a:endParaRPr kumimoji="1" lang="ja-JP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4F3539A-4A4A-D0ED-D9EE-258E5C40DDE2}"/>
              </a:ext>
            </a:extLst>
          </p:cNvPr>
          <p:cNvSpPr txBox="1"/>
          <p:nvPr/>
        </p:nvSpPr>
        <p:spPr>
          <a:xfrm>
            <a:off x="7974570" y="4470553"/>
            <a:ext cx="7063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b="1" dirty="0">
                <a:solidFill>
                  <a:schemeClr val="bg2">
                    <a:lumMod val="50000"/>
                  </a:schemeClr>
                </a:solidFill>
              </a:rPr>
              <a:t>75%</a:t>
            </a:r>
            <a:endParaRPr kumimoji="1" lang="ja-JP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4A9ABF82-478C-1AF0-3186-8B668CFD6F67}"/>
              </a:ext>
            </a:extLst>
          </p:cNvPr>
          <p:cNvSpPr txBox="1"/>
          <p:nvPr/>
        </p:nvSpPr>
        <p:spPr>
          <a:xfrm>
            <a:off x="6602513" y="4461839"/>
            <a:ext cx="7063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b="1" dirty="0">
                <a:solidFill>
                  <a:schemeClr val="bg2">
                    <a:lumMod val="50000"/>
                  </a:schemeClr>
                </a:solidFill>
              </a:rPr>
              <a:t>50%</a:t>
            </a:r>
            <a:endParaRPr kumimoji="1" lang="ja-JP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C10EBBCC-713B-1570-57EB-5A43E34264D5}"/>
              </a:ext>
            </a:extLst>
          </p:cNvPr>
          <p:cNvSpPr txBox="1"/>
          <p:nvPr/>
        </p:nvSpPr>
        <p:spPr>
          <a:xfrm>
            <a:off x="9133209" y="4476768"/>
            <a:ext cx="7063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b="1" dirty="0">
                <a:solidFill>
                  <a:schemeClr val="bg2">
                    <a:lumMod val="50000"/>
                  </a:schemeClr>
                </a:solidFill>
              </a:rPr>
              <a:t>100%</a:t>
            </a:r>
            <a:endParaRPr kumimoji="1" lang="ja-JP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B288B3DB-9BC9-1FC6-42C8-70CCDF749A67}"/>
              </a:ext>
            </a:extLst>
          </p:cNvPr>
          <p:cNvSpPr txBox="1"/>
          <p:nvPr/>
        </p:nvSpPr>
        <p:spPr>
          <a:xfrm>
            <a:off x="9740941" y="128313"/>
            <a:ext cx="233400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 sz="10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LAST UPDATE: 2026-08-31 15:21 </a:t>
            </a:r>
            <a:endParaRPr kumimoji="1" lang="ja-JP" altLang="en-US" sz="10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412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83C9937-B66E-B901-2DC0-D52FF6C74FB0}"/>
              </a:ext>
            </a:extLst>
          </p:cNvPr>
          <p:cNvSpPr/>
          <p:nvPr/>
        </p:nvSpPr>
        <p:spPr>
          <a:xfrm>
            <a:off x="193517" y="4097176"/>
            <a:ext cx="11956134" cy="2703675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  <a:shade val="30000"/>
                  <a:satMod val="115000"/>
                </a:schemeClr>
              </a:gs>
              <a:gs pos="50000">
                <a:schemeClr val="bg1">
                  <a:lumMod val="65000"/>
                  <a:shade val="67500"/>
                  <a:satMod val="115000"/>
                </a:schemeClr>
              </a:gs>
              <a:gs pos="100000">
                <a:schemeClr val="bg1">
                  <a:lumMod val="6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9F8EAF22-1623-F358-2CAA-86E4C59E26B1}"/>
              </a:ext>
            </a:extLst>
          </p:cNvPr>
          <p:cNvSpPr/>
          <p:nvPr/>
        </p:nvSpPr>
        <p:spPr>
          <a:xfrm>
            <a:off x="175775" y="630261"/>
            <a:ext cx="11973876" cy="2798154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  <a:shade val="30000"/>
                  <a:satMod val="115000"/>
                </a:schemeClr>
              </a:gs>
              <a:gs pos="50000">
                <a:schemeClr val="bg1">
                  <a:lumMod val="65000"/>
                  <a:shade val="67500"/>
                  <a:satMod val="115000"/>
                </a:schemeClr>
              </a:gs>
              <a:gs pos="100000">
                <a:schemeClr val="bg1">
                  <a:lumMod val="6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36A4AA7-613D-5CE4-D5E7-8E99D54796FA}"/>
              </a:ext>
            </a:extLst>
          </p:cNvPr>
          <p:cNvSpPr/>
          <p:nvPr/>
        </p:nvSpPr>
        <p:spPr>
          <a:xfrm>
            <a:off x="107641" y="3983110"/>
            <a:ext cx="11957890" cy="2695648"/>
          </a:xfrm>
          <a:prstGeom prst="rect">
            <a:avLst/>
          </a:prstGeom>
          <a:solidFill>
            <a:schemeClr val="bg1"/>
          </a:solidFill>
          <a:ln w="381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1E3D1085-5286-18D9-5F56-1504E19B7E09}"/>
              </a:ext>
            </a:extLst>
          </p:cNvPr>
          <p:cNvSpPr/>
          <p:nvPr/>
        </p:nvSpPr>
        <p:spPr>
          <a:xfrm>
            <a:off x="3742171" y="4503151"/>
            <a:ext cx="4659234" cy="10718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A1F5462-76D7-182A-D998-0A7749C78703}"/>
              </a:ext>
            </a:extLst>
          </p:cNvPr>
          <p:cNvSpPr txBox="1"/>
          <p:nvPr/>
        </p:nvSpPr>
        <p:spPr>
          <a:xfrm>
            <a:off x="103818" y="163661"/>
            <a:ext cx="64626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OPERATING TIME </a:t>
            </a:r>
            <a:r>
              <a:rPr lang="ja-JP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稼働時間</a:t>
            </a:r>
            <a:endParaRPr kumimoji="1" lang="ja-JP" altLang="en-US" sz="1400" dirty="0">
              <a:solidFill>
                <a:schemeClr val="tx1">
                  <a:lumMod val="65000"/>
                  <a:lumOff val="35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888854E-0E3E-785E-6C9E-0C3BA9BECC4E}"/>
              </a:ext>
            </a:extLst>
          </p:cNvPr>
          <p:cNvSpPr/>
          <p:nvPr/>
        </p:nvSpPr>
        <p:spPr>
          <a:xfrm>
            <a:off x="103818" y="504531"/>
            <a:ext cx="11957890" cy="2798153"/>
          </a:xfrm>
          <a:prstGeom prst="rect">
            <a:avLst/>
          </a:prstGeom>
          <a:solidFill>
            <a:schemeClr val="bg1"/>
          </a:solidFill>
          <a:ln w="381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95DE211-0137-2F11-D1B1-1A1AD4B0B1A9}"/>
              </a:ext>
            </a:extLst>
          </p:cNvPr>
          <p:cNvSpPr/>
          <p:nvPr/>
        </p:nvSpPr>
        <p:spPr>
          <a:xfrm>
            <a:off x="2475438" y="865595"/>
            <a:ext cx="3412682" cy="1037951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46298EC-F017-CF51-6037-5F9F9D5BC59D}"/>
              </a:ext>
            </a:extLst>
          </p:cNvPr>
          <p:cNvSpPr/>
          <p:nvPr/>
        </p:nvSpPr>
        <p:spPr>
          <a:xfrm>
            <a:off x="5815339" y="865595"/>
            <a:ext cx="3857787" cy="1037951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ABDF172-C200-A69A-705D-83E2476078B6}"/>
              </a:ext>
            </a:extLst>
          </p:cNvPr>
          <p:cNvSpPr txBox="1"/>
          <p:nvPr/>
        </p:nvSpPr>
        <p:spPr>
          <a:xfrm>
            <a:off x="2469136" y="1061404"/>
            <a:ext cx="16246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 dirty="0">
                <a:solidFill>
                  <a:schemeClr val="bg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145</a:t>
            </a:r>
            <a:r>
              <a:rPr kumimoji="1" lang="en-US" altLang="ja-JP" b="1" dirty="0">
                <a:solidFill>
                  <a:schemeClr val="bg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 min</a:t>
            </a:r>
          </a:p>
          <a:p>
            <a:r>
              <a:rPr lang="en-US" altLang="ja-JP" b="1" dirty="0">
                <a:solidFill>
                  <a:schemeClr val="bg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46 %</a:t>
            </a:r>
            <a:endParaRPr kumimoji="1" lang="ja-JP" altLang="en-US" b="1" dirty="0">
              <a:solidFill>
                <a:schemeClr val="bg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6471D7B-17E3-5B65-F805-7D5FAF046058}"/>
              </a:ext>
            </a:extLst>
          </p:cNvPr>
          <p:cNvSpPr txBox="1"/>
          <p:nvPr/>
        </p:nvSpPr>
        <p:spPr>
          <a:xfrm>
            <a:off x="646296" y="558595"/>
            <a:ext cx="14801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6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DAY SHIFT</a:t>
            </a:r>
            <a:endParaRPr kumimoji="1" lang="ja-JP" altLang="en-US" sz="16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5A768F3-80E7-5017-B57A-E676FA3BA045}"/>
              </a:ext>
            </a:extLst>
          </p:cNvPr>
          <p:cNvSpPr txBox="1"/>
          <p:nvPr/>
        </p:nvSpPr>
        <p:spPr>
          <a:xfrm>
            <a:off x="8048450" y="1061404"/>
            <a:ext cx="16246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 b="1" dirty="0">
                <a:solidFill>
                  <a:schemeClr val="bg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156</a:t>
            </a:r>
            <a:r>
              <a:rPr kumimoji="1" lang="en-US" altLang="ja-JP" b="1" dirty="0">
                <a:solidFill>
                  <a:schemeClr val="bg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 min</a:t>
            </a:r>
          </a:p>
          <a:p>
            <a:pPr algn="r"/>
            <a:r>
              <a:rPr lang="en-US" altLang="ja-JP" b="1" dirty="0">
                <a:solidFill>
                  <a:schemeClr val="bg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54 %</a:t>
            </a:r>
            <a:endParaRPr kumimoji="1" lang="ja-JP" altLang="en-US" b="1" dirty="0">
              <a:solidFill>
                <a:schemeClr val="bg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045F0D5-8FDD-7BC7-B1EF-ADAFF019C852}"/>
              </a:ext>
            </a:extLst>
          </p:cNvPr>
          <p:cNvSpPr txBox="1"/>
          <p:nvPr/>
        </p:nvSpPr>
        <p:spPr>
          <a:xfrm>
            <a:off x="10039067" y="556534"/>
            <a:ext cx="16360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6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NIGHT SHIFT</a:t>
            </a:r>
            <a:endParaRPr kumimoji="1" lang="ja-JP" altLang="en-US" sz="16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graphicFrame>
        <p:nvGraphicFramePr>
          <p:cNvPr id="15" name="表 14">
            <a:extLst>
              <a:ext uri="{FF2B5EF4-FFF2-40B4-BE49-F238E27FC236}">
                <a16:creationId xmlns:a16="http://schemas.microsoft.com/office/drawing/2014/main" id="{9CCB2A98-0A03-F8C6-B05D-9681F29C6A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8845096"/>
              </p:ext>
            </p:extLst>
          </p:nvPr>
        </p:nvGraphicFramePr>
        <p:xfrm>
          <a:off x="2464994" y="2205750"/>
          <a:ext cx="7185562" cy="942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898252">
                  <a:extLst>
                    <a:ext uri="{9D8B030D-6E8A-4147-A177-3AD203B41FA5}">
                      <a16:colId xmlns:a16="http://schemas.microsoft.com/office/drawing/2014/main" val="3542659806"/>
                    </a:ext>
                  </a:extLst>
                </a:gridCol>
                <a:gridCol w="1047885">
                  <a:extLst>
                    <a:ext uri="{9D8B030D-6E8A-4147-A177-3AD203B41FA5}">
                      <a16:colId xmlns:a16="http://schemas.microsoft.com/office/drawing/2014/main" val="1074413920"/>
                    </a:ext>
                  </a:extLst>
                </a:gridCol>
                <a:gridCol w="1047885">
                  <a:extLst>
                    <a:ext uri="{9D8B030D-6E8A-4147-A177-3AD203B41FA5}">
                      <a16:colId xmlns:a16="http://schemas.microsoft.com/office/drawing/2014/main" val="188364501"/>
                    </a:ext>
                  </a:extLst>
                </a:gridCol>
                <a:gridCol w="1047885">
                  <a:extLst>
                    <a:ext uri="{9D8B030D-6E8A-4147-A177-3AD203B41FA5}">
                      <a16:colId xmlns:a16="http://schemas.microsoft.com/office/drawing/2014/main" val="3123303698"/>
                    </a:ext>
                  </a:extLst>
                </a:gridCol>
                <a:gridCol w="1047885">
                  <a:extLst>
                    <a:ext uri="{9D8B030D-6E8A-4147-A177-3AD203B41FA5}">
                      <a16:colId xmlns:a16="http://schemas.microsoft.com/office/drawing/2014/main" val="1716167615"/>
                    </a:ext>
                  </a:extLst>
                </a:gridCol>
                <a:gridCol w="1047885">
                  <a:extLst>
                    <a:ext uri="{9D8B030D-6E8A-4147-A177-3AD203B41FA5}">
                      <a16:colId xmlns:a16="http://schemas.microsoft.com/office/drawing/2014/main" val="1994325327"/>
                    </a:ext>
                  </a:extLst>
                </a:gridCol>
                <a:gridCol w="1047885">
                  <a:extLst>
                    <a:ext uri="{9D8B030D-6E8A-4147-A177-3AD203B41FA5}">
                      <a16:colId xmlns:a16="http://schemas.microsoft.com/office/drawing/2014/main" val="3844872914"/>
                    </a:ext>
                  </a:extLst>
                </a:gridCol>
              </a:tblGrid>
              <a:tr h="314120"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Fri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Mon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Tue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Wed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Thu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Fri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2724192"/>
                  </a:ext>
                </a:extLst>
              </a:tr>
              <a:tr h="31412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1" dirty="0">
                          <a:solidFill>
                            <a:schemeClr val="bg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DAY</a:t>
                      </a:r>
                      <a:endParaRPr kumimoji="1" lang="ja-JP" altLang="en-US" sz="1200" b="1" dirty="0">
                        <a:solidFill>
                          <a:schemeClr val="bg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432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454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407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470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0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0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601181801"/>
                  </a:ext>
                </a:extLst>
              </a:tr>
              <a:tr h="31412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1" dirty="0">
                          <a:solidFill>
                            <a:schemeClr val="bg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NIGHT</a:t>
                      </a:r>
                      <a:endParaRPr kumimoji="1" lang="ja-JP" altLang="en-US" sz="1200" b="1" dirty="0">
                        <a:solidFill>
                          <a:schemeClr val="bg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447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430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442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156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0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0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2191600"/>
                  </a:ext>
                </a:extLst>
              </a:tr>
            </a:tbl>
          </a:graphicData>
        </a:graphic>
      </p:graphicFrame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B6EAC6A-A5AE-9F09-9064-10E8BE611AA8}"/>
              </a:ext>
            </a:extLst>
          </p:cNvPr>
          <p:cNvSpPr txBox="1"/>
          <p:nvPr/>
        </p:nvSpPr>
        <p:spPr>
          <a:xfrm>
            <a:off x="103817" y="3632430"/>
            <a:ext cx="64626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TODAY’S PRODUCTION </a:t>
            </a:r>
            <a:r>
              <a:rPr lang="ja-JP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本日の生産状況</a:t>
            </a:r>
            <a:endParaRPr kumimoji="1" lang="ja-JP" altLang="en-US" sz="1400" dirty="0">
              <a:solidFill>
                <a:schemeClr val="tx1">
                  <a:lumMod val="65000"/>
                  <a:lumOff val="35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graphicFrame>
        <p:nvGraphicFramePr>
          <p:cNvPr id="19" name="表 18">
            <a:extLst>
              <a:ext uri="{FF2B5EF4-FFF2-40B4-BE49-F238E27FC236}">
                <a16:creationId xmlns:a16="http://schemas.microsoft.com/office/drawing/2014/main" id="{58B3D841-63BD-1C36-165A-FA3DA0E2D7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5076754"/>
              </p:ext>
            </p:extLst>
          </p:nvPr>
        </p:nvGraphicFramePr>
        <p:xfrm>
          <a:off x="400832" y="4611402"/>
          <a:ext cx="2806284" cy="708891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935428">
                  <a:extLst>
                    <a:ext uri="{9D8B030D-6E8A-4147-A177-3AD203B41FA5}">
                      <a16:colId xmlns:a16="http://schemas.microsoft.com/office/drawing/2014/main" val="188364501"/>
                    </a:ext>
                  </a:extLst>
                </a:gridCol>
                <a:gridCol w="935428">
                  <a:extLst>
                    <a:ext uri="{9D8B030D-6E8A-4147-A177-3AD203B41FA5}">
                      <a16:colId xmlns:a16="http://schemas.microsoft.com/office/drawing/2014/main" val="3123303698"/>
                    </a:ext>
                  </a:extLst>
                </a:gridCol>
                <a:gridCol w="935428">
                  <a:extLst>
                    <a:ext uri="{9D8B030D-6E8A-4147-A177-3AD203B41FA5}">
                      <a16:colId xmlns:a16="http://schemas.microsoft.com/office/drawing/2014/main" val="1716167615"/>
                    </a:ext>
                  </a:extLst>
                </a:gridCol>
              </a:tblGrid>
              <a:tr h="317272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実  績</a:t>
                      </a:r>
                      <a:endParaRPr kumimoji="1" lang="en-US" altLang="ja-JP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目  標</a:t>
                      </a:r>
                      <a:endParaRPr kumimoji="1" lang="en-US" altLang="ja-JP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達成率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2724192"/>
                  </a:ext>
                </a:extLst>
              </a:tr>
              <a:tr h="391619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12,535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13,500</a:t>
                      </a:r>
                      <a:endParaRPr kumimoji="1" lang="ja-JP" altLang="en-US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83%</a:t>
                      </a:r>
                      <a:endParaRPr kumimoji="1" lang="ja-JP" altLang="en-US" sz="16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1181801"/>
                  </a:ext>
                </a:extLst>
              </a:tr>
            </a:tbl>
          </a:graphicData>
        </a:graphic>
      </p:graphicFrame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AC28A90C-E78E-F694-E9B2-31CF96BCF230}"/>
              </a:ext>
            </a:extLst>
          </p:cNvPr>
          <p:cNvSpPr/>
          <p:nvPr/>
        </p:nvSpPr>
        <p:spPr>
          <a:xfrm>
            <a:off x="3734105" y="4504579"/>
            <a:ext cx="5399680" cy="1070721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A98BA035-FCD3-4C1B-5983-7D97005EED64}"/>
              </a:ext>
            </a:extLst>
          </p:cNvPr>
          <p:cNvCxnSpPr>
            <a:cxnSpLocks/>
          </p:cNvCxnSpPr>
          <p:nvPr/>
        </p:nvCxnSpPr>
        <p:spPr>
          <a:xfrm>
            <a:off x="5889007" y="4503151"/>
            <a:ext cx="0" cy="1071819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5A1B9551-DFD0-3479-9F98-502500C83DF4}"/>
              </a:ext>
            </a:extLst>
          </p:cNvPr>
          <p:cNvCxnSpPr>
            <a:cxnSpLocks/>
          </p:cNvCxnSpPr>
          <p:nvPr/>
        </p:nvCxnSpPr>
        <p:spPr>
          <a:xfrm>
            <a:off x="4806361" y="4503151"/>
            <a:ext cx="0" cy="1071819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FC06633C-B0F5-C9CC-4E4C-E4F52BA20D58}"/>
              </a:ext>
            </a:extLst>
          </p:cNvPr>
          <p:cNvCxnSpPr>
            <a:cxnSpLocks/>
          </p:cNvCxnSpPr>
          <p:nvPr/>
        </p:nvCxnSpPr>
        <p:spPr>
          <a:xfrm>
            <a:off x="6969007" y="4507003"/>
            <a:ext cx="0" cy="1071819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3FCF835-A8BE-F5DF-597D-C87AD1EBCF8C}"/>
              </a:ext>
            </a:extLst>
          </p:cNvPr>
          <p:cNvSpPr txBox="1"/>
          <p:nvPr/>
        </p:nvSpPr>
        <p:spPr>
          <a:xfrm>
            <a:off x="4507425" y="4292215"/>
            <a:ext cx="706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25%</a:t>
            </a:r>
            <a:endParaRPr kumimoji="1" lang="ja-JP" altLang="en-US" sz="11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18EAD41C-2793-E747-3EA4-EA3CA0D3644C}"/>
              </a:ext>
            </a:extLst>
          </p:cNvPr>
          <p:cNvSpPr txBox="1"/>
          <p:nvPr/>
        </p:nvSpPr>
        <p:spPr>
          <a:xfrm>
            <a:off x="3427953" y="4302096"/>
            <a:ext cx="706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0%</a:t>
            </a:r>
            <a:endParaRPr kumimoji="1" lang="ja-JP" altLang="en-US" sz="11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4F3539A-4A4A-D0ED-D9EE-258E5C40DDE2}"/>
              </a:ext>
            </a:extLst>
          </p:cNvPr>
          <p:cNvSpPr txBox="1"/>
          <p:nvPr/>
        </p:nvSpPr>
        <p:spPr>
          <a:xfrm>
            <a:off x="6640345" y="4295539"/>
            <a:ext cx="706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75%</a:t>
            </a:r>
            <a:endParaRPr kumimoji="1" lang="ja-JP" altLang="en-US" sz="11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4A9ABF82-478C-1AF0-3186-8B668CFD6F67}"/>
              </a:ext>
            </a:extLst>
          </p:cNvPr>
          <p:cNvSpPr txBox="1"/>
          <p:nvPr/>
        </p:nvSpPr>
        <p:spPr>
          <a:xfrm>
            <a:off x="5581140" y="4294518"/>
            <a:ext cx="706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50%</a:t>
            </a:r>
            <a:endParaRPr kumimoji="1" lang="ja-JP" altLang="en-US" sz="11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C10EBBCC-713B-1570-57EB-5A43E34264D5}"/>
              </a:ext>
            </a:extLst>
          </p:cNvPr>
          <p:cNvSpPr txBox="1"/>
          <p:nvPr/>
        </p:nvSpPr>
        <p:spPr>
          <a:xfrm>
            <a:off x="7659092" y="4280566"/>
            <a:ext cx="8297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100%</a:t>
            </a:r>
            <a:endParaRPr kumimoji="1" lang="ja-JP" altLang="en-US" sz="11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B288B3DB-9BC9-1FC6-42C8-70CCDF749A67}"/>
              </a:ext>
            </a:extLst>
          </p:cNvPr>
          <p:cNvSpPr txBox="1"/>
          <p:nvPr/>
        </p:nvSpPr>
        <p:spPr>
          <a:xfrm>
            <a:off x="9714474" y="25207"/>
            <a:ext cx="233400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LAST UPDATE: 2026-08-31 15:21 </a:t>
            </a:r>
            <a:endParaRPr kumimoji="1" lang="ja-JP" altLang="en-US" sz="1050" dirty="0">
              <a:solidFill>
                <a:schemeClr val="tx1">
                  <a:lumMod val="65000"/>
                  <a:lumOff val="35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pic>
        <p:nvPicPr>
          <p:cNvPr id="8" name="図 7" descr="吹き出しイラスト｜無料イラスト・フリー素材なら「イラストAC」">
            <a:extLst>
              <a:ext uri="{FF2B5EF4-FFF2-40B4-BE49-F238E27FC236}">
                <a16:creationId xmlns:a16="http://schemas.microsoft.com/office/drawing/2014/main" id="{C0D58FF2-874D-E1EB-254A-080714E48A6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036" t="17354" r="71241" b="55671"/>
          <a:stretch>
            <a:fillRect/>
          </a:stretch>
        </p:blipFill>
        <p:spPr>
          <a:xfrm flipH="1">
            <a:off x="10835175" y="4301740"/>
            <a:ext cx="962016" cy="730635"/>
          </a:xfrm>
          <a:prstGeom prst="rect">
            <a:avLst/>
          </a:prstGeom>
        </p:spPr>
      </p:pic>
      <p:pic>
        <p:nvPicPr>
          <p:cNvPr id="36" name="図 35" descr="Épinglé par Marga Díaz-Madroñero Rodríguez sur CRAFT BUNDLES">
            <a:extLst>
              <a:ext uri="{FF2B5EF4-FFF2-40B4-BE49-F238E27FC236}">
                <a16:creationId xmlns:a16="http://schemas.microsoft.com/office/drawing/2014/main" id="{039E8649-9ECC-716C-5213-7FE36DB5F89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6103" b="15348"/>
          <a:stretch>
            <a:fillRect/>
          </a:stretch>
        </p:blipFill>
        <p:spPr>
          <a:xfrm>
            <a:off x="10957646" y="4432545"/>
            <a:ext cx="721854" cy="494822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C37BDB4-0CD1-D98A-3AAA-4F9F9EDAF6C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22" t="2599" r="18442" b="1444"/>
          <a:stretch>
            <a:fillRect/>
          </a:stretch>
        </p:blipFill>
        <p:spPr>
          <a:xfrm>
            <a:off x="9612735" y="4353799"/>
            <a:ext cx="1432397" cy="2180493"/>
          </a:xfrm>
          <a:prstGeom prst="rect">
            <a:avLst/>
          </a:prstGeom>
        </p:spPr>
      </p:pic>
      <p:pic>
        <p:nvPicPr>
          <p:cNvPr id="37" name="図 36">
            <a:extLst>
              <a:ext uri="{FF2B5EF4-FFF2-40B4-BE49-F238E27FC236}">
                <a16:creationId xmlns:a16="http://schemas.microsoft.com/office/drawing/2014/main" id="{D530D17C-EA53-D91E-B09A-7F63FAD82B0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04" r="10617" b="14717"/>
          <a:stretch>
            <a:fillRect/>
          </a:stretch>
        </p:blipFill>
        <p:spPr>
          <a:xfrm>
            <a:off x="10535461" y="2090256"/>
            <a:ext cx="664369" cy="83011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39" name="図 38">
            <a:extLst>
              <a:ext uri="{FF2B5EF4-FFF2-40B4-BE49-F238E27FC236}">
                <a16:creationId xmlns:a16="http://schemas.microsoft.com/office/drawing/2014/main" id="{0C079C47-265D-0227-5B74-463066D105A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19" r="5570" b="14699"/>
          <a:stretch>
            <a:fillRect/>
          </a:stretch>
        </p:blipFill>
        <p:spPr>
          <a:xfrm>
            <a:off x="9799409" y="855919"/>
            <a:ext cx="673894" cy="83140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C7D11F10-0227-D5FE-34D3-2310B79ADE9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22" t="4723" r="3558" b="9569"/>
          <a:stretch>
            <a:fillRect/>
          </a:stretch>
        </p:blipFill>
        <p:spPr>
          <a:xfrm>
            <a:off x="11215705" y="864282"/>
            <a:ext cx="659606" cy="83011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45" name="図 44">
            <a:extLst>
              <a:ext uri="{FF2B5EF4-FFF2-40B4-BE49-F238E27FC236}">
                <a16:creationId xmlns:a16="http://schemas.microsoft.com/office/drawing/2014/main" id="{9AF8F646-500B-FF8E-B620-AA39561E522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80" t="5584" r="5873"/>
          <a:stretch>
            <a:fillRect/>
          </a:stretch>
        </p:blipFill>
        <p:spPr>
          <a:xfrm>
            <a:off x="9826176" y="2090613"/>
            <a:ext cx="661987" cy="83011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F563D668-13B1-A2ED-82D8-562902AD594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95" r="5449" b="7510"/>
          <a:stretch>
            <a:fillRect/>
          </a:stretch>
        </p:blipFill>
        <p:spPr>
          <a:xfrm>
            <a:off x="10515405" y="865595"/>
            <a:ext cx="649778" cy="82173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49" name="図 48">
            <a:extLst>
              <a:ext uri="{FF2B5EF4-FFF2-40B4-BE49-F238E27FC236}">
                <a16:creationId xmlns:a16="http://schemas.microsoft.com/office/drawing/2014/main" id="{A8F7C139-4D4A-E090-5677-AF9CCAFF726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57" t="4725" r="18754" b="21081"/>
          <a:stretch>
            <a:fillRect/>
          </a:stretch>
        </p:blipFill>
        <p:spPr>
          <a:xfrm>
            <a:off x="1024514" y="865595"/>
            <a:ext cx="645286" cy="82173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51" name="図 50">
            <a:extLst>
              <a:ext uri="{FF2B5EF4-FFF2-40B4-BE49-F238E27FC236}">
                <a16:creationId xmlns:a16="http://schemas.microsoft.com/office/drawing/2014/main" id="{3D3CA826-AC82-C7EB-8C7A-30B26759F51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213" t="5840" r="17166" b="22885"/>
          <a:stretch>
            <a:fillRect/>
          </a:stretch>
        </p:blipFill>
        <p:spPr>
          <a:xfrm>
            <a:off x="312287" y="865594"/>
            <a:ext cx="667326" cy="821733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55" name="図 54">
            <a:extLst>
              <a:ext uri="{FF2B5EF4-FFF2-40B4-BE49-F238E27FC236}">
                <a16:creationId xmlns:a16="http://schemas.microsoft.com/office/drawing/2014/main" id="{5D93DA9A-E35E-2C14-801D-A862F63982B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802" y="2036424"/>
            <a:ext cx="637550" cy="82173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300D88AB-3E8A-7056-4100-E598CA528B6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80" r="10371"/>
          <a:stretch>
            <a:fillRect/>
          </a:stretch>
        </p:blipFill>
        <p:spPr>
          <a:xfrm>
            <a:off x="319865" y="2036424"/>
            <a:ext cx="637550" cy="82173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53" name="図 52">
            <a:extLst>
              <a:ext uri="{FF2B5EF4-FFF2-40B4-BE49-F238E27FC236}">
                <a16:creationId xmlns:a16="http://schemas.microsoft.com/office/drawing/2014/main" id="{877791DE-E174-B6D8-F953-A32EB12FD8D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66" t="7389" r="14631" b="19292"/>
          <a:stretch>
            <a:fillRect/>
          </a:stretch>
        </p:blipFill>
        <p:spPr>
          <a:xfrm>
            <a:off x="1702330" y="865595"/>
            <a:ext cx="667326" cy="82173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E1769FC6-0F08-6190-B346-5EFD3B42C01A}"/>
              </a:ext>
            </a:extLst>
          </p:cNvPr>
          <p:cNvSpPr txBox="1"/>
          <p:nvPr/>
        </p:nvSpPr>
        <p:spPr>
          <a:xfrm>
            <a:off x="4425296" y="628190"/>
            <a:ext cx="264097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EL</a:t>
            </a:r>
            <a:r>
              <a:rPr lang="en-US" altLang="ja-JP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APSED TIME = 3:45</a:t>
            </a:r>
            <a:endParaRPr kumimoji="1" lang="ja-JP" altLang="en-US" sz="1050" dirty="0">
              <a:solidFill>
                <a:schemeClr val="tx1">
                  <a:lumMod val="65000"/>
                  <a:lumOff val="35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F82BE115-074E-E870-B61B-91E8636E53DA}"/>
              </a:ext>
            </a:extLst>
          </p:cNvPr>
          <p:cNvSpPr/>
          <p:nvPr/>
        </p:nvSpPr>
        <p:spPr>
          <a:xfrm>
            <a:off x="6631104" y="2564859"/>
            <a:ext cx="826796" cy="226315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232EC56C-AEDD-5C80-931B-D33D4E85A1DB}"/>
              </a:ext>
            </a:extLst>
          </p:cNvPr>
          <p:cNvSpPr/>
          <p:nvPr/>
        </p:nvSpPr>
        <p:spPr>
          <a:xfrm>
            <a:off x="6628620" y="2861319"/>
            <a:ext cx="826796" cy="226315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1501D227-5025-D9C8-ECA1-E4D1D182FCE9}"/>
              </a:ext>
            </a:extLst>
          </p:cNvPr>
          <p:cNvSpPr txBox="1"/>
          <p:nvPr/>
        </p:nvSpPr>
        <p:spPr>
          <a:xfrm>
            <a:off x="366729" y="4322269"/>
            <a:ext cx="19243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6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経過時間生産数</a:t>
            </a:r>
            <a:endParaRPr kumimoji="1" lang="ja-JP" altLang="en-US" sz="16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03394706-E65C-D893-5030-49B8E5D19484}"/>
              </a:ext>
            </a:extLst>
          </p:cNvPr>
          <p:cNvSpPr txBox="1"/>
          <p:nvPr/>
        </p:nvSpPr>
        <p:spPr>
          <a:xfrm>
            <a:off x="346007" y="5458042"/>
            <a:ext cx="19243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6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累積生産数</a:t>
            </a:r>
            <a:endParaRPr kumimoji="1" lang="ja-JP" altLang="en-US" sz="16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cxnSp>
        <p:nvCxnSpPr>
          <p:cNvPr id="80" name="直線コネクタ 79">
            <a:extLst>
              <a:ext uri="{FF2B5EF4-FFF2-40B4-BE49-F238E27FC236}">
                <a16:creationId xmlns:a16="http://schemas.microsoft.com/office/drawing/2014/main" id="{B2DDC763-5AFF-24D3-C4DD-F93D060A3A12}"/>
              </a:ext>
            </a:extLst>
          </p:cNvPr>
          <p:cNvCxnSpPr>
            <a:cxnSpLocks/>
          </p:cNvCxnSpPr>
          <p:nvPr/>
        </p:nvCxnSpPr>
        <p:spPr>
          <a:xfrm>
            <a:off x="8047328" y="4503150"/>
            <a:ext cx="0" cy="1071819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7E359152-A79C-8DB2-9899-F8AC5569A64D}"/>
              </a:ext>
            </a:extLst>
          </p:cNvPr>
          <p:cNvSpPr txBox="1"/>
          <p:nvPr/>
        </p:nvSpPr>
        <p:spPr>
          <a:xfrm>
            <a:off x="8684638" y="4280565"/>
            <a:ext cx="8297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b="1" dirty="0">
                <a:solidFill>
                  <a:schemeClr val="bg2">
                    <a:lumMod val="50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125%</a:t>
            </a:r>
            <a:endParaRPr kumimoji="1" lang="ja-JP" altLang="en-US" sz="1100" b="1" dirty="0">
              <a:solidFill>
                <a:schemeClr val="bg2">
                  <a:lumMod val="50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A8D1A43A-AAE6-737B-F96A-2262EF274021}"/>
              </a:ext>
            </a:extLst>
          </p:cNvPr>
          <p:cNvSpPr txBox="1"/>
          <p:nvPr/>
        </p:nvSpPr>
        <p:spPr>
          <a:xfrm>
            <a:off x="4705764" y="4047746"/>
            <a:ext cx="264097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EL</a:t>
            </a:r>
            <a:r>
              <a:rPr lang="en-US" altLang="ja-JP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APSED TIME = 3:45</a:t>
            </a:r>
            <a:endParaRPr kumimoji="1" lang="ja-JP" altLang="en-US" sz="1050" dirty="0">
              <a:solidFill>
                <a:schemeClr val="tx1">
                  <a:lumMod val="65000"/>
                  <a:lumOff val="35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graphicFrame>
        <p:nvGraphicFramePr>
          <p:cNvPr id="87" name="表 86">
            <a:extLst>
              <a:ext uri="{FF2B5EF4-FFF2-40B4-BE49-F238E27FC236}">
                <a16:creationId xmlns:a16="http://schemas.microsoft.com/office/drawing/2014/main" id="{4FE12E1D-A6BB-AFD9-FAA4-73D1F6491E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2304785"/>
              </p:ext>
            </p:extLst>
          </p:nvPr>
        </p:nvGraphicFramePr>
        <p:xfrm>
          <a:off x="380110" y="5749908"/>
          <a:ext cx="2806284" cy="708891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935428">
                  <a:extLst>
                    <a:ext uri="{9D8B030D-6E8A-4147-A177-3AD203B41FA5}">
                      <a16:colId xmlns:a16="http://schemas.microsoft.com/office/drawing/2014/main" val="188364501"/>
                    </a:ext>
                  </a:extLst>
                </a:gridCol>
                <a:gridCol w="935428">
                  <a:extLst>
                    <a:ext uri="{9D8B030D-6E8A-4147-A177-3AD203B41FA5}">
                      <a16:colId xmlns:a16="http://schemas.microsoft.com/office/drawing/2014/main" val="3123303698"/>
                    </a:ext>
                  </a:extLst>
                </a:gridCol>
                <a:gridCol w="935428">
                  <a:extLst>
                    <a:ext uri="{9D8B030D-6E8A-4147-A177-3AD203B41FA5}">
                      <a16:colId xmlns:a16="http://schemas.microsoft.com/office/drawing/2014/main" val="1716167615"/>
                    </a:ext>
                  </a:extLst>
                </a:gridCol>
              </a:tblGrid>
              <a:tr h="317272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実  績</a:t>
                      </a:r>
                      <a:endParaRPr kumimoji="1" lang="en-US" altLang="ja-JP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目  標</a:t>
                      </a:r>
                      <a:endParaRPr kumimoji="1" lang="en-US" altLang="ja-JP" sz="14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達成率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2724192"/>
                  </a:ext>
                </a:extLst>
              </a:tr>
              <a:tr h="391619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12,535</a:t>
                      </a:r>
                      <a:endParaRPr kumimoji="1" lang="ja-JP" altLang="en-US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300,000</a:t>
                      </a:r>
                      <a:endParaRPr kumimoji="1" lang="ja-JP" altLang="en-US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5%</a:t>
                      </a:r>
                      <a:endParaRPr kumimoji="1" lang="ja-JP" altLang="en-US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1181801"/>
                  </a:ext>
                </a:extLst>
              </a:tr>
            </a:tbl>
          </a:graphicData>
        </a:graphic>
      </p:graphicFrame>
      <p:graphicFrame>
        <p:nvGraphicFramePr>
          <p:cNvPr id="88" name="表 87">
            <a:extLst>
              <a:ext uri="{FF2B5EF4-FFF2-40B4-BE49-F238E27FC236}">
                <a16:creationId xmlns:a16="http://schemas.microsoft.com/office/drawing/2014/main" id="{99AAC52B-FFDE-DA93-D026-C4BF9D0F9E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734387"/>
              </p:ext>
            </p:extLst>
          </p:nvPr>
        </p:nvGraphicFramePr>
        <p:xfrm>
          <a:off x="3742171" y="5877492"/>
          <a:ext cx="5399680" cy="6282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079936">
                  <a:extLst>
                    <a:ext uri="{9D8B030D-6E8A-4147-A177-3AD203B41FA5}">
                      <a16:colId xmlns:a16="http://schemas.microsoft.com/office/drawing/2014/main" val="1074413920"/>
                    </a:ext>
                  </a:extLst>
                </a:gridCol>
                <a:gridCol w="1079936">
                  <a:extLst>
                    <a:ext uri="{9D8B030D-6E8A-4147-A177-3AD203B41FA5}">
                      <a16:colId xmlns:a16="http://schemas.microsoft.com/office/drawing/2014/main" val="188364501"/>
                    </a:ext>
                  </a:extLst>
                </a:gridCol>
                <a:gridCol w="1079936">
                  <a:extLst>
                    <a:ext uri="{9D8B030D-6E8A-4147-A177-3AD203B41FA5}">
                      <a16:colId xmlns:a16="http://schemas.microsoft.com/office/drawing/2014/main" val="3123303698"/>
                    </a:ext>
                  </a:extLst>
                </a:gridCol>
                <a:gridCol w="1079936">
                  <a:extLst>
                    <a:ext uri="{9D8B030D-6E8A-4147-A177-3AD203B41FA5}">
                      <a16:colId xmlns:a16="http://schemas.microsoft.com/office/drawing/2014/main" val="1716167615"/>
                    </a:ext>
                  </a:extLst>
                </a:gridCol>
                <a:gridCol w="1079936">
                  <a:extLst>
                    <a:ext uri="{9D8B030D-6E8A-4147-A177-3AD203B41FA5}">
                      <a16:colId xmlns:a16="http://schemas.microsoft.com/office/drawing/2014/main" val="1994325327"/>
                    </a:ext>
                  </a:extLst>
                </a:gridCol>
              </a:tblGrid>
              <a:tr h="3141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MC557</a:t>
                      </a:r>
                      <a:endParaRPr kumimoji="1" lang="ja-JP" altLang="en-US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MC560</a:t>
                      </a:r>
                      <a:endParaRPr kumimoji="1" lang="ja-JP" altLang="en-US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MC577</a:t>
                      </a:r>
                      <a:endParaRPr kumimoji="1" lang="ja-JP" altLang="en-US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MC595</a:t>
                      </a:r>
                      <a:endParaRPr kumimoji="1" lang="ja-JP" altLang="en-US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MC603</a:t>
                      </a:r>
                      <a:endParaRPr kumimoji="1" lang="ja-JP" altLang="en-US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2724192"/>
                  </a:ext>
                </a:extLst>
              </a:tr>
              <a:tr h="31412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3,457</a:t>
                      </a:r>
                      <a:endParaRPr kumimoji="1" lang="ja-JP" altLang="en-US" sz="12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3,123</a:t>
                      </a:r>
                      <a:endParaRPr kumimoji="1" lang="ja-JP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2,544</a:t>
                      </a:r>
                      <a:endParaRPr kumimoji="1" lang="ja-JP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957</a:t>
                      </a:r>
                      <a:endParaRPr kumimoji="1" lang="ja-JP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2,884</a:t>
                      </a:r>
                      <a:endParaRPr kumimoji="1" lang="ja-JP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601181801"/>
                  </a:ext>
                </a:extLst>
              </a:tr>
            </a:tbl>
          </a:graphicData>
        </a:graphic>
      </p:graphicFrame>
      <p:sp>
        <p:nvSpPr>
          <p:cNvPr id="89" name="テキスト ボックス 88">
            <a:extLst>
              <a:ext uri="{FF2B5EF4-FFF2-40B4-BE49-F238E27FC236}">
                <a16:creationId xmlns:a16="http://schemas.microsoft.com/office/drawing/2014/main" id="{89ED2067-70E5-C0F7-EDA1-9DCECFEAB5C4}"/>
              </a:ext>
            </a:extLst>
          </p:cNvPr>
          <p:cNvSpPr txBox="1"/>
          <p:nvPr/>
        </p:nvSpPr>
        <p:spPr>
          <a:xfrm>
            <a:off x="2400524" y="1981551"/>
            <a:ext cx="2640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累積生産数</a:t>
            </a:r>
          </a:p>
        </p:txBody>
      </p:sp>
      <p:sp>
        <p:nvSpPr>
          <p:cNvPr id="90" name="テキスト ボックス 89">
            <a:extLst>
              <a:ext uri="{FF2B5EF4-FFF2-40B4-BE49-F238E27FC236}">
                <a16:creationId xmlns:a16="http://schemas.microsoft.com/office/drawing/2014/main" id="{D849127B-ED8F-03B9-78CB-AB3006C10C49}"/>
              </a:ext>
            </a:extLst>
          </p:cNvPr>
          <p:cNvSpPr txBox="1"/>
          <p:nvPr/>
        </p:nvSpPr>
        <p:spPr>
          <a:xfrm>
            <a:off x="3681955" y="5639126"/>
            <a:ext cx="1432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機械別生産数</a:t>
            </a:r>
            <a:endParaRPr kumimoji="1" lang="ja-JP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91" name="正方形/長方形 90">
            <a:extLst>
              <a:ext uri="{FF2B5EF4-FFF2-40B4-BE49-F238E27FC236}">
                <a16:creationId xmlns:a16="http://schemas.microsoft.com/office/drawing/2014/main" id="{22A10175-E604-02DA-669F-E3A3C4250D6C}"/>
              </a:ext>
            </a:extLst>
          </p:cNvPr>
          <p:cNvSpPr/>
          <p:nvPr/>
        </p:nvSpPr>
        <p:spPr>
          <a:xfrm>
            <a:off x="1390576" y="6107197"/>
            <a:ext cx="826796" cy="303128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6BFC6A50-788F-B8C1-D6F6-99196950F849}"/>
              </a:ext>
            </a:extLst>
          </p:cNvPr>
          <p:cNvSpPr/>
          <p:nvPr/>
        </p:nvSpPr>
        <p:spPr>
          <a:xfrm>
            <a:off x="308054" y="1729384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95" name="正方形/長方形 94">
            <a:extLst>
              <a:ext uri="{FF2B5EF4-FFF2-40B4-BE49-F238E27FC236}">
                <a16:creationId xmlns:a16="http://schemas.microsoft.com/office/drawing/2014/main" id="{0A7DEF6F-4C9C-DAEC-8E09-D6AA146FEA95}"/>
              </a:ext>
            </a:extLst>
          </p:cNvPr>
          <p:cNvSpPr/>
          <p:nvPr/>
        </p:nvSpPr>
        <p:spPr>
          <a:xfrm>
            <a:off x="1002957" y="1729384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96" name="正方形/長方形 95">
            <a:extLst>
              <a:ext uri="{FF2B5EF4-FFF2-40B4-BE49-F238E27FC236}">
                <a16:creationId xmlns:a16="http://schemas.microsoft.com/office/drawing/2014/main" id="{5D8AC10B-98F4-DDC8-C084-3BE867F1E86F}"/>
              </a:ext>
            </a:extLst>
          </p:cNvPr>
          <p:cNvSpPr/>
          <p:nvPr/>
        </p:nvSpPr>
        <p:spPr>
          <a:xfrm>
            <a:off x="1698097" y="1725895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97" name="正方形/長方形 96">
            <a:extLst>
              <a:ext uri="{FF2B5EF4-FFF2-40B4-BE49-F238E27FC236}">
                <a16:creationId xmlns:a16="http://schemas.microsoft.com/office/drawing/2014/main" id="{E0E5164E-0FB9-12E8-450F-85597EA64A6F}"/>
              </a:ext>
            </a:extLst>
          </p:cNvPr>
          <p:cNvSpPr/>
          <p:nvPr/>
        </p:nvSpPr>
        <p:spPr>
          <a:xfrm>
            <a:off x="301069" y="2884789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3A00516B-8E6F-0438-99F0-932495884AF8}"/>
              </a:ext>
            </a:extLst>
          </p:cNvPr>
          <p:cNvSpPr/>
          <p:nvPr/>
        </p:nvSpPr>
        <p:spPr>
          <a:xfrm>
            <a:off x="992797" y="2884789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F1F13337-AC4F-24BB-7EB7-45BAD36C7CB3}"/>
              </a:ext>
            </a:extLst>
          </p:cNvPr>
          <p:cNvSpPr/>
          <p:nvPr/>
        </p:nvSpPr>
        <p:spPr>
          <a:xfrm>
            <a:off x="1697462" y="2881300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0" name="正方形/長方形 99">
            <a:extLst>
              <a:ext uri="{FF2B5EF4-FFF2-40B4-BE49-F238E27FC236}">
                <a16:creationId xmlns:a16="http://schemas.microsoft.com/office/drawing/2014/main" id="{02CCBFF0-1454-DDA6-7C93-ABABC1D8B6C0}"/>
              </a:ext>
            </a:extLst>
          </p:cNvPr>
          <p:cNvSpPr/>
          <p:nvPr/>
        </p:nvSpPr>
        <p:spPr>
          <a:xfrm>
            <a:off x="1696707" y="2034846"/>
            <a:ext cx="671559" cy="821732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1" name="正方形/長方形 100">
            <a:extLst>
              <a:ext uri="{FF2B5EF4-FFF2-40B4-BE49-F238E27FC236}">
                <a16:creationId xmlns:a16="http://schemas.microsoft.com/office/drawing/2014/main" id="{B2F5F130-1670-31EC-70F5-B475F3B1B038}"/>
              </a:ext>
            </a:extLst>
          </p:cNvPr>
          <p:cNvSpPr/>
          <p:nvPr/>
        </p:nvSpPr>
        <p:spPr>
          <a:xfrm>
            <a:off x="9798179" y="1725711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F9DE4E79-3B42-AE83-3CA2-D07B7C7ECDE7}"/>
              </a:ext>
            </a:extLst>
          </p:cNvPr>
          <p:cNvSpPr/>
          <p:nvPr/>
        </p:nvSpPr>
        <p:spPr>
          <a:xfrm>
            <a:off x="10508957" y="1725711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3" name="正方形/長方形 102">
            <a:extLst>
              <a:ext uri="{FF2B5EF4-FFF2-40B4-BE49-F238E27FC236}">
                <a16:creationId xmlns:a16="http://schemas.microsoft.com/office/drawing/2014/main" id="{5053B668-4D15-B262-2D6F-DD04CDB45ACE}"/>
              </a:ext>
            </a:extLst>
          </p:cNvPr>
          <p:cNvSpPr/>
          <p:nvPr/>
        </p:nvSpPr>
        <p:spPr>
          <a:xfrm>
            <a:off x="11210447" y="1722222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CD4D88EE-7901-6742-82FB-7B5015C8E4EC}"/>
              </a:ext>
            </a:extLst>
          </p:cNvPr>
          <p:cNvSpPr/>
          <p:nvPr/>
        </p:nvSpPr>
        <p:spPr>
          <a:xfrm>
            <a:off x="9822550" y="2954603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5" name="正方形/長方形 104">
            <a:extLst>
              <a:ext uri="{FF2B5EF4-FFF2-40B4-BE49-F238E27FC236}">
                <a16:creationId xmlns:a16="http://schemas.microsoft.com/office/drawing/2014/main" id="{CDE5A2C8-F4B9-3D23-C6CD-007BE50FB86E}"/>
              </a:ext>
            </a:extLst>
          </p:cNvPr>
          <p:cNvSpPr/>
          <p:nvPr/>
        </p:nvSpPr>
        <p:spPr>
          <a:xfrm>
            <a:off x="10530153" y="2954603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6" name="正方形/長方形 105">
            <a:extLst>
              <a:ext uri="{FF2B5EF4-FFF2-40B4-BE49-F238E27FC236}">
                <a16:creationId xmlns:a16="http://schemas.microsoft.com/office/drawing/2014/main" id="{53199239-D007-3473-26CE-2F776E2ADC3E}"/>
              </a:ext>
            </a:extLst>
          </p:cNvPr>
          <p:cNvSpPr/>
          <p:nvPr/>
        </p:nvSpPr>
        <p:spPr>
          <a:xfrm>
            <a:off x="11241168" y="2951114"/>
            <a:ext cx="671559" cy="144017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NAME</a:t>
            </a:r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7" name="正方形/長方形 106">
            <a:extLst>
              <a:ext uri="{FF2B5EF4-FFF2-40B4-BE49-F238E27FC236}">
                <a16:creationId xmlns:a16="http://schemas.microsoft.com/office/drawing/2014/main" id="{F7446400-3354-0851-E7D2-FB8A4B5F7278}"/>
              </a:ext>
            </a:extLst>
          </p:cNvPr>
          <p:cNvSpPr/>
          <p:nvPr/>
        </p:nvSpPr>
        <p:spPr>
          <a:xfrm>
            <a:off x="11239641" y="2075399"/>
            <a:ext cx="671559" cy="848776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 dirty="0">
              <a:solidFill>
                <a:schemeClr val="tx1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35500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</TotalTime>
  <Words>508</Words>
  <Application>Microsoft Office PowerPoint</Application>
  <PresentationFormat>ワイド画面</PresentationFormat>
  <Paragraphs>178</Paragraphs>
  <Slides>3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8" baseType="lpstr">
      <vt:lpstr>UD デジタル 教科書体 NP-B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FUMIHIRO MASE</dc:creator>
  <cp:lastModifiedBy>FUMIHIRO MASE</cp:lastModifiedBy>
  <cp:revision>6</cp:revision>
  <dcterms:created xsi:type="dcterms:W3CDTF">2026-05-11T14:31:53Z</dcterms:created>
  <dcterms:modified xsi:type="dcterms:W3CDTF">2026-09-06T01:42:37Z</dcterms:modified>
</cp:coreProperties>
</file>