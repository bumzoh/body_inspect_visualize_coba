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72" r:id="rId3"/>
    <p:sldId id="263" r:id="rId4"/>
    <p:sldId id="267" r:id="rId5"/>
    <p:sldId id="266" r:id="rId6"/>
    <p:sldId id="268" r:id="rId7"/>
    <p:sldId id="269" r:id="rId8"/>
    <p:sldId id="270" r:id="rId9"/>
    <p:sldId id="271" r:id="rId10"/>
    <p:sldId id="256" r:id="rId11"/>
    <p:sldId id="257" r:id="rId12"/>
    <p:sldId id="25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2300" autoAdjust="0"/>
  </p:normalViewPr>
  <p:slideViewPr>
    <p:cSldViewPr snapToGrid="0">
      <p:cViewPr varScale="1">
        <p:scale>
          <a:sx n="101" d="100"/>
          <a:sy n="101" d="100"/>
        </p:scale>
        <p:origin x="10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032D9-50E7-4552-AF78-A4AF4DDE4D9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52D0F-376C-4D15-BC42-A6A8877BE8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65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1B856-DF0A-376B-7AC4-1CAFB918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4E2420-17D4-6B48-4904-210040A23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FD6E5FF-E66B-0831-C75C-6EFC6953A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3BDCDD-7A19-7813-E40F-3029E0D8D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A22420-C0FF-4625-9830-0338D4E38C42}" type="slidenum">
              <a:rPr kumimoji="1" lang="ja-JP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047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8BB7-C33D-9580-DDBC-B4A459CB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840C769-F11A-17ED-DED4-69FF80327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1BD844-905D-03BB-23BA-79E7822EC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AD0BD0-4512-104B-859E-EAA9D9A1F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A22420-C0FF-4625-9830-0338D4E38C42}" type="slidenum">
              <a:rPr kumimoji="1" lang="ja-JP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0703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52D0F-376C-4D15-BC42-A6A8877BE89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993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稼働時間</a:t>
            </a:r>
            <a:r>
              <a:rPr kumimoji="1" lang="en-US" altLang="ja-JP" dirty="0"/>
              <a:t>】</a:t>
            </a:r>
          </a:p>
          <a:p>
            <a:r>
              <a:rPr kumimoji="1" lang="ja-JP" altLang="en-US" dirty="0"/>
              <a:t>・昼勤は前営業日の夜勤と競う（月曜日昼勤は前の週の金曜夜勤が相手）</a:t>
            </a:r>
            <a:endParaRPr kumimoji="1" lang="en-US" altLang="ja-JP" dirty="0"/>
          </a:p>
          <a:p>
            <a:r>
              <a:rPr kumimoji="1" lang="ja-JP" altLang="en-US" dirty="0"/>
              <a:t>・メンバー写真は下のドロップダウンメニューから手動で選択する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本日の稼働状況</a:t>
            </a:r>
            <a:r>
              <a:rPr kumimoji="1" lang="en-US" altLang="ja-JP" dirty="0"/>
              <a:t>】</a:t>
            </a:r>
          </a:p>
          <a:p>
            <a:r>
              <a:rPr kumimoji="1" lang="ja-JP" altLang="en-US" dirty="0"/>
              <a:t>・生産達成率に応じてグラフ色変更 </a:t>
            </a:r>
            <a:r>
              <a:rPr kumimoji="1" lang="en-US" altLang="ja-JP" dirty="0"/>
              <a:t>(25%</a:t>
            </a:r>
            <a:r>
              <a:rPr kumimoji="1" lang="ja-JP" altLang="en-US" dirty="0"/>
              <a:t>以下</a:t>
            </a:r>
            <a:r>
              <a:rPr kumimoji="1" lang="en-US" altLang="ja-JP" dirty="0"/>
              <a:t>=</a:t>
            </a:r>
            <a:r>
              <a:rPr kumimoji="1" lang="ja-JP" altLang="en-US" dirty="0"/>
              <a:t>ピンク、</a:t>
            </a:r>
            <a:r>
              <a:rPr kumimoji="1" lang="en-US" altLang="ja-JP" dirty="0"/>
              <a:t>50</a:t>
            </a:r>
            <a:r>
              <a:rPr kumimoji="1" lang="ja-JP" altLang="en-US" dirty="0"/>
              <a:t>％以下＝オレンジ、</a:t>
            </a:r>
            <a:r>
              <a:rPr kumimoji="1" lang="en-US" altLang="ja-JP" dirty="0"/>
              <a:t>75</a:t>
            </a:r>
            <a:r>
              <a:rPr kumimoji="1" lang="ja-JP" altLang="en-US" dirty="0"/>
              <a:t>％以下＝黄色、</a:t>
            </a:r>
            <a:r>
              <a:rPr kumimoji="1" lang="en-US" altLang="ja-JP" dirty="0"/>
              <a:t>100</a:t>
            </a:r>
            <a:r>
              <a:rPr kumimoji="1" lang="ja-JP" altLang="en-US" dirty="0"/>
              <a:t>％以下＝黄緑、</a:t>
            </a:r>
            <a:r>
              <a:rPr kumimoji="1" lang="en-US" altLang="ja-JP" dirty="0"/>
              <a:t>101</a:t>
            </a:r>
            <a:r>
              <a:rPr kumimoji="1" lang="ja-JP" altLang="en-US" dirty="0"/>
              <a:t>以上＝水色）</a:t>
            </a:r>
            <a:endParaRPr kumimoji="1" lang="en-US" altLang="ja-JP" dirty="0"/>
          </a:p>
          <a:p>
            <a:r>
              <a:rPr kumimoji="1" lang="ja-JP" altLang="en-US" dirty="0"/>
              <a:t>・当日の目標生産数は手入力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22420-C0FF-4625-9830-0338D4E38C42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125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18C27-436E-72A3-EA37-52E743540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F0F752-48DB-015B-EBA7-DCB7354E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E877B3-5F1B-2D43-42BA-0AC58616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48F96C-030B-3368-EACF-5E4DB6CC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15DDD4-40CF-9BD8-1025-C7A7DBB6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92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9A143-6DC4-C42F-588B-DC824B62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116EF6-366A-062F-D8FF-6590C9FD3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CEEDF-33A4-BC43-B478-799842D2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7DBEB-2FA3-4C4E-8FBA-A63ADDBC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53ACC5-F206-A4D5-4E1F-D06D8C35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23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40CEE-9D5A-20EA-0A1C-16D61BD4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471C42-51E4-0C9D-F122-6D7EE1A6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52692D-41A4-1E0C-A878-0F0770C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B3D4A-EF39-3429-C317-F3402E27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013BD5-A194-1259-DB95-6436755A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128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F3C9F-4EF7-4666-A9BB-34137120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C03F27-67B1-CC8B-BD98-5567A1CC8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883367-026B-F70A-31DF-B21625ECC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087740-E3DE-15D3-A500-AFA805B4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8B9EA0-E14C-539F-9798-A131DB3F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0855FF-7F95-4888-8939-774E4191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53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8972DF-3814-3C00-20C8-60EDB92D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7BBF45-9821-BCA3-4984-0FE78129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0F33A8-568A-32B9-698F-8FF1926FF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0E135F-4B2B-C7EE-A9AC-D74BA1648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7D9269-EC9A-22C9-0CBE-1A2D131F8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731B05-4437-2134-A56D-A98F88B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ECC62B8-F9B9-8C91-40E2-66D29147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507AAE1-EF41-FD3B-846C-B6F4BAF6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8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009E9D-BF08-DEF7-62CE-D8F4BD24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1C9848F-F3DC-F5F5-203F-7827D4B2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BA1FA8-FCDD-8C1E-547F-A64D712C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A1D21B-F2F6-48CF-CEE1-D4E8F9D1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97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507665-207C-9ECE-A2AF-295D6591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9279DB-D7E6-A117-8127-F5A00C5A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E1960F-2F9E-AB88-0722-029D47E3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76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2E4A6-653A-6C5C-DDCC-C7216AE9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291E47-8FAB-756C-4E0A-E2493B5D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51B34C-FEA6-11FB-443E-181BBAEB8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E90CC9-30DE-D395-0FD2-29757C18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574723-344D-18EF-F61E-CB6326C8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FE0987-411A-6054-5FBA-2D353229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93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3B046-3494-BF50-4DF0-A18367D1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881187-89EF-BAD2-F5D4-B1F60B748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75AA9-06D1-2BBC-D801-FE11D5E53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589B0C-D057-B0C0-8EDB-2E14A509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59AA2C-6AA2-35C4-9FFE-FD4AF155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24C342-E2E6-1D5B-1F00-F57B96CF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4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DD7AE0-9F27-C0AA-58F5-F8BB9660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F8D3A7-4A15-4F78-1031-60D37E46A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0075F1-8F60-B0C9-1341-8A9E82B6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7821C5-5B7A-6ADE-B570-1DE8AD66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BA30A8-3143-E844-60A2-B47239CD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5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A36A95-52F4-396C-28CA-C2260ED9F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0934DB-FA61-E8C3-533B-FB724C99E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05A53-6FA4-DFA0-6B94-5859A3F6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E8866-AB38-A732-13B9-4B57F8DB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CADA84-7529-CA5B-0786-1D35A7A8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5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A768D9-DADE-633A-B2A3-1166B17A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9BD333-8F8A-CEAD-0182-57DD2DB85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B70B7-1362-24D0-A56D-F64161E95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65FF4-FB7B-4546-AEDF-E8D6362B3E6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B9D8B0-C06C-FDEC-6415-012AAD96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EA9C4D-B68C-732D-8848-6CC60E164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GIF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.png"/><Relationship Id="rId3" Type="http://schemas.openxmlformats.org/officeDocument/2006/relationships/image" Target="../media/image21.jpe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png"/><Relationship Id="rId5" Type="http://schemas.openxmlformats.org/officeDocument/2006/relationships/image" Target="../media/image23.png"/><Relationship Id="rId1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9.png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FECF-5554-BEE1-D930-8427B9CF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64CA074-D133-9969-17A8-3947741DB7AF}"/>
              </a:ext>
            </a:extLst>
          </p:cNvPr>
          <p:cNvSpPr/>
          <p:nvPr/>
        </p:nvSpPr>
        <p:spPr>
          <a:xfrm>
            <a:off x="218917" y="4585377"/>
            <a:ext cx="11956134" cy="224087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579E162-EBF3-200A-0991-5415879FCDB0}"/>
              </a:ext>
            </a:extLst>
          </p:cNvPr>
          <p:cNvSpPr/>
          <p:nvPr/>
        </p:nvSpPr>
        <p:spPr>
          <a:xfrm>
            <a:off x="201175" y="655660"/>
            <a:ext cx="11973876" cy="310065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587B0B5-D0D6-540C-EEB8-38D27B2B631D}"/>
              </a:ext>
            </a:extLst>
          </p:cNvPr>
          <p:cNvSpPr/>
          <p:nvPr/>
        </p:nvSpPr>
        <p:spPr>
          <a:xfrm>
            <a:off x="133041" y="4452751"/>
            <a:ext cx="11957890" cy="22231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FF2FA1-DD15-0D81-7CEF-4326D84F8CC2}"/>
              </a:ext>
            </a:extLst>
          </p:cNvPr>
          <p:cNvSpPr txBox="1"/>
          <p:nvPr/>
        </p:nvSpPr>
        <p:spPr>
          <a:xfrm>
            <a:off x="287384" y="63924"/>
            <a:ext cx="4119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OPERATING COUNT 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検査数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26F935D-B4C0-3D80-E656-4FA602ADAA85}"/>
              </a:ext>
            </a:extLst>
          </p:cNvPr>
          <p:cNvSpPr/>
          <p:nvPr/>
        </p:nvSpPr>
        <p:spPr>
          <a:xfrm>
            <a:off x="117055" y="540323"/>
            <a:ext cx="11957890" cy="3100651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5AA81C2-DA3E-9D95-D5E6-FA56B48F18E4}"/>
              </a:ext>
            </a:extLst>
          </p:cNvPr>
          <p:cNvSpPr/>
          <p:nvPr/>
        </p:nvSpPr>
        <p:spPr>
          <a:xfrm>
            <a:off x="2493761" y="1021623"/>
            <a:ext cx="4230178" cy="47219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F747826-D729-9F8F-1D02-19D184C4A24A}"/>
              </a:ext>
            </a:extLst>
          </p:cNvPr>
          <p:cNvSpPr/>
          <p:nvPr/>
        </p:nvSpPr>
        <p:spPr>
          <a:xfrm>
            <a:off x="6723939" y="1021623"/>
            <a:ext cx="2967510" cy="472193"/>
          </a:xfrm>
          <a:prstGeom prst="rect">
            <a:avLst/>
          </a:prstGeom>
          <a:solidFill>
            <a:srgbClr val="FFC8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6DA56E-861F-1D6B-203B-8513E9B75A32}"/>
              </a:ext>
            </a:extLst>
          </p:cNvPr>
          <p:cNvSpPr txBox="1"/>
          <p:nvPr/>
        </p:nvSpPr>
        <p:spPr>
          <a:xfrm>
            <a:off x="2486969" y="1094882"/>
            <a:ext cx="42301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89 %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FAC73A4-4459-472D-43FE-ED7AF4D1449A}"/>
              </a:ext>
            </a:extLst>
          </p:cNvPr>
          <p:cNvSpPr txBox="1"/>
          <p:nvPr/>
        </p:nvSpPr>
        <p:spPr>
          <a:xfrm>
            <a:off x="6723938" y="1094882"/>
            <a:ext cx="29675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80 %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91952431-3B55-7A6D-EFEA-176A61FE87BF}"/>
              </a:ext>
            </a:extLst>
          </p:cNvPr>
          <p:cNvGraphicFramePr>
            <a:graphicFrameLocks noGrp="1"/>
          </p:cNvGraphicFramePr>
          <p:nvPr/>
        </p:nvGraphicFramePr>
        <p:xfrm>
          <a:off x="2487459" y="2684721"/>
          <a:ext cx="7227353" cy="81150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32479">
                  <a:extLst>
                    <a:ext uri="{9D8B030D-6E8A-4147-A177-3AD203B41FA5}">
                      <a16:colId xmlns:a16="http://schemas.microsoft.com/office/drawing/2014/main" val="3542659806"/>
                    </a:ext>
                  </a:extLst>
                </a:gridCol>
                <a:gridCol w="1032479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1032479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1032479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1032479">
                  <a:extLst>
                    <a:ext uri="{9D8B030D-6E8A-4147-A177-3AD203B41FA5}">
                      <a16:colId xmlns:a16="http://schemas.microsoft.com/office/drawing/2014/main" val="1994325327"/>
                    </a:ext>
                  </a:extLst>
                </a:gridCol>
                <a:gridCol w="1032479">
                  <a:extLst>
                    <a:ext uri="{9D8B030D-6E8A-4147-A177-3AD203B41FA5}">
                      <a16:colId xmlns:a16="http://schemas.microsoft.com/office/drawing/2014/main" val="3844872914"/>
                    </a:ext>
                  </a:extLst>
                </a:gridCol>
                <a:gridCol w="1032479">
                  <a:extLst>
                    <a:ext uri="{9D8B030D-6E8A-4147-A177-3AD203B41FA5}">
                      <a16:colId xmlns:a16="http://schemas.microsoft.com/office/drawing/2014/main" val="2254263030"/>
                    </a:ext>
                  </a:extLst>
                </a:gridCol>
              </a:tblGrid>
              <a:tr h="270502"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Mon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Tue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Wed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Thu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Fri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Sat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27050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b="1" dirty="0">
                          <a:solidFill>
                            <a:schemeClr val="bg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DAY</a:t>
                      </a:r>
                      <a:endParaRPr kumimoji="1" lang="ja-JP" altLang="en-US" sz="1050" b="1" dirty="0">
                        <a:solidFill>
                          <a:schemeClr val="bg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3250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3740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3200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3700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  <a:tr h="27050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b="1" dirty="0">
                          <a:solidFill>
                            <a:schemeClr val="bg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NIGHT</a:t>
                      </a:r>
                      <a:endParaRPr kumimoji="1" lang="ja-JP" altLang="en-US" sz="1050" b="1" dirty="0">
                        <a:solidFill>
                          <a:schemeClr val="bg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3420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3860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2890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191600"/>
                  </a:ext>
                </a:extLst>
              </a:tr>
            </a:tbl>
          </a:graphicData>
        </a:graphic>
      </p:graphicFrame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EE2B572-B653-5B26-AA6C-446F86E81D83}"/>
              </a:ext>
            </a:extLst>
          </p:cNvPr>
          <p:cNvSpPr/>
          <p:nvPr/>
        </p:nvSpPr>
        <p:spPr>
          <a:xfrm>
            <a:off x="6646056" y="2684720"/>
            <a:ext cx="980902" cy="81150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F40EE12-1C5D-FBA6-7993-55CB3B603A41}"/>
              </a:ext>
            </a:extLst>
          </p:cNvPr>
          <p:cNvSpPr txBox="1"/>
          <p:nvPr/>
        </p:nvSpPr>
        <p:spPr>
          <a:xfrm>
            <a:off x="287383" y="4046528"/>
            <a:ext cx="646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TODAY`S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　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PRODUCTION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　</a:t>
            </a:r>
            <a:r>
              <a:rPr kumimoji="1" lang="ja-JP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本日の生産状況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F04F7E9-9B3A-20A0-2C45-898E3480F882}"/>
              </a:ext>
            </a:extLst>
          </p:cNvPr>
          <p:cNvSpPr txBox="1"/>
          <p:nvPr/>
        </p:nvSpPr>
        <p:spPr>
          <a:xfrm>
            <a:off x="9097347" y="152743"/>
            <a:ext cx="29765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LAST UPDATE: 2026-08-31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19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：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2</a:t>
            </a:r>
            <a:r>
              <a:rPr lang="en-US" altLang="ja-JP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9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4AF25E9-8403-3AF4-6ECE-B5E80E2A9180}"/>
              </a:ext>
            </a:extLst>
          </p:cNvPr>
          <p:cNvSpPr txBox="1"/>
          <p:nvPr/>
        </p:nvSpPr>
        <p:spPr>
          <a:xfrm>
            <a:off x="2478620" y="669349"/>
            <a:ext cx="2423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先週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比　可動率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】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0A6313B0-4622-83E6-B77F-E49096C7E7EE}"/>
              </a:ext>
            </a:extLst>
          </p:cNvPr>
          <p:cNvSpPr/>
          <p:nvPr/>
        </p:nvSpPr>
        <p:spPr>
          <a:xfrm>
            <a:off x="226556" y="896275"/>
            <a:ext cx="2195146" cy="259995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E2FC34B-32EE-B45F-92FC-85CF63DBDC9D}"/>
              </a:ext>
            </a:extLst>
          </p:cNvPr>
          <p:cNvSpPr txBox="1"/>
          <p:nvPr/>
        </p:nvSpPr>
        <p:spPr>
          <a:xfrm>
            <a:off x="458442" y="789123"/>
            <a:ext cx="17313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DAY SHIFT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☼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416622-ABDF-D258-D12D-976ED09F4C69}"/>
              </a:ext>
            </a:extLst>
          </p:cNvPr>
          <p:cNvSpPr txBox="1"/>
          <p:nvPr/>
        </p:nvSpPr>
        <p:spPr>
          <a:xfrm>
            <a:off x="2478620" y="2385428"/>
            <a:ext cx="7222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週間検査数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4BCF1DE-BF12-9724-DFC1-ECC5FE5C6D14}"/>
              </a:ext>
            </a:extLst>
          </p:cNvPr>
          <p:cNvSpPr txBox="1"/>
          <p:nvPr/>
        </p:nvSpPr>
        <p:spPr>
          <a:xfrm>
            <a:off x="8258943" y="581442"/>
            <a:ext cx="14946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【Time】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18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：</a:t>
            </a: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00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～</a:t>
            </a: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19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：</a:t>
            </a: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00</a:t>
            </a:r>
            <a:endParaRPr kumimoji="1" lang="ja-JP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C2C3F88-E041-BA1D-943C-1D5E655E6FAB}"/>
              </a:ext>
            </a:extLst>
          </p:cNvPr>
          <p:cNvSpPr/>
          <p:nvPr/>
        </p:nvSpPr>
        <p:spPr>
          <a:xfrm>
            <a:off x="2501983" y="1753646"/>
            <a:ext cx="3966809" cy="47219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ACA02FD-E9A5-86B9-ED2E-7121023106FE}"/>
              </a:ext>
            </a:extLst>
          </p:cNvPr>
          <p:cNvSpPr/>
          <p:nvPr/>
        </p:nvSpPr>
        <p:spPr>
          <a:xfrm>
            <a:off x="6468792" y="1753646"/>
            <a:ext cx="3230879" cy="47219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5C85257-96F2-49E7-D85D-C59CC08EF8C8}"/>
              </a:ext>
            </a:extLst>
          </p:cNvPr>
          <p:cNvSpPr txBox="1"/>
          <p:nvPr/>
        </p:nvSpPr>
        <p:spPr>
          <a:xfrm>
            <a:off x="2493761" y="1836122"/>
            <a:ext cx="42384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8</a:t>
            </a:r>
            <a:r>
              <a:rPr lang="en-US" altLang="ja-JP" sz="1500" b="1" dirty="0">
                <a:solidFill>
                  <a:prstClr val="white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7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099D41E-3C64-BEFD-9B80-2AFF458E0E4E}"/>
              </a:ext>
            </a:extLst>
          </p:cNvPr>
          <p:cNvSpPr txBox="1"/>
          <p:nvPr/>
        </p:nvSpPr>
        <p:spPr>
          <a:xfrm>
            <a:off x="6468792" y="1836122"/>
            <a:ext cx="32308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82 %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D6E2E44-0156-35BC-9EB4-6F1ED7CDF328}"/>
              </a:ext>
            </a:extLst>
          </p:cNvPr>
          <p:cNvSpPr txBox="1"/>
          <p:nvPr/>
        </p:nvSpPr>
        <p:spPr>
          <a:xfrm>
            <a:off x="5468984" y="580710"/>
            <a:ext cx="9409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5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直近１時間</a:t>
            </a:r>
            <a:endParaRPr kumimoji="1" lang="en-US" altLang="ja-JP" sz="105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１日累計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8B3D841-63BD-1C36-165A-FA3DA0E2D73C}"/>
              </a:ext>
            </a:extLst>
          </p:cNvPr>
          <p:cNvGraphicFramePr>
            <a:graphicFrameLocks noGrp="1"/>
          </p:cNvGraphicFramePr>
          <p:nvPr/>
        </p:nvGraphicFramePr>
        <p:xfrm>
          <a:off x="201175" y="4846544"/>
          <a:ext cx="3312800" cy="58797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28200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2190156843"/>
                    </a:ext>
                  </a:extLst>
                </a:gridCol>
              </a:tblGrid>
              <a:tr h="2541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  績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  標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達成率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進捗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136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13,535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13,500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100%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順調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501D227-5025-D9C8-ECA1-E4D1D182FCE9}"/>
              </a:ext>
            </a:extLst>
          </p:cNvPr>
          <p:cNvSpPr txBox="1"/>
          <p:nvPr/>
        </p:nvSpPr>
        <p:spPr>
          <a:xfrm>
            <a:off x="61361" y="4576616"/>
            <a:ext cx="33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直近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時間当たりの進捗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3394706-E65C-D893-5030-49B8E5D19484}"/>
              </a:ext>
            </a:extLst>
          </p:cNvPr>
          <p:cNvSpPr txBox="1"/>
          <p:nvPr/>
        </p:nvSpPr>
        <p:spPr>
          <a:xfrm>
            <a:off x="68832" y="5672892"/>
            <a:ext cx="33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当日累積生産数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（経過時間分）</a:t>
            </a:r>
          </a:p>
        </p:txBody>
      </p:sp>
      <p:graphicFrame>
        <p:nvGraphicFramePr>
          <p:cNvPr id="87" name="表 86">
            <a:extLst>
              <a:ext uri="{FF2B5EF4-FFF2-40B4-BE49-F238E27FC236}">
                <a16:creationId xmlns:a16="http://schemas.microsoft.com/office/drawing/2014/main" id="{4FE12E1D-A6BB-AFD9-FAA4-73D1F6491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791939"/>
              </p:ext>
            </p:extLst>
          </p:nvPr>
        </p:nvGraphicFramePr>
        <p:xfrm>
          <a:off x="201175" y="5985050"/>
          <a:ext cx="3312800" cy="58797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28200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2602357531"/>
                    </a:ext>
                  </a:extLst>
                </a:gridCol>
              </a:tblGrid>
              <a:tr h="2541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  績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  標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達成率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進捗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136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155,000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150,000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105%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超順調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graphicFrame>
        <p:nvGraphicFramePr>
          <p:cNvPr id="88" name="表 87">
            <a:extLst>
              <a:ext uri="{FF2B5EF4-FFF2-40B4-BE49-F238E27FC236}">
                <a16:creationId xmlns:a16="http://schemas.microsoft.com/office/drawing/2014/main" id="{99AAC52B-FFDE-DA93-D026-C4BF9D0F9EA1}"/>
              </a:ext>
            </a:extLst>
          </p:cNvPr>
          <p:cNvGraphicFramePr>
            <a:graphicFrameLocks noGrp="1"/>
          </p:cNvGraphicFramePr>
          <p:nvPr/>
        </p:nvGraphicFramePr>
        <p:xfrm>
          <a:off x="8451176" y="6102009"/>
          <a:ext cx="3530055" cy="4876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06011">
                  <a:extLst>
                    <a:ext uri="{9D8B030D-6E8A-4147-A177-3AD203B41FA5}">
                      <a16:colId xmlns:a16="http://schemas.microsoft.com/office/drawing/2014/main" val="1074413920"/>
                    </a:ext>
                  </a:extLst>
                </a:gridCol>
                <a:gridCol w="706011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706011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706011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706011">
                  <a:extLst>
                    <a:ext uri="{9D8B030D-6E8A-4147-A177-3AD203B41FA5}">
                      <a16:colId xmlns:a16="http://schemas.microsoft.com/office/drawing/2014/main" val="1994325327"/>
                    </a:ext>
                  </a:extLst>
                </a:gridCol>
              </a:tblGrid>
              <a:tr h="2128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412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413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416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421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428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3,457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3,123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2,544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957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2,884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DF6CDC03-B127-1857-63F2-D282357A45AC}"/>
              </a:ext>
            </a:extLst>
          </p:cNvPr>
          <p:cNvSpPr/>
          <p:nvPr/>
        </p:nvSpPr>
        <p:spPr>
          <a:xfrm>
            <a:off x="3837968" y="5978940"/>
            <a:ext cx="4308877" cy="6190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36883437-1FBD-93B9-0F6F-7C224C8EFACE}"/>
              </a:ext>
            </a:extLst>
          </p:cNvPr>
          <p:cNvSpPr/>
          <p:nvPr/>
        </p:nvSpPr>
        <p:spPr>
          <a:xfrm>
            <a:off x="3829904" y="5979916"/>
            <a:ext cx="4308878" cy="618458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B60961E0-C362-F64C-9605-66B67A77C13F}"/>
              </a:ext>
            </a:extLst>
          </p:cNvPr>
          <p:cNvCxnSpPr>
            <a:cxnSpLocks/>
          </p:cNvCxnSpPr>
          <p:nvPr/>
        </p:nvCxnSpPr>
        <p:spPr>
          <a:xfrm>
            <a:off x="5984806" y="5978939"/>
            <a:ext cx="0" cy="6190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4471559F-4720-E44F-4AA4-2797EC92254C}"/>
              </a:ext>
            </a:extLst>
          </p:cNvPr>
          <p:cNvCxnSpPr>
            <a:cxnSpLocks/>
          </p:cNvCxnSpPr>
          <p:nvPr/>
        </p:nvCxnSpPr>
        <p:spPr>
          <a:xfrm>
            <a:off x="4902160" y="5978939"/>
            <a:ext cx="0" cy="6190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CD6F10F3-D58F-D100-0B07-397BB666F51F}"/>
              </a:ext>
            </a:extLst>
          </p:cNvPr>
          <p:cNvCxnSpPr>
            <a:cxnSpLocks/>
          </p:cNvCxnSpPr>
          <p:nvPr/>
        </p:nvCxnSpPr>
        <p:spPr>
          <a:xfrm>
            <a:off x="7064806" y="5982791"/>
            <a:ext cx="0" cy="6190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311C775D-B647-342A-362F-8095B39280E3}"/>
              </a:ext>
            </a:extLst>
          </p:cNvPr>
          <p:cNvSpPr txBox="1"/>
          <p:nvPr/>
        </p:nvSpPr>
        <p:spPr>
          <a:xfrm>
            <a:off x="4552501" y="5720167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25%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3D6D2321-AD11-3479-7CDB-D576D51A405B}"/>
              </a:ext>
            </a:extLst>
          </p:cNvPr>
          <p:cNvSpPr txBox="1"/>
          <p:nvPr/>
        </p:nvSpPr>
        <p:spPr>
          <a:xfrm>
            <a:off x="6711548" y="5723491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75%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835850E9-C082-B4D5-35AB-11AA34554938}"/>
              </a:ext>
            </a:extLst>
          </p:cNvPr>
          <p:cNvSpPr txBox="1"/>
          <p:nvPr/>
        </p:nvSpPr>
        <p:spPr>
          <a:xfrm>
            <a:off x="5634925" y="5722470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50%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742D6DC3-37EC-FFDC-A309-7FC2623DD012}"/>
              </a:ext>
            </a:extLst>
          </p:cNvPr>
          <p:cNvSpPr txBox="1"/>
          <p:nvPr/>
        </p:nvSpPr>
        <p:spPr>
          <a:xfrm>
            <a:off x="7721586" y="5708518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100%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7167C4E3-1081-44AD-A1D1-47C7E45B5338}"/>
              </a:ext>
            </a:extLst>
          </p:cNvPr>
          <p:cNvSpPr txBox="1"/>
          <p:nvPr/>
        </p:nvSpPr>
        <p:spPr>
          <a:xfrm>
            <a:off x="3481738" y="5729614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95F20C13-70B8-04AA-9FE1-77896F271D0A}"/>
              </a:ext>
            </a:extLst>
          </p:cNvPr>
          <p:cNvSpPr/>
          <p:nvPr/>
        </p:nvSpPr>
        <p:spPr>
          <a:xfrm>
            <a:off x="3825347" y="4846201"/>
            <a:ext cx="4887008" cy="6190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B325C063-49FD-08A7-B178-051B595E72AA}"/>
              </a:ext>
            </a:extLst>
          </p:cNvPr>
          <p:cNvSpPr/>
          <p:nvPr/>
        </p:nvSpPr>
        <p:spPr>
          <a:xfrm>
            <a:off x="3825561" y="4846545"/>
            <a:ext cx="5399680" cy="618458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912497CE-2396-69C1-C81D-13B9B2D3E9F4}"/>
              </a:ext>
            </a:extLst>
          </p:cNvPr>
          <p:cNvCxnSpPr>
            <a:cxnSpLocks/>
          </p:cNvCxnSpPr>
          <p:nvPr/>
        </p:nvCxnSpPr>
        <p:spPr>
          <a:xfrm>
            <a:off x="5980463" y="4846200"/>
            <a:ext cx="0" cy="6190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406CA3DF-8C70-005D-5E4B-FA3078296717}"/>
              </a:ext>
            </a:extLst>
          </p:cNvPr>
          <p:cNvCxnSpPr>
            <a:cxnSpLocks/>
          </p:cNvCxnSpPr>
          <p:nvPr/>
        </p:nvCxnSpPr>
        <p:spPr>
          <a:xfrm>
            <a:off x="4897817" y="4846200"/>
            <a:ext cx="0" cy="6190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89FEB90A-DEB8-52C5-A68F-AC6FE08AEBE7}"/>
              </a:ext>
            </a:extLst>
          </p:cNvPr>
          <p:cNvCxnSpPr>
            <a:cxnSpLocks/>
          </p:cNvCxnSpPr>
          <p:nvPr/>
        </p:nvCxnSpPr>
        <p:spPr>
          <a:xfrm>
            <a:off x="7060463" y="4846200"/>
            <a:ext cx="0" cy="6190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87E9EA6C-4F31-FFD7-B42B-10E19005CDE4}"/>
              </a:ext>
            </a:extLst>
          </p:cNvPr>
          <p:cNvCxnSpPr>
            <a:cxnSpLocks/>
          </p:cNvCxnSpPr>
          <p:nvPr/>
        </p:nvCxnSpPr>
        <p:spPr>
          <a:xfrm>
            <a:off x="8138784" y="4846200"/>
            <a:ext cx="0" cy="6190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C6648DB7-233F-7FC0-A85A-A7A4D831BF3E}"/>
              </a:ext>
            </a:extLst>
          </p:cNvPr>
          <p:cNvSpPr txBox="1"/>
          <p:nvPr/>
        </p:nvSpPr>
        <p:spPr>
          <a:xfrm>
            <a:off x="4548158" y="4614159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25%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92C43236-7A47-838A-6C9B-3CB458F90FC5}"/>
              </a:ext>
            </a:extLst>
          </p:cNvPr>
          <p:cNvSpPr txBox="1"/>
          <p:nvPr/>
        </p:nvSpPr>
        <p:spPr>
          <a:xfrm>
            <a:off x="6707205" y="4617483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75%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79237286-39C4-AAC9-0A4B-9E5D0BBAA77C}"/>
              </a:ext>
            </a:extLst>
          </p:cNvPr>
          <p:cNvSpPr txBox="1"/>
          <p:nvPr/>
        </p:nvSpPr>
        <p:spPr>
          <a:xfrm>
            <a:off x="5630582" y="4616462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50%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8DB5D217-FF6E-C013-3869-8C42075FC634}"/>
              </a:ext>
            </a:extLst>
          </p:cNvPr>
          <p:cNvSpPr txBox="1"/>
          <p:nvPr/>
        </p:nvSpPr>
        <p:spPr>
          <a:xfrm>
            <a:off x="7717243" y="4602510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100%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14F6329C-AD47-8B14-4782-03668C151BF3}"/>
              </a:ext>
            </a:extLst>
          </p:cNvPr>
          <p:cNvSpPr txBox="1"/>
          <p:nvPr/>
        </p:nvSpPr>
        <p:spPr>
          <a:xfrm>
            <a:off x="8812461" y="4602509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125%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E1B8C1AC-43EB-C35A-1830-BA6B329B4403}"/>
              </a:ext>
            </a:extLst>
          </p:cNvPr>
          <p:cNvSpPr txBox="1"/>
          <p:nvPr/>
        </p:nvSpPr>
        <p:spPr>
          <a:xfrm>
            <a:off x="3477395" y="4623606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323670B3-2688-ACF1-0AA6-CAECDBBCDFAE}"/>
              </a:ext>
            </a:extLst>
          </p:cNvPr>
          <p:cNvSpPr txBox="1"/>
          <p:nvPr/>
        </p:nvSpPr>
        <p:spPr>
          <a:xfrm>
            <a:off x="8451176" y="5791093"/>
            <a:ext cx="1741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【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号機別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生産数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grpSp>
        <p:nvGrpSpPr>
          <p:cNvPr id="162" name="グループ化 161">
            <a:extLst>
              <a:ext uri="{FF2B5EF4-FFF2-40B4-BE49-F238E27FC236}">
                <a16:creationId xmlns:a16="http://schemas.microsoft.com/office/drawing/2014/main" id="{721FEA57-AC22-D283-420B-C437291D941E}"/>
              </a:ext>
            </a:extLst>
          </p:cNvPr>
          <p:cNvGrpSpPr/>
          <p:nvPr/>
        </p:nvGrpSpPr>
        <p:grpSpPr>
          <a:xfrm>
            <a:off x="287108" y="2064246"/>
            <a:ext cx="2074043" cy="180000"/>
            <a:chOff x="293716" y="1756964"/>
            <a:chExt cx="2074043" cy="180000"/>
          </a:xfrm>
        </p:grpSpPr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60C76F3B-917D-ED41-0783-BC9CEEAFE64C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6102C3FB-498D-AF59-373D-79F5C3236445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724AB052-03D1-06B9-7805-D9734F5476AC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grpSp>
        <p:nvGrpSpPr>
          <p:cNvPr id="163" name="グループ化 162">
            <a:extLst>
              <a:ext uri="{FF2B5EF4-FFF2-40B4-BE49-F238E27FC236}">
                <a16:creationId xmlns:a16="http://schemas.microsoft.com/office/drawing/2014/main" id="{91D9CAB9-3385-729D-1B75-B0FE8FB20551}"/>
              </a:ext>
            </a:extLst>
          </p:cNvPr>
          <p:cNvGrpSpPr/>
          <p:nvPr/>
        </p:nvGrpSpPr>
        <p:grpSpPr>
          <a:xfrm>
            <a:off x="287108" y="3234702"/>
            <a:ext cx="2074043" cy="180000"/>
            <a:chOff x="293716" y="1756964"/>
            <a:chExt cx="2074043" cy="180000"/>
          </a:xfrm>
        </p:grpSpPr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A2B2D37D-D0B6-6D2F-1E23-7C7A3942483B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BF4B6C2D-9571-0B56-2EBD-67E6A902BB72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FEB79724-613A-30A9-C7DE-0639612E8195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A730ACBE-2360-4BB2-C8AB-D664529CCCD6}"/>
              </a:ext>
            </a:extLst>
          </p:cNvPr>
          <p:cNvSpPr/>
          <p:nvPr/>
        </p:nvSpPr>
        <p:spPr>
          <a:xfrm>
            <a:off x="9775851" y="906009"/>
            <a:ext cx="2195146" cy="259995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93711BEC-B1BA-D352-0FAA-0698D589C259}"/>
              </a:ext>
            </a:extLst>
          </p:cNvPr>
          <p:cNvSpPr txBox="1"/>
          <p:nvPr/>
        </p:nvSpPr>
        <p:spPr>
          <a:xfrm>
            <a:off x="10007737" y="789123"/>
            <a:ext cx="17313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NIGHT SHIFT 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☾</a:t>
            </a:r>
          </a:p>
        </p:txBody>
      </p: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7AB4DC38-478B-A47E-5430-0B95E495C562}"/>
              </a:ext>
            </a:extLst>
          </p:cNvPr>
          <p:cNvGrpSpPr/>
          <p:nvPr/>
        </p:nvGrpSpPr>
        <p:grpSpPr>
          <a:xfrm>
            <a:off x="9836403" y="2064246"/>
            <a:ext cx="2074043" cy="180000"/>
            <a:chOff x="293716" y="1756964"/>
            <a:chExt cx="2074043" cy="180000"/>
          </a:xfrm>
        </p:grpSpPr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1B5F4281-75A9-D666-1361-14DB303F1B64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8FF91727-1CD0-0F35-0557-C52687D90BA8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81DB0C7E-766C-1A1B-D0B5-0383490B0ADC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grpSp>
        <p:nvGrpSpPr>
          <p:cNvPr id="173" name="グループ化 172">
            <a:extLst>
              <a:ext uri="{FF2B5EF4-FFF2-40B4-BE49-F238E27FC236}">
                <a16:creationId xmlns:a16="http://schemas.microsoft.com/office/drawing/2014/main" id="{9E095C4D-5EEF-2EB7-7099-4FC0139FAE46}"/>
              </a:ext>
            </a:extLst>
          </p:cNvPr>
          <p:cNvGrpSpPr/>
          <p:nvPr/>
        </p:nvGrpSpPr>
        <p:grpSpPr>
          <a:xfrm>
            <a:off x="9836403" y="3234702"/>
            <a:ext cx="2074043" cy="180000"/>
            <a:chOff x="293716" y="1756964"/>
            <a:chExt cx="2074043" cy="180000"/>
          </a:xfrm>
        </p:grpSpPr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85060846-CD70-6947-8B17-FDE438AC5929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77CC0EF6-997C-0AEA-7943-A7FFA0F3B8AA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16F67777-0ABD-D991-48F9-32E78F791C86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pic>
        <p:nvPicPr>
          <p:cNvPr id="178" name="図 177">
            <a:extLst>
              <a:ext uri="{FF2B5EF4-FFF2-40B4-BE49-F238E27FC236}">
                <a16:creationId xmlns:a16="http://schemas.microsoft.com/office/drawing/2014/main" id="{2996237F-3515-4EA2-64D6-10273FBAEAC5}"/>
              </a:ext>
            </a:extLst>
          </p:cNvPr>
          <p:cNvPicPr>
            <a:picLocks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5750" y="119682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0" name="図 179">
            <a:extLst>
              <a:ext uri="{FF2B5EF4-FFF2-40B4-BE49-F238E27FC236}">
                <a16:creationId xmlns:a16="http://schemas.microsoft.com/office/drawing/2014/main" id="{9B88DB66-D8CE-1379-0725-0AF32FE854F4}"/>
              </a:ext>
            </a:extLst>
          </p:cNvPr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1824" y="119682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2" name="図 181">
            <a:extLst>
              <a:ext uri="{FF2B5EF4-FFF2-40B4-BE49-F238E27FC236}">
                <a16:creationId xmlns:a16="http://schemas.microsoft.com/office/drawing/2014/main" id="{DAF2597A-3728-FFC9-5B5B-1369A66F4E8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912" y="236765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4" name="図 183">
            <a:extLst>
              <a:ext uri="{FF2B5EF4-FFF2-40B4-BE49-F238E27FC236}">
                <a16:creationId xmlns:a16="http://schemas.microsoft.com/office/drawing/2014/main" id="{2EF568DB-917F-4142-D4DE-1601DC2EC457}"/>
              </a:ext>
            </a:extLst>
          </p:cNvPr>
          <p:cNvPicPr>
            <a:picLocks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280" r="10371"/>
          <a:stretch>
            <a:fillRect/>
          </a:stretch>
        </p:blipFill>
        <p:spPr>
          <a:xfrm>
            <a:off x="289975" y="236765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6" name="図 185">
            <a:extLst>
              <a:ext uri="{FF2B5EF4-FFF2-40B4-BE49-F238E27FC236}">
                <a16:creationId xmlns:a16="http://schemas.microsoft.com/office/drawing/2014/main" id="{4C2A6E19-8C6B-6F2C-D908-75C87123CE57}"/>
              </a:ext>
            </a:extLst>
          </p:cNvPr>
          <p:cNvPicPr>
            <a:picLocks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77151" y="119682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7" name="図 186">
            <a:extLst>
              <a:ext uri="{FF2B5EF4-FFF2-40B4-BE49-F238E27FC236}">
                <a16:creationId xmlns:a16="http://schemas.microsoft.com/office/drawing/2014/main" id="{28B0F29B-8ACF-CF60-9768-AB2FF93FB30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7151" y="236765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3" name="図 192">
            <a:extLst>
              <a:ext uri="{FF2B5EF4-FFF2-40B4-BE49-F238E27FC236}">
                <a16:creationId xmlns:a16="http://schemas.microsoft.com/office/drawing/2014/main" id="{EBF1452F-B5FB-EEF6-A8F7-39F47B6554B7}"/>
              </a:ext>
            </a:extLst>
          </p:cNvPr>
          <p:cNvPicPr>
            <a:picLocks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3521" y="2366116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5" name="図 194">
            <a:extLst>
              <a:ext uri="{FF2B5EF4-FFF2-40B4-BE49-F238E27FC236}">
                <a16:creationId xmlns:a16="http://schemas.microsoft.com/office/drawing/2014/main" id="{B9E5AA09-14A5-1897-9755-57E05C2B3E50}"/>
              </a:ext>
            </a:extLst>
          </p:cNvPr>
          <p:cNvPicPr>
            <a:picLocks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5258" y="1190832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7" name="図 196">
            <a:extLst>
              <a:ext uri="{FF2B5EF4-FFF2-40B4-BE49-F238E27FC236}">
                <a16:creationId xmlns:a16="http://schemas.microsoft.com/office/drawing/2014/main" id="{D77A34BD-D793-8B3B-0E6C-E3298DAD4882}"/>
              </a:ext>
            </a:extLst>
          </p:cNvPr>
          <p:cNvPicPr>
            <a:picLocks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22" t="4723" r="3558" b="9569"/>
          <a:stretch>
            <a:fillRect/>
          </a:stretch>
        </p:blipFill>
        <p:spPr>
          <a:xfrm>
            <a:off x="11224734" y="1190832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9" name="図 198">
            <a:extLst>
              <a:ext uri="{FF2B5EF4-FFF2-40B4-BE49-F238E27FC236}">
                <a16:creationId xmlns:a16="http://schemas.microsoft.com/office/drawing/2014/main" id="{5B13BEA3-4BD3-E8DE-4F8B-0A14FBA510C6}"/>
              </a:ext>
            </a:extLst>
          </p:cNvPr>
          <p:cNvPicPr>
            <a:picLocks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80" t="5584" r="5873"/>
          <a:stretch>
            <a:fillRect/>
          </a:stretch>
        </p:blipFill>
        <p:spPr>
          <a:xfrm>
            <a:off x="9842307" y="2366116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01" name="図 200">
            <a:extLst>
              <a:ext uri="{FF2B5EF4-FFF2-40B4-BE49-F238E27FC236}">
                <a16:creationId xmlns:a16="http://schemas.microsoft.com/office/drawing/2014/main" id="{99A8B628-0504-8351-671D-467D3598CBA2}"/>
              </a:ext>
            </a:extLst>
          </p:cNvPr>
          <p:cNvPicPr>
            <a:picLocks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95" r="5449" b="7510"/>
          <a:stretch>
            <a:fillRect/>
          </a:stretch>
        </p:blipFill>
        <p:spPr>
          <a:xfrm>
            <a:off x="10534996" y="1190832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02" name="図 201">
            <a:extLst>
              <a:ext uri="{FF2B5EF4-FFF2-40B4-BE49-F238E27FC236}">
                <a16:creationId xmlns:a16="http://schemas.microsoft.com/office/drawing/2014/main" id="{988F7480-8DBB-676A-41BA-F287A40A43D4}"/>
              </a:ext>
            </a:extLst>
          </p:cNvPr>
          <p:cNvPicPr>
            <a:picLocks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24734" y="2366116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14" name="図 213">
            <a:extLst>
              <a:ext uri="{FF2B5EF4-FFF2-40B4-BE49-F238E27FC236}">
                <a16:creationId xmlns:a16="http://schemas.microsoft.com/office/drawing/2014/main" id="{5614AF60-94C5-8277-15E4-5C46ADDE093C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9822" y="625606"/>
            <a:ext cx="1156757" cy="311845"/>
          </a:xfrm>
          <a:prstGeom prst="rect">
            <a:avLst/>
          </a:prstGeom>
        </p:spPr>
      </p:pic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510151B2-3826-622D-4562-49DBE3F62E1D}"/>
              </a:ext>
            </a:extLst>
          </p:cNvPr>
          <p:cNvSpPr txBox="1"/>
          <p:nvPr/>
        </p:nvSpPr>
        <p:spPr>
          <a:xfrm>
            <a:off x="6527719" y="545400"/>
            <a:ext cx="308510" cy="444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当</a:t>
            </a:r>
            <a:endParaRPr kumimoji="1" lang="en-US" altLang="ja-JP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日</a:t>
            </a:r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17B29378-E4D5-4453-16F7-B3A23A785C31}"/>
              </a:ext>
            </a:extLst>
          </p:cNvPr>
          <p:cNvSpPr txBox="1"/>
          <p:nvPr/>
        </p:nvSpPr>
        <p:spPr>
          <a:xfrm>
            <a:off x="7124957" y="544873"/>
            <a:ext cx="308510" cy="444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先</a:t>
            </a:r>
            <a:endParaRPr kumimoji="1" lang="en-US" altLang="ja-JP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週</a:t>
            </a:r>
            <a:endParaRPr kumimoji="1" lang="ja-JP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218" name="図 217">
            <a:extLst>
              <a:ext uri="{FF2B5EF4-FFF2-40B4-BE49-F238E27FC236}">
                <a16:creationId xmlns:a16="http://schemas.microsoft.com/office/drawing/2014/main" id="{283866E4-6DA7-C2B4-9F85-86DACBD870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5302" y="4542828"/>
            <a:ext cx="1496068" cy="149606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CDD5FCF-F2AA-2D2B-A83A-B2F327FC70F7}"/>
              </a:ext>
            </a:extLst>
          </p:cNvPr>
          <p:cNvSpPr/>
          <p:nvPr/>
        </p:nvSpPr>
        <p:spPr>
          <a:xfrm>
            <a:off x="9646503" y="4077492"/>
            <a:ext cx="1215252" cy="30312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目標生産数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C6B8CC-8E6F-C744-113F-84E6E5A8775D}"/>
              </a:ext>
            </a:extLst>
          </p:cNvPr>
          <p:cNvSpPr/>
          <p:nvPr/>
        </p:nvSpPr>
        <p:spPr>
          <a:xfrm>
            <a:off x="10858626" y="4077858"/>
            <a:ext cx="1215252" cy="30312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300000</a:t>
            </a:r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09E0EFB-B7D1-64E6-CA55-0E63B23A04BA}"/>
              </a:ext>
            </a:extLst>
          </p:cNvPr>
          <p:cNvSpPr/>
          <p:nvPr/>
        </p:nvSpPr>
        <p:spPr>
          <a:xfrm>
            <a:off x="6988300" y="104102"/>
            <a:ext cx="1095931" cy="2971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結果表示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394103D-DF7C-DC09-DB3D-8D86C6AE2054}"/>
              </a:ext>
            </a:extLst>
          </p:cNvPr>
          <p:cNvSpPr/>
          <p:nvPr/>
        </p:nvSpPr>
        <p:spPr>
          <a:xfrm>
            <a:off x="8138782" y="102498"/>
            <a:ext cx="1095931" cy="2971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メンバ入替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250272C-3354-79E6-CFD3-1E0AF3DA889E}"/>
              </a:ext>
            </a:extLst>
          </p:cNvPr>
          <p:cNvSpPr/>
          <p:nvPr/>
        </p:nvSpPr>
        <p:spPr>
          <a:xfrm>
            <a:off x="8434380" y="4083455"/>
            <a:ext cx="1095931" cy="2971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目標入力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540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3C5E-E8C2-BDE8-AB16-679C093D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5AC28F4-8B25-4A78-72C0-24F7B5607851}"/>
              </a:ext>
            </a:extLst>
          </p:cNvPr>
          <p:cNvSpPr/>
          <p:nvPr/>
        </p:nvSpPr>
        <p:spPr>
          <a:xfrm>
            <a:off x="117055" y="4109471"/>
            <a:ext cx="11957890" cy="256773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BE50B7A-5CC1-7230-B763-627A36830279}"/>
              </a:ext>
            </a:extLst>
          </p:cNvPr>
          <p:cNvSpPr txBox="1"/>
          <p:nvPr/>
        </p:nvSpPr>
        <p:spPr>
          <a:xfrm>
            <a:off x="68832" y="149634"/>
            <a:ext cx="1947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稼働率勝負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CB48F0B-44F4-227B-413F-D1642509CF2E}"/>
              </a:ext>
            </a:extLst>
          </p:cNvPr>
          <p:cNvSpPr/>
          <p:nvPr/>
        </p:nvSpPr>
        <p:spPr>
          <a:xfrm>
            <a:off x="117055" y="540323"/>
            <a:ext cx="11957890" cy="3100651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A40F074-5CCF-2B33-9C17-2D941FA54499}"/>
              </a:ext>
            </a:extLst>
          </p:cNvPr>
          <p:cNvSpPr/>
          <p:nvPr/>
        </p:nvSpPr>
        <p:spPr>
          <a:xfrm>
            <a:off x="3046863" y="945423"/>
            <a:ext cx="3677075" cy="47219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C551384-5F31-EF27-2F3A-368AA4ECF45C}"/>
              </a:ext>
            </a:extLst>
          </p:cNvPr>
          <p:cNvSpPr/>
          <p:nvPr/>
        </p:nvSpPr>
        <p:spPr>
          <a:xfrm>
            <a:off x="6723939" y="945423"/>
            <a:ext cx="2457528" cy="472193"/>
          </a:xfrm>
          <a:prstGeom prst="rect">
            <a:avLst/>
          </a:prstGeom>
          <a:solidFill>
            <a:srgbClr val="FFC8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E9F070-5F93-442A-E0C2-B987509F8020}"/>
              </a:ext>
            </a:extLst>
          </p:cNvPr>
          <p:cNvSpPr txBox="1"/>
          <p:nvPr/>
        </p:nvSpPr>
        <p:spPr>
          <a:xfrm>
            <a:off x="3090417" y="1027153"/>
            <a:ext cx="7075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500" b="1" dirty="0">
                <a:solidFill>
                  <a:prstClr val="white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60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6F82672-B318-5D38-86CA-BF37ACCD5B4B}"/>
              </a:ext>
            </a:extLst>
          </p:cNvPr>
          <p:cNvSpPr txBox="1"/>
          <p:nvPr/>
        </p:nvSpPr>
        <p:spPr>
          <a:xfrm>
            <a:off x="8460932" y="1035797"/>
            <a:ext cx="7381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5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4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0 %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D581D984-B89F-509A-664D-C03233C4F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72463"/>
              </p:ext>
            </p:extLst>
          </p:nvPr>
        </p:nvGraphicFramePr>
        <p:xfrm>
          <a:off x="2572659" y="2684721"/>
          <a:ext cx="7021672" cy="81150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03096">
                  <a:extLst>
                    <a:ext uri="{9D8B030D-6E8A-4147-A177-3AD203B41FA5}">
                      <a16:colId xmlns:a16="http://schemas.microsoft.com/office/drawing/2014/main" val="3542659806"/>
                    </a:ext>
                  </a:extLst>
                </a:gridCol>
                <a:gridCol w="1003096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1003096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1003096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1003096">
                  <a:extLst>
                    <a:ext uri="{9D8B030D-6E8A-4147-A177-3AD203B41FA5}">
                      <a16:colId xmlns:a16="http://schemas.microsoft.com/office/drawing/2014/main" val="1994325327"/>
                    </a:ext>
                  </a:extLst>
                </a:gridCol>
                <a:gridCol w="1003096">
                  <a:extLst>
                    <a:ext uri="{9D8B030D-6E8A-4147-A177-3AD203B41FA5}">
                      <a16:colId xmlns:a16="http://schemas.microsoft.com/office/drawing/2014/main" val="3844872914"/>
                    </a:ext>
                  </a:extLst>
                </a:gridCol>
                <a:gridCol w="1003096">
                  <a:extLst>
                    <a:ext uri="{9D8B030D-6E8A-4147-A177-3AD203B41FA5}">
                      <a16:colId xmlns:a16="http://schemas.microsoft.com/office/drawing/2014/main" val="2254263030"/>
                    </a:ext>
                  </a:extLst>
                </a:gridCol>
              </a:tblGrid>
              <a:tr h="270502"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Mon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Tue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Wed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Thu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Fri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Sat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27050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b="1" dirty="0">
                          <a:solidFill>
                            <a:schemeClr val="bg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昼 勤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3250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3740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3200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3700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  <a:tr h="27050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b="1" dirty="0">
                          <a:solidFill>
                            <a:schemeClr val="bg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夜 勤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3420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3860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2890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191600"/>
                  </a:ext>
                </a:extLst>
              </a:tr>
            </a:tbl>
          </a:graphicData>
        </a:graphic>
      </p:graphicFrame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663D6F-A7CF-A2BF-5596-504B73049542}"/>
              </a:ext>
            </a:extLst>
          </p:cNvPr>
          <p:cNvSpPr/>
          <p:nvPr/>
        </p:nvSpPr>
        <p:spPr>
          <a:xfrm>
            <a:off x="6646056" y="2684720"/>
            <a:ext cx="980902" cy="81150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ED35A7A-6322-C824-09B7-110C3DAF7366}"/>
              </a:ext>
            </a:extLst>
          </p:cNvPr>
          <p:cNvSpPr txBox="1"/>
          <p:nvPr/>
        </p:nvSpPr>
        <p:spPr>
          <a:xfrm>
            <a:off x="107530" y="3752787"/>
            <a:ext cx="2011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本日の生産状況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DE398DB-E71B-EFD7-CC0B-E217F4492047}"/>
              </a:ext>
            </a:extLst>
          </p:cNvPr>
          <p:cNvSpPr txBox="1"/>
          <p:nvPr/>
        </p:nvSpPr>
        <p:spPr>
          <a:xfrm>
            <a:off x="4204255" y="669517"/>
            <a:ext cx="3972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直近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時間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】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（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18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～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19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）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7D73A4F-A96F-1D71-C486-76807F3EE59E}"/>
              </a:ext>
            </a:extLst>
          </p:cNvPr>
          <p:cNvSpPr/>
          <p:nvPr/>
        </p:nvSpPr>
        <p:spPr>
          <a:xfrm>
            <a:off x="226556" y="896275"/>
            <a:ext cx="2195146" cy="259995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DA6EAD-3CC0-299B-A37E-AB39CFBE9001}"/>
              </a:ext>
            </a:extLst>
          </p:cNvPr>
          <p:cNvSpPr txBox="1"/>
          <p:nvPr/>
        </p:nvSpPr>
        <p:spPr>
          <a:xfrm>
            <a:off x="458442" y="789123"/>
            <a:ext cx="17313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昼勤メンバー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A53428-94A6-BE49-F2F1-F65F75303989}"/>
              </a:ext>
            </a:extLst>
          </p:cNvPr>
          <p:cNvSpPr txBox="1"/>
          <p:nvPr/>
        </p:nvSpPr>
        <p:spPr>
          <a:xfrm>
            <a:off x="2503049" y="2443348"/>
            <a:ext cx="1927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週間検査数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06AA927-F590-DCCC-E258-82B8F0BD1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186262"/>
              </p:ext>
            </p:extLst>
          </p:nvPr>
        </p:nvGraphicFramePr>
        <p:xfrm>
          <a:off x="208646" y="4500138"/>
          <a:ext cx="3312800" cy="54829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28200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2190156843"/>
                    </a:ext>
                  </a:extLst>
                </a:gridCol>
              </a:tblGrid>
              <a:tr h="23961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  績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  標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達成率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進捗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27397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13,535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13,500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100%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順調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8199E1E7-6486-B98B-3A5A-E2BCF3CD8E2D}"/>
              </a:ext>
            </a:extLst>
          </p:cNvPr>
          <p:cNvSpPr txBox="1"/>
          <p:nvPr/>
        </p:nvSpPr>
        <p:spPr>
          <a:xfrm>
            <a:off x="120352" y="4229866"/>
            <a:ext cx="4074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直近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時間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 （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18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～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19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）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8F47F73-153D-D6A9-3088-3DA84EC842F6}"/>
              </a:ext>
            </a:extLst>
          </p:cNvPr>
          <p:cNvSpPr txBox="1"/>
          <p:nvPr/>
        </p:nvSpPr>
        <p:spPr>
          <a:xfrm>
            <a:off x="137530" y="5061498"/>
            <a:ext cx="344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累積生産数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（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8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～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19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）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graphicFrame>
        <p:nvGraphicFramePr>
          <p:cNvPr id="87" name="表 86">
            <a:extLst>
              <a:ext uri="{FF2B5EF4-FFF2-40B4-BE49-F238E27FC236}">
                <a16:creationId xmlns:a16="http://schemas.microsoft.com/office/drawing/2014/main" id="{67D13A84-982A-FE4F-7583-9603D0D63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78889"/>
              </p:ext>
            </p:extLst>
          </p:nvPr>
        </p:nvGraphicFramePr>
        <p:xfrm>
          <a:off x="238592" y="5323883"/>
          <a:ext cx="3312800" cy="58797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28200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828200">
                  <a:extLst>
                    <a:ext uri="{9D8B030D-6E8A-4147-A177-3AD203B41FA5}">
                      <a16:colId xmlns:a16="http://schemas.microsoft.com/office/drawing/2014/main" val="2602357531"/>
                    </a:ext>
                  </a:extLst>
                </a:gridCol>
              </a:tblGrid>
              <a:tr h="2541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  績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  標</a:t>
                      </a:r>
                      <a:endParaRPr kumimoji="1" lang="en-US" altLang="ja-JP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達成率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進捗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136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155,000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150,000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105%</a:t>
                      </a:r>
                      <a:endParaRPr kumimoji="1" lang="ja-JP" altLang="en-US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超順調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graphicFrame>
        <p:nvGraphicFramePr>
          <p:cNvPr id="88" name="表 87">
            <a:extLst>
              <a:ext uri="{FF2B5EF4-FFF2-40B4-BE49-F238E27FC236}">
                <a16:creationId xmlns:a16="http://schemas.microsoft.com/office/drawing/2014/main" id="{42238161-D32A-C08B-094D-6094B79B6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706303"/>
              </p:ext>
            </p:extLst>
          </p:nvPr>
        </p:nvGraphicFramePr>
        <p:xfrm>
          <a:off x="3760056" y="6110462"/>
          <a:ext cx="5439060" cy="54228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87812">
                  <a:extLst>
                    <a:ext uri="{9D8B030D-6E8A-4147-A177-3AD203B41FA5}">
                      <a16:colId xmlns:a16="http://schemas.microsoft.com/office/drawing/2014/main" val="1074413920"/>
                    </a:ext>
                  </a:extLst>
                </a:gridCol>
                <a:gridCol w="1087812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1087812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1087812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1087812">
                  <a:extLst>
                    <a:ext uri="{9D8B030D-6E8A-4147-A177-3AD203B41FA5}">
                      <a16:colId xmlns:a16="http://schemas.microsoft.com/office/drawing/2014/main" val="1994325327"/>
                    </a:ext>
                  </a:extLst>
                </a:gridCol>
              </a:tblGrid>
              <a:tr h="168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412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413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416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421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№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428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29844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3,457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3,123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2,544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957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2,884</a:t>
                      </a:r>
                      <a:endParaRPr kumimoji="1" lang="ja-JP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2312291A-FB44-1755-6ACB-540F8C7FFCE4}"/>
              </a:ext>
            </a:extLst>
          </p:cNvPr>
          <p:cNvSpPr/>
          <p:nvPr/>
        </p:nvSpPr>
        <p:spPr>
          <a:xfrm>
            <a:off x="3808225" y="5336606"/>
            <a:ext cx="4308877" cy="4667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0420A1A-C4E2-CAD7-3F89-1158EE9114AC}"/>
              </a:ext>
            </a:extLst>
          </p:cNvPr>
          <p:cNvSpPr/>
          <p:nvPr/>
        </p:nvSpPr>
        <p:spPr>
          <a:xfrm>
            <a:off x="3800161" y="5337582"/>
            <a:ext cx="4308878" cy="465761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94BB7F5A-C979-2B37-FE4A-B009BB20BBA3}"/>
              </a:ext>
            </a:extLst>
          </p:cNvPr>
          <p:cNvCxnSpPr>
            <a:cxnSpLocks/>
          </p:cNvCxnSpPr>
          <p:nvPr/>
        </p:nvCxnSpPr>
        <p:spPr>
          <a:xfrm>
            <a:off x="5955063" y="5336605"/>
            <a:ext cx="0" cy="46673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BE68E9B7-1531-1B92-97F3-F1F1BF751EFF}"/>
              </a:ext>
            </a:extLst>
          </p:cNvPr>
          <p:cNvCxnSpPr>
            <a:cxnSpLocks/>
          </p:cNvCxnSpPr>
          <p:nvPr/>
        </p:nvCxnSpPr>
        <p:spPr>
          <a:xfrm>
            <a:off x="4872417" y="5336605"/>
            <a:ext cx="0" cy="46673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8033DEFD-5286-4995-9AF1-873DB2D9B975}"/>
              </a:ext>
            </a:extLst>
          </p:cNvPr>
          <p:cNvCxnSpPr>
            <a:cxnSpLocks/>
          </p:cNvCxnSpPr>
          <p:nvPr/>
        </p:nvCxnSpPr>
        <p:spPr>
          <a:xfrm>
            <a:off x="7035063" y="5340457"/>
            <a:ext cx="0" cy="462886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F2D7B4DB-649B-6550-1965-80C004779B06}"/>
              </a:ext>
            </a:extLst>
          </p:cNvPr>
          <p:cNvSpPr txBox="1"/>
          <p:nvPr/>
        </p:nvSpPr>
        <p:spPr>
          <a:xfrm>
            <a:off x="4522758" y="5077833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25%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73D4F67-C102-CE47-8973-55C5E61BF4FB}"/>
              </a:ext>
            </a:extLst>
          </p:cNvPr>
          <p:cNvSpPr txBox="1"/>
          <p:nvPr/>
        </p:nvSpPr>
        <p:spPr>
          <a:xfrm>
            <a:off x="6681805" y="5081157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75%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FBA376A2-5FEF-73B6-FE40-10614051C825}"/>
              </a:ext>
            </a:extLst>
          </p:cNvPr>
          <p:cNvSpPr txBox="1"/>
          <p:nvPr/>
        </p:nvSpPr>
        <p:spPr>
          <a:xfrm>
            <a:off x="5605182" y="5080136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50%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1B9D8D4C-7696-A8B9-C6C5-3C2EC2B5E054}"/>
              </a:ext>
            </a:extLst>
          </p:cNvPr>
          <p:cNvSpPr txBox="1"/>
          <p:nvPr/>
        </p:nvSpPr>
        <p:spPr>
          <a:xfrm>
            <a:off x="7691843" y="5066184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100%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390D1A3E-D007-4388-193E-F90E6F2B2FFE}"/>
              </a:ext>
            </a:extLst>
          </p:cNvPr>
          <p:cNvSpPr txBox="1"/>
          <p:nvPr/>
        </p:nvSpPr>
        <p:spPr>
          <a:xfrm>
            <a:off x="3451995" y="5087280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FED6C8EF-B2D6-B30E-8B6C-8D0AF0993F4D}"/>
              </a:ext>
            </a:extLst>
          </p:cNvPr>
          <p:cNvSpPr/>
          <p:nvPr/>
        </p:nvSpPr>
        <p:spPr>
          <a:xfrm>
            <a:off x="3777483" y="4515874"/>
            <a:ext cx="4887008" cy="500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C798FFE3-77B7-1A73-73D5-957B0CDB20DD}"/>
              </a:ext>
            </a:extLst>
          </p:cNvPr>
          <p:cNvSpPr/>
          <p:nvPr/>
        </p:nvSpPr>
        <p:spPr>
          <a:xfrm>
            <a:off x="3777697" y="4516218"/>
            <a:ext cx="5399680" cy="50038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7BC770CE-E5E9-BD20-11A3-243EFEF62590}"/>
              </a:ext>
            </a:extLst>
          </p:cNvPr>
          <p:cNvCxnSpPr>
            <a:cxnSpLocks/>
          </p:cNvCxnSpPr>
          <p:nvPr/>
        </p:nvCxnSpPr>
        <p:spPr>
          <a:xfrm>
            <a:off x="5932599" y="4515873"/>
            <a:ext cx="0" cy="50090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CD5838D4-AF75-10B9-A878-6ED7A1876D13}"/>
              </a:ext>
            </a:extLst>
          </p:cNvPr>
          <p:cNvCxnSpPr>
            <a:cxnSpLocks/>
          </p:cNvCxnSpPr>
          <p:nvPr/>
        </p:nvCxnSpPr>
        <p:spPr>
          <a:xfrm>
            <a:off x="4849953" y="4515873"/>
            <a:ext cx="0" cy="50090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927CF040-14B1-9054-A6A6-D41BD15968FA}"/>
              </a:ext>
            </a:extLst>
          </p:cNvPr>
          <p:cNvCxnSpPr>
            <a:cxnSpLocks/>
          </p:cNvCxnSpPr>
          <p:nvPr/>
        </p:nvCxnSpPr>
        <p:spPr>
          <a:xfrm>
            <a:off x="7012599" y="4515873"/>
            <a:ext cx="0" cy="50090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C6FE5CCE-4626-5F97-C2B5-9AC42D8B04E5}"/>
              </a:ext>
            </a:extLst>
          </p:cNvPr>
          <p:cNvCxnSpPr>
            <a:cxnSpLocks/>
          </p:cNvCxnSpPr>
          <p:nvPr/>
        </p:nvCxnSpPr>
        <p:spPr>
          <a:xfrm>
            <a:off x="8090920" y="4515873"/>
            <a:ext cx="0" cy="50090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3410F25F-B32B-4211-ACE4-720DBCED8052}"/>
              </a:ext>
            </a:extLst>
          </p:cNvPr>
          <p:cNvSpPr txBox="1"/>
          <p:nvPr/>
        </p:nvSpPr>
        <p:spPr>
          <a:xfrm>
            <a:off x="4500294" y="4283832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25%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AD5D8E87-ECEA-3CCC-3A61-24C82909DA8F}"/>
              </a:ext>
            </a:extLst>
          </p:cNvPr>
          <p:cNvSpPr txBox="1"/>
          <p:nvPr/>
        </p:nvSpPr>
        <p:spPr>
          <a:xfrm>
            <a:off x="6659341" y="4287156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75%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41ABA7CA-ADC6-D7FA-1445-BD13A0A072F5}"/>
              </a:ext>
            </a:extLst>
          </p:cNvPr>
          <p:cNvSpPr txBox="1"/>
          <p:nvPr/>
        </p:nvSpPr>
        <p:spPr>
          <a:xfrm>
            <a:off x="5582718" y="4286135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50%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D432C19F-1D86-4784-9673-14EB33B5D46C}"/>
              </a:ext>
            </a:extLst>
          </p:cNvPr>
          <p:cNvSpPr txBox="1"/>
          <p:nvPr/>
        </p:nvSpPr>
        <p:spPr>
          <a:xfrm>
            <a:off x="7669379" y="4272183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100%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4789D8D8-ED8F-F0B7-866B-2173C548C5F9}"/>
              </a:ext>
            </a:extLst>
          </p:cNvPr>
          <p:cNvSpPr txBox="1"/>
          <p:nvPr/>
        </p:nvSpPr>
        <p:spPr>
          <a:xfrm>
            <a:off x="8764597" y="4272182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125%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B1208C43-3B73-F869-518E-08FB7328956D}"/>
              </a:ext>
            </a:extLst>
          </p:cNvPr>
          <p:cNvSpPr txBox="1"/>
          <p:nvPr/>
        </p:nvSpPr>
        <p:spPr>
          <a:xfrm>
            <a:off x="3429531" y="4293279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C17807C4-55AF-F54F-1933-AD48E12D6691}"/>
              </a:ext>
            </a:extLst>
          </p:cNvPr>
          <p:cNvSpPr txBox="1"/>
          <p:nvPr/>
        </p:nvSpPr>
        <p:spPr>
          <a:xfrm>
            <a:off x="3687909" y="5830847"/>
            <a:ext cx="2306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号機別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生産数</a:t>
            </a:r>
          </a:p>
        </p:txBody>
      </p:sp>
      <p:grpSp>
        <p:nvGrpSpPr>
          <p:cNvPr id="162" name="グループ化 161">
            <a:extLst>
              <a:ext uri="{FF2B5EF4-FFF2-40B4-BE49-F238E27FC236}">
                <a16:creationId xmlns:a16="http://schemas.microsoft.com/office/drawing/2014/main" id="{5C9A161C-9732-E81C-A8FA-FAA8A056BBEB}"/>
              </a:ext>
            </a:extLst>
          </p:cNvPr>
          <p:cNvGrpSpPr/>
          <p:nvPr/>
        </p:nvGrpSpPr>
        <p:grpSpPr>
          <a:xfrm>
            <a:off x="287108" y="2064246"/>
            <a:ext cx="2074043" cy="180000"/>
            <a:chOff x="293716" y="1756964"/>
            <a:chExt cx="2074043" cy="180000"/>
          </a:xfrm>
        </p:grpSpPr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A0F07794-E523-D8E5-3CBB-A8F6B06AC043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8DF9B4B1-8D27-E02D-1921-769732E9778C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68214A6A-73E8-4549-840F-856BEFF12E4B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grpSp>
        <p:nvGrpSpPr>
          <p:cNvPr id="163" name="グループ化 162">
            <a:extLst>
              <a:ext uri="{FF2B5EF4-FFF2-40B4-BE49-F238E27FC236}">
                <a16:creationId xmlns:a16="http://schemas.microsoft.com/office/drawing/2014/main" id="{9322A5CD-C16F-1540-1B26-7979B88F800E}"/>
              </a:ext>
            </a:extLst>
          </p:cNvPr>
          <p:cNvGrpSpPr/>
          <p:nvPr/>
        </p:nvGrpSpPr>
        <p:grpSpPr>
          <a:xfrm>
            <a:off x="287108" y="3234702"/>
            <a:ext cx="2074043" cy="180000"/>
            <a:chOff x="293716" y="1756964"/>
            <a:chExt cx="2074043" cy="180000"/>
          </a:xfrm>
        </p:grpSpPr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F26ADF39-114B-2340-DD6B-13730F1F2FEC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478DD241-676B-B95B-813C-D1131738397F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406F1726-0AC4-3B0E-34F8-F9D27039222C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0474C1F2-771D-6EF2-9943-717B8FD68B56}"/>
              </a:ext>
            </a:extLst>
          </p:cNvPr>
          <p:cNvSpPr/>
          <p:nvPr/>
        </p:nvSpPr>
        <p:spPr>
          <a:xfrm>
            <a:off x="9775851" y="906009"/>
            <a:ext cx="2195146" cy="259995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991A8CAB-3426-5A22-AB1C-9C465BC8F696}"/>
              </a:ext>
            </a:extLst>
          </p:cNvPr>
          <p:cNvSpPr txBox="1"/>
          <p:nvPr/>
        </p:nvSpPr>
        <p:spPr>
          <a:xfrm>
            <a:off x="10007737" y="789123"/>
            <a:ext cx="17313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400" b="1" dirty="0">
                <a:solidFill>
                  <a:srgbClr val="4472C4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夜勤メンバー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61068E87-C197-4469-A054-91BD1D523260}"/>
              </a:ext>
            </a:extLst>
          </p:cNvPr>
          <p:cNvGrpSpPr/>
          <p:nvPr/>
        </p:nvGrpSpPr>
        <p:grpSpPr>
          <a:xfrm>
            <a:off x="9836403" y="2064246"/>
            <a:ext cx="2074043" cy="180000"/>
            <a:chOff x="293716" y="1756964"/>
            <a:chExt cx="2074043" cy="180000"/>
          </a:xfrm>
        </p:grpSpPr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7CE11A28-812D-FFFF-760B-09BC849ABE82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59313825-508E-C0A2-BCF2-4D4F43956575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86F050FE-7755-81E2-EAC0-5FA0F5202AE8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grpSp>
        <p:nvGrpSpPr>
          <p:cNvPr id="173" name="グループ化 172">
            <a:extLst>
              <a:ext uri="{FF2B5EF4-FFF2-40B4-BE49-F238E27FC236}">
                <a16:creationId xmlns:a16="http://schemas.microsoft.com/office/drawing/2014/main" id="{4CC1B40F-55B3-7413-74A3-CCF1ADF115A7}"/>
              </a:ext>
            </a:extLst>
          </p:cNvPr>
          <p:cNvGrpSpPr/>
          <p:nvPr/>
        </p:nvGrpSpPr>
        <p:grpSpPr>
          <a:xfrm>
            <a:off x="9836403" y="3234702"/>
            <a:ext cx="2074043" cy="180000"/>
            <a:chOff x="293716" y="1756964"/>
            <a:chExt cx="2074043" cy="180000"/>
          </a:xfrm>
        </p:grpSpPr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AA05843B-4D38-8DA4-D15B-6378FD3E1CD0}"/>
                </a:ext>
              </a:extLst>
            </p:cNvPr>
            <p:cNvSpPr/>
            <p:nvPr/>
          </p:nvSpPr>
          <p:spPr>
            <a:xfrm>
              <a:off x="293716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6AEC1B24-D7C3-2CAD-1847-EE7ABAF81945}"/>
                </a:ext>
              </a:extLst>
            </p:cNvPr>
            <p:cNvSpPr/>
            <p:nvPr/>
          </p:nvSpPr>
          <p:spPr>
            <a:xfrm>
              <a:off x="988738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2C875AD9-9F41-E871-6D6D-8F20F707C390}"/>
                </a:ext>
              </a:extLst>
            </p:cNvPr>
            <p:cNvSpPr/>
            <p:nvPr/>
          </p:nvSpPr>
          <p:spPr>
            <a:xfrm>
              <a:off x="1683759" y="1756964"/>
              <a:ext cx="684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NAME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</p:grpSp>
      <p:pic>
        <p:nvPicPr>
          <p:cNvPr id="178" name="図 177">
            <a:extLst>
              <a:ext uri="{FF2B5EF4-FFF2-40B4-BE49-F238E27FC236}">
                <a16:creationId xmlns:a16="http://schemas.microsoft.com/office/drawing/2014/main" id="{30D41F0C-9461-2CDF-3804-A5BABD03F7ED}"/>
              </a:ext>
            </a:extLst>
          </p:cNvPr>
          <p:cNvPicPr>
            <a:picLocks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5750" y="119682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0" name="図 179">
            <a:extLst>
              <a:ext uri="{FF2B5EF4-FFF2-40B4-BE49-F238E27FC236}">
                <a16:creationId xmlns:a16="http://schemas.microsoft.com/office/drawing/2014/main" id="{C07DBBA0-900D-4CDD-838C-485336AA708B}"/>
              </a:ext>
            </a:extLst>
          </p:cNvPr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1824" y="119682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2" name="図 181">
            <a:extLst>
              <a:ext uri="{FF2B5EF4-FFF2-40B4-BE49-F238E27FC236}">
                <a16:creationId xmlns:a16="http://schemas.microsoft.com/office/drawing/2014/main" id="{C05AFABE-6E4F-E3D4-15B1-668E61A51C8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912" y="236765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4" name="図 183">
            <a:extLst>
              <a:ext uri="{FF2B5EF4-FFF2-40B4-BE49-F238E27FC236}">
                <a16:creationId xmlns:a16="http://schemas.microsoft.com/office/drawing/2014/main" id="{EA2DACD4-C462-11C6-5E0D-F9C7DD185899}"/>
              </a:ext>
            </a:extLst>
          </p:cNvPr>
          <p:cNvPicPr>
            <a:picLocks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280" r="10371"/>
          <a:stretch>
            <a:fillRect/>
          </a:stretch>
        </p:blipFill>
        <p:spPr>
          <a:xfrm>
            <a:off x="289975" y="236765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6" name="図 185">
            <a:extLst>
              <a:ext uri="{FF2B5EF4-FFF2-40B4-BE49-F238E27FC236}">
                <a16:creationId xmlns:a16="http://schemas.microsoft.com/office/drawing/2014/main" id="{E2552160-B453-52A8-E1EC-9F5373BF4A80}"/>
              </a:ext>
            </a:extLst>
          </p:cNvPr>
          <p:cNvPicPr>
            <a:picLocks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77151" y="119682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7" name="図 186">
            <a:extLst>
              <a:ext uri="{FF2B5EF4-FFF2-40B4-BE49-F238E27FC236}">
                <a16:creationId xmlns:a16="http://schemas.microsoft.com/office/drawing/2014/main" id="{CD3CF56B-6A56-9707-A657-82375824F68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7151" y="2367654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3" name="図 192">
            <a:extLst>
              <a:ext uri="{FF2B5EF4-FFF2-40B4-BE49-F238E27FC236}">
                <a16:creationId xmlns:a16="http://schemas.microsoft.com/office/drawing/2014/main" id="{90EBE73B-6078-F1E2-846D-58EE2B913EBD}"/>
              </a:ext>
            </a:extLst>
          </p:cNvPr>
          <p:cNvPicPr>
            <a:picLocks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3521" y="2366116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5" name="図 194">
            <a:extLst>
              <a:ext uri="{FF2B5EF4-FFF2-40B4-BE49-F238E27FC236}">
                <a16:creationId xmlns:a16="http://schemas.microsoft.com/office/drawing/2014/main" id="{20A844BF-2A32-E9D2-8E5E-1093A7C21650}"/>
              </a:ext>
            </a:extLst>
          </p:cNvPr>
          <p:cNvPicPr>
            <a:picLocks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5258" y="1190832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7" name="図 196">
            <a:extLst>
              <a:ext uri="{FF2B5EF4-FFF2-40B4-BE49-F238E27FC236}">
                <a16:creationId xmlns:a16="http://schemas.microsoft.com/office/drawing/2014/main" id="{89CC95CC-7AEE-E3FB-7C34-61F067BC2BCD}"/>
              </a:ext>
            </a:extLst>
          </p:cNvPr>
          <p:cNvPicPr>
            <a:picLocks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22" t="4723" r="3558" b="9569"/>
          <a:stretch>
            <a:fillRect/>
          </a:stretch>
        </p:blipFill>
        <p:spPr>
          <a:xfrm>
            <a:off x="11224734" y="1190832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9" name="図 198">
            <a:extLst>
              <a:ext uri="{FF2B5EF4-FFF2-40B4-BE49-F238E27FC236}">
                <a16:creationId xmlns:a16="http://schemas.microsoft.com/office/drawing/2014/main" id="{518D1230-3E5A-D39E-4166-756DBDD12E9F}"/>
              </a:ext>
            </a:extLst>
          </p:cNvPr>
          <p:cNvPicPr>
            <a:picLocks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80" t="5584" r="5873"/>
          <a:stretch>
            <a:fillRect/>
          </a:stretch>
        </p:blipFill>
        <p:spPr>
          <a:xfrm>
            <a:off x="9842307" y="2366116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01" name="図 200">
            <a:extLst>
              <a:ext uri="{FF2B5EF4-FFF2-40B4-BE49-F238E27FC236}">
                <a16:creationId xmlns:a16="http://schemas.microsoft.com/office/drawing/2014/main" id="{6D91449F-C9CF-5166-4CC0-58150ACDB80F}"/>
              </a:ext>
            </a:extLst>
          </p:cNvPr>
          <p:cNvPicPr>
            <a:picLocks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95" r="5449" b="7510"/>
          <a:stretch>
            <a:fillRect/>
          </a:stretch>
        </p:blipFill>
        <p:spPr>
          <a:xfrm>
            <a:off x="10534996" y="1190832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02" name="図 201">
            <a:extLst>
              <a:ext uri="{FF2B5EF4-FFF2-40B4-BE49-F238E27FC236}">
                <a16:creationId xmlns:a16="http://schemas.microsoft.com/office/drawing/2014/main" id="{CC7FBE52-63FB-6CAE-B1A4-B0B659892513}"/>
              </a:ext>
            </a:extLst>
          </p:cNvPr>
          <p:cNvPicPr>
            <a:picLocks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24734" y="2366116"/>
            <a:ext cx="684000" cy="864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18" name="図 217">
            <a:extLst>
              <a:ext uri="{FF2B5EF4-FFF2-40B4-BE49-F238E27FC236}">
                <a16:creationId xmlns:a16="http://schemas.microsoft.com/office/drawing/2014/main" id="{4B5F7083-DBA0-2763-6CB8-AD5D67F17D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9928" y="4368922"/>
            <a:ext cx="2259945" cy="227394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F3A5EC6-D5A2-CCC0-0C52-4A459744DB6F}"/>
              </a:ext>
            </a:extLst>
          </p:cNvPr>
          <p:cNvSpPr/>
          <p:nvPr/>
        </p:nvSpPr>
        <p:spPr>
          <a:xfrm>
            <a:off x="1565479" y="6110096"/>
            <a:ext cx="994007" cy="450615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目標生産数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F5E776-23C2-5485-ADA5-DE90D86952B2}"/>
              </a:ext>
            </a:extLst>
          </p:cNvPr>
          <p:cNvSpPr/>
          <p:nvPr/>
        </p:nvSpPr>
        <p:spPr>
          <a:xfrm>
            <a:off x="2561702" y="6110462"/>
            <a:ext cx="994007" cy="450615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300000</a:t>
            </a:r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22E3ED6-B312-9389-2AA9-272EA8F37F89}"/>
              </a:ext>
            </a:extLst>
          </p:cNvPr>
          <p:cNvSpPr/>
          <p:nvPr/>
        </p:nvSpPr>
        <p:spPr>
          <a:xfrm>
            <a:off x="9828532" y="143618"/>
            <a:ext cx="1095931" cy="2971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結果表示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1799DCF-97D7-EDD8-9BF0-E5478654357E}"/>
              </a:ext>
            </a:extLst>
          </p:cNvPr>
          <p:cNvSpPr/>
          <p:nvPr/>
        </p:nvSpPr>
        <p:spPr>
          <a:xfrm>
            <a:off x="10979014" y="142014"/>
            <a:ext cx="1095931" cy="2971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メンバ入替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EACDAF16-B0EC-8154-315A-7AFCAF328407}"/>
              </a:ext>
            </a:extLst>
          </p:cNvPr>
          <p:cNvSpPr/>
          <p:nvPr/>
        </p:nvSpPr>
        <p:spPr>
          <a:xfrm>
            <a:off x="280909" y="6148464"/>
            <a:ext cx="1162944" cy="39766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目標入力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533A31A-C572-8544-D1A4-819F6B33AF9A}"/>
              </a:ext>
            </a:extLst>
          </p:cNvPr>
          <p:cNvSpPr/>
          <p:nvPr/>
        </p:nvSpPr>
        <p:spPr>
          <a:xfrm>
            <a:off x="3046863" y="1853751"/>
            <a:ext cx="3290113" cy="47219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1540DD2-A89D-5251-AD1F-8D7B2ABE7EA1}"/>
              </a:ext>
            </a:extLst>
          </p:cNvPr>
          <p:cNvSpPr/>
          <p:nvPr/>
        </p:nvSpPr>
        <p:spPr>
          <a:xfrm>
            <a:off x="6336976" y="1853751"/>
            <a:ext cx="2808161" cy="472193"/>
          </a:xfrm>
          <a:prstGeom prst="rect">
            <a:avLst/>
          </a:prstGeom>
          <a:solidFill>
            <a:srgbClr val="FFC8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2C151BE-A31D-FFA6-FD18-5A2E26B69C88}"/>
              </a:ext>
            </a:extLst>
          </p:cNvPr>
          <p:cNvSpPr txBox="1"/>
          <p:nvPr/>
        </p:nvSpPr>
        <p:spPr>
          <a:xfrm>
            <a:off x="2990729" y="1927830"/>
            <a:ext cx="9044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500" b="1" dirty="0">
                <a:solidFill>
                  <a:prstClr val="white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52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 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FE3DAC3-7005-6B70-7DE4-659A8C633BA1}"/>
              </a:ext>
            </a:extLst>
          </p:cNvPr>
          <p:cNvSpPr txBox="1"/>
          <p:nvPr/>
        </p:nvSpPr>
        <p:spPr>
          <a:xfrm>
            <a:off x="8458233" y="1919227"/>
            <a:ext cx="7191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5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48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%</a:t>
            </a:r>
            <a:endParaRPr kumimoji="1" lang="ja-JP" altLang="en-US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0C02863-1A73-D718-0EEF-0B2EAFF27CB0}"/>
              </a:ext>
            </a:extLst>
          </p:cNvPr>
          <p:cNvSpPr txBox="1"/>
          <p:nvPr/>
        </p:nvSpPr>
        <p:spPr>
          <a:xfrm>
            <a:off x="4409809" y="1582366"/>
            <a:ext cx="3516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全経過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時間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】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（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8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～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19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：</a:t>
            </a:r>
            <a:r>
              <a:rPr lang="en-US" altLang="ja-JP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00</a:t>
            </a: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）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8F439F2-E3BB-57A4-9671-C38212CFEA4A}"/>
              </a:ext>
            </a:extLst>
          </p:cNvPr>
          <p:cNvSpPr txBox="1"/>
          <p:nvPr/>
        </p:nvSpPr>
        <p:spPr>
          <a:xfrm>
            <a:off x="2529526" y="1035035"/>
            <a:ext cx="58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今週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D7E4DB9-5298-BB74-ADA6-578EE60FD08E}"/>
              </a:ext>
            </a:extLst>
          </p:cNvPr>
          <p:cNvSpPr txBox="1"/>
          <p:nvPr/>
        </p:nvSpPr>
        <p:spPr>
          <a:xfrm>
            <a:off x="9127218" y="1051185"/>
            <a:ext cx="58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先週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C6B0F18-7DE1-EC1C-5C7F-2ECC80DD681E}"/>
              </a:ext>
            </a:extLst>
          </p:cNvPr>
          <p:cNvSpPr txBox="1"/>
          <p:nvPr/>
        </p:nvSpPr>
        <p:spPr>
          <a:xfrm>
            <a:off x="2520528" y="1923888"/>
            <a:ext cx="58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ja-JP" altLang="en-US" sz="1400" b="1" dirty="0">
                <a:solidFill>
                  <a:srgbClr val="E7E6E6">
                    <a:lumMod val="50000"/>
                  </a:srgb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今週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9890748-74C9-8927-936A-6C73D4E301C3}"/>
              </a:ext>
            </a:extLst>
          </p:cNvPr>
          <p:cNvSpPr txBox="1"/>
          <p:nvPr/>
        </p:nvSpPr>
        <p:spPr>
          <a:xfrm>
            <a:off x="9136768" y="1904199"/>
            <a:ext cx="58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先週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66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35F82B-6BCF-2A30-ED0B-47FE0FAB0FEA}"/>
              </a:ext>
            </a:extLst>
          </p:cNvPr>
          <p:cNvSpPr txBox="1"/>
          <p:nvPr/>
        </p:nvSpPr>
        <p:spPr>
          <a:xfrm>
            <a:off x="0" y="761883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コッパ君バロメーター（参考）</a:t>
            </a:r>
            <a:endParaRPr kumimoji="1" lang="ja-JP" altLang="en-US" sz="6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58BB04-C1E9-A78D-3F62-B3D469FF492C}"/>
              </a:ext>
            </a:extLst>
          </p:cNvPr>
          <p:cNvSpPr txBox="1"/>
          <p:nvPr/>
        </p:nvSpPr>
        <p:spPr>
          <a:xfrm>
            <a:off x="0" y="2333685"/>
            <a:ext cx="12192000" cy="4524315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0">
                <a:schemeClr val="accent1">
                  <a:tint val="66000"/>
                  <a:satMod val="160000"/>
                </a:schemeClr>
              </a:gs>
              <a:gs pos="100000">
                <a:srgbClr val="FF5050"/>
              </a:gs>
            </a:gsLst>
            <a:lin ang="10800000" scaled="1"/>
            <a:tileRect/>
          </a:gra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>
              <a:defRPr/>
            </a:pPr>
            <a:r>
              <a:rPr lang="ja-JP" altLang="en-US" sz="3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超遅れ　　　　　遅れ　　　　　順調　　　　　作りすぎ</a:t>
            </a: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>
              <a:defRPr/>
            </a:pP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>
              <a:defRPr/>
            </a:pP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>
              <a:defRPr/>
            </a:pP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>
              <a:defRPr/>
            </a:pP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>
              <a:defRPr/>
            </a:pP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>
              <a:defRPr/>
            </a:pPr>
            <a:endParaRPr lang="en-US" altLang="ja-JP" sz="3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35B4930-81C9-EC24-2310-1EC54AB87C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990974"/>
            <a:ext cx="2286002" cy="22860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57E0CE9C-D52F-CFB1-2130-2EB7E17B12F5}"/>
              </a:ext>
            </a:extLst>
          </p:cNvPr>
          <p:cNvSpPr/>
          <p:nvPr/>
        </p:nvSpPr>
        <p:spPr>
          <a:xfrm>
            <a:off x="9302726" y="2957829"/>
            <a:ext cx="317500" cy="411666"/>
          </a:xfrm>
          <a:prstGeom prst="rightArrow">
            <a:avLst>
              <a:gd name="adj1" fmla="val 40889"/>
              <a:gd name="adj2" fmla="val 80556"/>
            </a:avLst>
          </a:prstGeom>
          <a:solidFill>
            <a:schemeClr val="accent1">
              <a:lumMod val="5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F878D2CC-69B1-90B4-3A47-F9A29354A4E6}"/>
              </a:ext>
            </a:extLst>
          </p:cNvPr>
          <p:cNvSpPr/>
          <p:nvPr/>
        </p:nvSpPr>
        <p:spPr>
          <a:xfrm>
            <a:off x="2571779" y="2956497"/>
            <a:ext cx="317500" cy="411666"/>
          </a:xfrm>
          <a:prstGeom prst="rightArrow">
            <a:avLst>
              <a:gd name="adj1" fmla="val 40889"/>
              <a:gd name="adj2" fmla="val 80556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283E67BA-3DAE-2130-6B79-78F9AB107BA3}"/>
              </a:ext>
            </a:extLst>
          </p:cNvPr>
          <p:cNvSpPr/>
          <p:nvPr/>
        </p:nvSpPr>
        <p:spPr>
          <a:xfrm>
            <a:off x="5937252" y="2956497"/>
            <a:ext cx="317500" cy="411666"/>
          </a:xfrm>
          <a:prstGeom prst="rightArrow">
            <a:avLst>
              <a:gd name="adj1" fmla="val 40889"/>
              <a:gd name="adj2" fmla="val 80556"/>
            </a:avLst>
          </a:prstGeom>
          <a:solidFill>
            <a:schemeClr val="accent1">
              <a:lumMod val="75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47A5ADF4-A00F-97B0-81AF-3766AC1216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02001" y="3990974"/>
            <a:ext cx="2286000" cy="22860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C2F3AADB-6BF6-D2AA-F471-04E725EDBE7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04000" y="3990974"/>
            <a:ext cx="2286000" cy="2286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458657-2E5F-3CAE-6640-0B1118CBB1E4}"/>
              </a:ext>
            </a:extLst>
          </p:cNvPr>
          <p:cNvSpPr txBox="1"/>
          <p:nvPr/>
        </p:nvSpPr>
        <p:spPr>
          <a:xfrm>
            <a:off x="6458339" y="340994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１００～１２５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67E7DE-B158-0DDF-63EF-82855BC46252}"/>
              </a:ext>
            </a:extLst>
          </p:cNvPr>
          <p:cNvSpPr txBox="1"/>
          <p:nvPr/>
        </p:nvSpPr>
        <p:spPr>
          <a:xfrm>
            <a:off x="10377196" y="3451956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１２６～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DE5399-8450-6C53-7100-96042C085F18}"/>
              </a:ext>
            </a:extLst>
          </p:cNvPr>
          <p:cNvSpPr txBox="1"/>
          <p:nvPr/>
        </p:nvSpPr>
        <p:spPr>
          <a:xfrm>
            <a:off x="3651252" y="3434068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５０～９９</a:t>
            </a:r>
            <a:endParaRPr kumimoji="1" lang="en-US" altLang="ja-JP" dirty="0"/>
          </a:p>
          <a:p>
            <a:r>
              <a:rPr lang="ja-JP" altLang="en-US" dirty="0"/>
              <a:t>オレンジ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2EBD30-C8CE-E4A2-9DB4-36172E48B126}"/>
              </a:ext>
            </a:extLst>
          </p:cNvPr>
          <p:cNvSpPr txBox="1"/>
          <p:nvPr/>
        </p:nvSpPr>
        <p:spPr>
          <a:xfrm>
            <a:off x="203591" y="3457591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</a:t>
            </a:r>
            <a:r>
              <a:rPr kumimoji="1" lang="ja-JP" altLang="en-US" dirty="0"/>
              <a:t>～４９</a:t>
            </a:r>
            <a:endParaRPr kumimoji="1" lang="en-US" altLang="ja-JP" dirty="0"/>
          </a:p>
          <a:p>
            <a:r>
              <a:rPr lang="ja-JP" altLang="en-US" dirty="0"/>
              <a:t>赤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8E842FA-6E8B-F7BB-8185-4A2210C18633}"/>
              </a:ext>
            </a:extLst>
          </p:cNvPr>
          <p:cNvSpPr txBox="1"/>
          <p:nvPr/>
        </p:nvSpPr>
        <p:spPr>
          <a:xfrm>
            <a:off x="6458339" y="373459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水色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78F19F6-3F32-2526-FF9B-8759D60B0CB8}"/>
              </a:ext>
            </a:extLst>
          </p:cNvPr>
          <p:cNvSpPr txBox="1"/>
          <p:nvPr/>
        </p:nvSpPr>
        <p:spPr>
          <a:xfrm>
            <a:off x="10377196" y="3806308"/>
            <a:ext cx="143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濃い紫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903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AFFAD9-D5AE-80FF-4E7C-F2629EF0C335}"/>
              </a:ext>
            </a:extLst>
          </p:cNvPr>
          <p:cNvSpPr/>
          <p:nvPr/>
        </p:nvSpPr>
        <p:spPr>
          <a:xfrm>
            <a:off x="739139" y="1410567"/>
            <a:ext cx="2503747" cy="1239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82F8A7-0E58-9E8B-4D25-C0B974DD2ACE}"/>
              </a:ext>
            </a:extLst>
          </p:cNvPr>
          <p:cNvSpPr txBox="1"/>
          <p:nvPr/>
        </p:nvSpPr>
        <p:spPr>
          <a:xfrm>
            <a:off x="669174" y="1179645"/>
            <a:ext cx="153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PLC(KV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FF65BA4-97EF-00A2-069F-B31B4BC94704}"/>
              </a:ext>
            </a:extLst>
          </p:cNvPr>
          <p:cNvSpPr/>
          <p:nvPr/>
        </p:nvSpPr>
        <p:spPr>
          <a:xfrm>
            <a:off x="1596839" y="1655814"/>
            <a:ext cx="1463559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1 つの角を切り取る 6">
            <a:extLst>
              <a:ext uri="{FF2B5EF4-FFF2-40B4-BE49-F238E27FC236}">
                <a16:creationId xmlns:a16="http://schemas.microsoft.com/office/drawing/2014/main" id="{3EBDB43C-7BB7-269B-6A2A-F3DB04E2F40B}"/>
              </a:ext>
            </a:extLst>
          </p:cNvPr>
          <p:cNvSpPr/>
          <p:nvPr/>
        </p:nvSpPr>
        <p:spPr>
          <a:xfrm>
            <a:off x="1768747" y="1778168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稼働データ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B9DAEF-B369-3D21-9F3E-ADE6BE21EEE1}"/>
              </a:ext>
            </a:extLst>
          </p:cNvPr>
          <p:cNvSpPr/>
          <p:nvPr/>
        </p:nvSpPr>
        <p:spPr>
          <a:xfrm>
            <a:off x="837825" y="1655815"/>
            <a:ext cx="660170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470E3D-9787-23E8-F5E9-114C13F7C913}"/>
              </a:ext>
            </a:extLst>
          </p:cNvPr>
          <p:cNvSpPr txBox="1"/>
          <p:nvPr/>
        </p:nvSpPr>
        <p:spPr>
          <a:xfrm>
            <a:off x="790517" y="147097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D57D23-CDB6-EAFD-69AF-FFDD306A5C3C}"/>
              </a:ext>
            </a:extLst>
          </p:cNvPr>
          <p:cNvSpPr txBox="1"/>
          <p:nvPr/>
        </p:nvSpPr>
        <p:spPr>
          <a:xfrm>
            <a:off x="1496421" y="147986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1118C512-1894-13D9-1DD8-7F8ED16F4B7F}"/>
              </a:ext>
            </a:extLst>
          </p:cNvPr>
          <p:cNvSpPr/>
          <p:nvPr/>
        </p:nvSpPr>
        <p:spPr>
          <a:xfrm>
            <a:off x="1768747" y="2102787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</a:rPr>
              <a:t>GT2</a:t>
            </a:r>
            <a:r>
              <a:rPr kumimoji="1" lang="ja-JP" altLang="en-US" sz="800" dirty="0">
                <a:solidFill>
                  <a:schemeClr val="tx1"/>
                </a:solidFill>
              </a:rPr>
              <a:t>測定データ</a:t>
            </a:r>
            <a:r>
              <a:rPr lang="en-US" altLang="ja-JP" sz="800" dirty="0">
                <a:solidFill>
                  <a:schemeClr val="tx1"/>
                </a:solidFill>
              </a:rPr>
              <a:t>.CSV</a:t>
            </a:r>
            <a:endParaRPr kumimoji="1" lang="en-US" altLang="ja-JP" sz="800" dirty="0">
              <a:solidFill>
                <a:schemeClr val="tx1"/>
              </a:solidFill>
            </a:endParaRP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0A8FE9A6-A74C-9A58-DBD7-66172E182D1E}"/>
              </a:ext>
            </a:extLst>
          </p:cNvPr>
          <p:cNvSpPr/>
          <p:nvPr/>
        </p:nvSpPr>
        <p:spPr>
          <a:xfrm>
            <a:off x="1394742" y="1952221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FEC737-5A96-39C4-7549-89A4432623EC}"/>
              </a:ext>
            </a:extLst>
          </p:cNvPr>
          <p:cNvSpPr/>
          <p:nvPr/>
        </p:nvSpPr>
        <p:spPr>
          <a:xfrm>
            <a:off x="739139" y="3312942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8773A7-F705-A26F-9BA1-FB1EA7D5AC4C}"/>
              </a:ext>
            </a:extLst>
          </p:cNvPr>
          <p:cNvSpPr txBox="1"/>
          <p:nvPr/>
        </p:nvSpPr>
        <p:spPr>
          <a:xfrm>
            <a:off x="669174" y="3082020"/>
            <a:ext cx="2205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タッチパネル</a:t>
            </a:r>
            <a:r>
              <a:rPr kumimoji="1" lang="en-US" altLang="ja-JP" sz="1200" dirty="0"/>
              <a:t>(VT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88D3A15-1B75-BCA9-C852-2B967CB470F2}"/>
              </a:ext>
            </a:extLst>
          </p:cNvPr>
          <p:cNvSpPr/>
          <p:nvPr/>
        </p:nvSpPr>
        <p:spPr>
          <a:xfrm>
            <a:off x="1596839" y="3558189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3848EAC4-D212-B549-763C-45ED7D33EF43}"/>
              </a:ext>
            </a:extLst>
          </p:cNvPr>
          <p:cNvSpPr/>
          <p:nvPr/>
        </p:nvSpPr>
        <p:spPr>
          <a:xfrm>
            <a:off x="1768747" y="3680543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アラーム履歴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875974B-D680-58C1-B09E-48DE67E81B8F}"/>
              </a:ext>
            </a:extLst>
          </p:cNvPr>
          <p:cNvSpPr/>
          <p:nvPr/>
        </p:nvSpPr>
        <p:spPr>
          <a:xfrm>
            <a:off x="889361" y="3558190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1BC7E2-1DC4-CAAE-52F4-C91ACFE37211}"/>
              </a:ext>
            </a:extLst>
          </p:cNvPr>
          <p:cNvSpPr txBox="1"/>
          <p:nvPr/>
        </p:nvSpPr>
        <p:spPr>
          <a:xfrm>
            <a:off x="790517" y="337334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098FF69-D2C2-E137-F7A7-92BDFF9415A1}"/>
              </a:ext>
            </a:extLst>
          </p:cNvPr>
          <p:cNvSpPr txBox="1"/>
          <p:nvPr/>
        </p:nvSpPr>
        <p:spPr>
          <a:xfrm>
            <a:off x="1496421" y="338223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AC47CCE1-1C60-9B96-7014-BED67E1653FE}"/>
              </a:ext>
            </a:extLst>
          </p:cNvPr>
          <p:cNvSpPr/>
          <p:nvPr/>
        </p:nvSpPr>
        <p:spPr>
          <a:xfrm>
            <a:off x="1394742" y="3746646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798DCE1-C610-8507-813F-0BDBD5705985}"/>
              </a:ext>
            </a:extLst>
          </p:cNvPr>
          <p:cNvSpPr/>
          <p:nvPr/>
        </p:nvSpPr>
        <p:spPr>
          <a:xfrm>
            <a:off x="739139" y="4764381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748793-B955-FA66-883E-DB83CD5EF480}"/>
              </a:ext>
            </a:extLst>
          </p:cNvPr>
          <p:cNvSpPr txBox="1"/>
          <p:nvPr/>
        </p:nvSpPr>
        <p:spPr>
          <a:xfrm>
            <a:off x="669174" y="4533459"/>
            <a:ext cx="2391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画像コントローラ</a:t>
            </a:r>
            <a:r>
              <a:rPr kumimoji="1" lang="en-US" altLang="ja-JP" sz="1200" dirty="0"/>
              <a:t>(XG-X)</a:t>
            </a:r>
            <a:endParaRPr kumimoji="1" lang="ja-JP" altLang="en-US" sz="12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F47C72A-59E8-8E84-288E-CFFB0E84283C}"/>
              </a:ext>
            </a:extLst>
          </p:cNvPr>
          <p:cNvSpPr/>
          <p:nvPr/>
        </p:nvSpPr>
        <p:spPr>
          <a:xfrm>
            <a:off x="1596839" y="5009628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四角形: 1 つの角を切り取る 24">
            <a:extLst>
              <a:ext uri="{FF2B5EF4-FFF2-40B4-BE49-F238E27FC236}">
                <a16:creationId xmlns:a16="http://schemas.microsoft.com/office/drawing/2014/main" id="{3F88DC94-353E-C268-33B7-9DC0B9A69D39}"/>
              </a:ext>
            </a:extLst>
          </p:cNvPr>
          <p:cNvSpPr/>
          <p:nvPr/>
        </p:nvSpPr>
        <p:spPr>
          <a:xfrm>
            <a:off x="1768747" y="5131982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数値測定結果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D63927A-2925-EECE-6BAF-7728961081C8}"/>
              </a:ext>
            </a:extLst>
          </p:cNvPr>
          <p:cNvSpPr/>
          <p:nvPr/>
        </p:nvSpPr>
        <p:spPr>
          <a:xfrm>
            <a:off x="889361" y="5009629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941ED7C-5AFB-286C-4EE1-41D42943236F}"/>
              </a:ext>
            </a:extLst>
          </p:cNvPr>
          <p:cNvSpPr txBox="1"/>
          <p:nvPr/>
        </p:nvSpPr>
        <p:spPr>
          <a:xfrm>
            <a:off x="790517" y="482478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C4E8DFE-301A-997A-EF30-24C470DB76C5}"/>
              </a:ext>
            </a:extLst>
          </p:cNvPr>
          <p:cNvSpPr txBox="1"/>
          <p:nvPr/>
        </p:nvSpPr>
        <p:spPr>
          <a:xfrm>
            <a:off x="1496421" y="483367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A88521F6-6FE0-95D5-1B9B-12DB2C39BCB0}"/>
              </a:ext>
            </a:extLst>
          </p:cNvPr>
          <p:cNvSpPr/>
          <p:nvPr/>
        </p:nvSpPr>
        <p:spPr>
          <a:xfrm>
            <a:off x="1394742" y="5198085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73F55FB-EED8-AD8D-AD01-BD538DCD33BA}"/>
              </a:ext>
            </a:extLst>
          </p:cNvPr>
          <p:cNvSpPr txBox="1"/>
          <p:nvPr/>
        </p:nvSpPr>
        <p:spPr>
          <a:xfrm>
            <a:off x="739139" y="2641710"/>
            <a:ext cx="2503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稼働データは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日に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回自動出力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測定データは固定数毎</a:t>
            </a:r>
            <a:r>
              <a:rPr lang="en-US" altLang="ja-JP" sz="800" dirty="0"/>
              <a:t>(</a:t>
            </a:r>
            <a:r>
              <a:rPr lang="ja-JP" altLang="en-US" sz="800" dirty="0"/>
              <a:t>例えば</a:t>
            </a:r>
            <a:r>
              <a:rPr lang="en-US" altLang="ja-JP" sz="800" dirty="0"/>
              <a:t>1000</a:t>
            </a:r>
            <a:r>
              <a:rPr lang="ja-JP" altLang="en-US" sz="800" dirty="0"/>
              <a:t>個毎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778971D-A49A-68E7-FF76-1AD95645D78D}"/>
              </a:ext>
            </a:extLst>
          </p:cNvPr>
          <p:cNvSpPr txBox="1"/>
          <p:nvPr/>
        </p:nvSpPr>
        <p:spPr>
          <a:xfrm>
            <a:off x="739138" y="4211400"/>
            <a:ext cx="25037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アラーム履歴は</a:t>
            </a:r>
            <a:r>
              <a:rPr kumimoji="1" lang="en-US" altLang="ja-JP" sz="800" dirty="0"/>
              <a:t>PC</a:t>
            </a:r>
            <a:r>
              <a:rPr kumimoji="1" lang="ja-JP" altLang="en-US" sz="800" dirty="0"/>
              <a:t>からの要求時に</a:t>
            </a:r>
            <a:r>
              <a:rPr kumimoji="1" lang="en-US" altLang="ja-JP" sz="800" dirty="0"/>
              <a:t>SD</a:t>
            </a:r>
            <a:r>
              <a:rPr kumimoji="1" lang="ja-JP" altLang="en-US" sz="800" dirty="0"/>
              <a:t>へ出力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7C85114-E6FD-DE97-4937-827673BC8FA2}"/>
              </a:ext>
            </a:extLst>
          </p:cNvPr>
          <p:cNvSpPr txBox="1"/>
          <p:nvPr/>
        </p:nvSpPr>
        <p:spPr>
          <a:xfrm>
            <a:off x="739138" y="5670664"/>
            <a:ext cx="2503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測定時に自動出力される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最新ファイルは</a:t>
            </a:r>
            <a:r>
              <a:rPr lang="en-US" altLang="ja-JP" sz="800" dirty="0"/>
              <a:t>PC</a:t>
            </a:r>
            <a:r>
              <a:rPr lang="ja-JP" altLang="en-US" sz="800" dirty="0"/>
              <a:t>からアクセスしない</a:t>
            </a:r>
            <a:endParaRPr lang="en-US" altLang="ja-JP" sz="800" dirty="0"/>
          </a:p>
          <a:p>
            <a:r>
              <a:rPr kumimoji="1" lang="en-US" altLang="ja-JP" sz="800" dirty="0"/>
              <a:t>  </a:t>
            </a:r>
            <a:r>
              <a:rPr kumimoji="1" lang="ja-JP" altLang="en-US" sz="800" dirty="0"/>
              <a:t> </a:t>
            </a:r>
            <a:r>
              <a:rPr kumimoji="1" lang="en-US" altLang="ja-JP" sz="800" dirty="0"/>
              <a:t>(</a:t>
            </a:r>
            <a:r>
              <a:rPr kumimoji="1" lang="ja-JP" altLang="en-US" sz="800" dirty="0"/>
              <a:t>データが壊れる可能性があるため）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画像データは巨大すぎるため対象外</a:t>
            </a:r>
            <a:endParaRPr lang="en-US" altLang="ja-JP" sz="800" dirty="0"/>
          </a:p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データ出力ユニットを利用する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DE030D1-3C64-4465-0DEE-9F11F57BB44F}"/>
              </a:ext>
            </a:extLst>
          </p:cNvPr>
          <p:cNvSpPr/>
          <p:nvPr/>
        </p:nvSpPr>
        <p:spPr>
          <a:xfrm>
            <a:off x="861097" y="1685149"/>
            <a:ext cx="600926" cy="274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カウンタ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477DE2E5-CB42-0F15-C3AA-5FC7FBDC0D1F}"/>
              </a:ext>
            </a:extLst>
          </p:cNvPr>
          <p:cNvSpPr/>
          <p:nvPr/>
        </p:nvSpPr>
        <p:spPr>
          <a:xfrm>
            <a:off x="523009" y="1086368"/>
            <a:ext cx="3549534" cy="5394961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6E11FBE-DE01-BAF7-54B1-8012E271821F}"/>
              </a:ext>
            </a:extLst>
          </p:cNvPr>
          <p:cNvSpPr/>
          <p:nvPr/>
        </p:nvSpPr>
        <p:spPr>
          <a:xfrm>
            <a:off x="3327629" y="1410567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04252902-8C41-9B71-9E3F-4526156316B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242886" y="1849264"/>
            <a:ext cx="266008" cy="181063"/>
          </a:xfrm>
          <a:prstGeom prst="bentConnector3">
            <a:avLst>
              <a:gd name="adj1" fmla="val 94162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41C35EFF-7DAC-3986-2E44-6C97D2496991}"/>
              </a:ext>
            </a:extLst>
          </p:cNvPr>
          <p:cNvCxnSpPr>
            <a:cxnSpLocks/>
            <a:stCxn id="13" idx="3"/>
            <a:endCxn id="35" idx="2"/>
          </p:cNvCxnSpPr>
          <p:nvPr/>
        </p:nvCxnSpPr>
        <p:spPr>
          <a:xfrm flipV="1">
            <a:off x="3242886" y="1851188"/>
            <a:ext cx="395324" cy="1914896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B3260882-5C29-3428-64A6-D61C964E766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242886" y="1849264"/>
            <a:ext cx="539058" cy="3368259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79CF9DC5-5C06-B6A5-ACD4-5FDEA8E55C3E}"/>
              </a:ext>
            </a:extLst>
          </p:cNvPr>
          <p:cNvSpPr/>
          <p:nvPr/>
        </p:nvSpPr>
        <p:spPr>
          <a:xfrm>
            <a:off x="5651059" y="1046860"/>
            <a:ext cx="4046385" cy="1326625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A6FD659-F172-9898-EA1B-2FF87E5EF9EC}"/>
              </a:ext>
            </a:extLst>
          </p:cNvPr>
          <p:cNvSpPr txBox="1"/>
          <p:nvPr/>
        </p:nvSpPr>
        <p:spPr>
          <a:xfrm>
            <a:off x="523009" y="814575"/>
            <a:ext cx="93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検査装置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83A6C2F-C447-ED40-75BF-845AC99272C4}"/>
              </a:ext>
            </a:extLst>
          </p:cNvPr>
          <p:cNvSpPr txBox="1"/>
          <p:nvPr/>
        </p:nvSpPr>
        <p:spPr>
          <a:xfrm>
            <a:off x="5651059" y="814575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現場記録用</a:t>
            </a:r>
            <a:r>
              <a:rPr kumimoji="1" lang="en-US" altLang="ja-JP" sz="1200" dirty="0"/>
              <a:t>PC</a:t>
            </a:r>
            <a:endParaRPr kumimoji="1" lang="ja-JP" altLang="en-US" sz="1200" dirty="0"/>
          </a:p>
        </p:txBody>
      </p:sp>
      <p:sp>
        <p:nvSpPr>
          <p:cNvPr id="58" name="円柱 57">
            <a:extLst>
              <a:ext uri="{FF2B5EF4-FFF2-40B4-BE49-F238E27FC236}">
                <a16:creationId xmlns:a16="http://schemas.microsoft.com/office/drawing/2014/main" id="{C2C7750B-1896-4763-C2A9-EEC5FDF56493}"/>
              </a:ext>
            </a:extLst>
          </p:cNvPr>
          <p:cNvSpPr/>
          <p:nvPr/>
        </p:nvSpPr>
        <p:spPr>
          <a:xfrm>
            <a:off x="7320339" y="1517827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23ADD5B-83C7-A44E-9133-33E22D9AFFDE}"/>
              </a:ext>
            </a:extLst>
          </p:cNvPr>
          <p:cNvSpPr/>
          <p:nvPr/>
        </p:nvSpPr>
        <p:spPr>
          <a:xfrm>
            <a:off x="5837723" y="1366870"/>
            <a:ext cx="1038707" cy="520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データ登録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FC495AD9-56BA-3247-189E-CD93BBA1E964}"/>
              </a:ext>
            </a:extLst>
          </p:cNvPr>
          <p:cNvSpPr/>
          <p:nvPr/>
        </p:nvSpPr>
        <p:spPr>
          <a:xfrm>
            <a:off x="6871655" y="1700203"/>
            <a:ext cx="448683" cy="120775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2D0E463D-67CA-0015-AF6A-5AAE7B80E42F}"/>
              </a:ext>
            </a:extLst>
          </p:cNvPr>
          <p:cNvCxnSpPr>
            <a:cxnSpLocks/>
            <a:stCxn id="54" idx="1"/>
            <a:endCxn id="77" idx="3"/>
          </p:cNvCxnSpPr>
          <p:nvPr/>
        </p:nvCxnSpPr>
        <p:spPr>
          <a:xfrm rot="10800000">
            <a:off x="4980123" y="1628955"/>
            <a:ext cx="670937" cy="8121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AB0959BA-9687-E5FE-7964-3E3BACE73894}"/>
              </a:ext>
            </a:extLst>
          </p:cNvPr>
          <p:cNvSpPr/>
          <p:nvPr/>
        </p:nvSpPr>
        <p:spPr>
          <a:xfrm>
            <a:off x="4358961" y="1408643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27DCEC72-51D3-8413-A4DF-36EB13F2B98C}"/>
              </a:ext>
            </a:extLst>
          </p:cNvPr>
          <p:cNvCxnSpPr>
            <a:cxnSpLocks/>
            <a:stCxn id="77" idx="1"/>
            <a:endCxn id="35" idx="3"/>
          </p:cNvCxnSpPr>
          <p:nvPr/>
        </p:nvCxnSpPr>
        <p:spPr>
          <a:xfrm rot="10800000" flipV="1">
            <a:off x="3948791" y="1628954"/>
            <a:ext cx="410171" cy="192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F74FC92A-20BD-D8E3-0509-8011643DC4C8}"/>
              </a:ext>
            </a:extLst>
          </p:cNvPr>
          <p:cNvSpPr txBox="1"/>
          <p:nvPr/>
        </p:nvSpPr>
        <p:spPr>
          <a:xfrm>
            <a:off x="5593685" y="5841348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見える化</a:t>
            </a:r>
            <a:r>
              <a:rPr lang="ja-JP" altLang="en-US" sz="1200" dirty="0"/>
              <a:t>モニタ</a:t>
            </a:r>
            <a:endParaRPr kumimoji="1" lang="ja-JP" altLang="en-US" sz="1200" dirty="0"/>
          </a:p>
        </p:txBody>
      </p:sp>
      <p:sp>
        <p:nvSpPr>
          <p:cNvPr id="90" name="直方体 89">
            <a:extLst>
              <a:ext uri="{FF2B5EF4-FFF2-40B4-BE49-F238E27FC236}">
                <a16:creationId xmlns:a16="http://schemas.microsoft.com/office/drawing/2014/main" id="{B46F0F9A-4794-C0CF-20A8-341D243FE900}"/>
              </a:ext>
            </a:extLst>
          </p:cNvPr>
          <p:cNvSpPr/>
          <p:nvPr/>
        </p:nvSpPr>
        <p:spPr>
          <a:xfrm>
            <a:off x="5651059" y="4470206"/>
            <a:ext cx="2175166" cy="1344824"/>
          </a:xfrm>
          <a:prstGeom prst="cube">
            <a:avLst>
              <a:gd name="adj" fmla="val 21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5C1FBDF-C602-927F-E18F-2C670C0DB987}"/>
              </a:ext>
            </a:extLst>
          </p:cNvPr>
          <p:cNvSpPr txBox="1"/>
          <p:nvPr/>
        </p:nvSpPr>
        <p:spPr>
          <a:xfrm>
            <a:off x="5637629" y="6163106"/>
            <a:ext cx="16284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※70</a:t>
            </a:r>
            <a:r>
              <a:rPr kumimoji="1" lang="ja-JP" altLang="en-US" sz="800" dirty="0"/>
              <a:t>インチ程度のサブモニタ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DEB96C9D-E78C-FDA2-6350-2C5D4C110ED7}"/>
              </a:ext>
            </a:extLst>
          </p:cNvPr>
          <p:cNvSpPr txBox="1"/>
          <p:nvPr/>
        </p:nvSpPr>
        <p:spPr>
          <a:xfrm>
            <a:off x="7233960" y="1995983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※SQLite</a:t>
            </a:r>
            <a:r>
              <a:rPr kumimoji="1" lang="ja-JP" altLang="en-US" sz="800" dirty="0"/>
              <a:t>ファイル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570BEAD-9D95-913E-0926-E973EE896F4D}"/>
              </a:ext>
            </a:extLst>
          </p:cNvPr>
          <p:cNvCxnSpPr>
            <a:cxnSpLocks/>
            <a:stCxn id="77" idx="2"/>
          </p:cNvCxnSpPr>
          <p:nvPr/>
        </p:nvCxnSpPr>
        <p:spPr>
          <a:xfrm>
            <a:off x="4669542" y="1849264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0225CAB2-4B8C-880C-1034-C020CA48C0E6}"/>
              </a:ext>
            </a:extLst>
          </p:cNvPr>
          <p:cNvCxnSpPr>
            <a:cxnSpLocks/>
          </p:cNvCxnSpPr>
          <p:nvPr/>
        </p:nvCxnSpPr>
        <p:spPr>
          <a:xfrm>
            <a:off x="4504442" y="1845396"/>
            <a:ext cx="0" cy="92137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DCD3C7D-9AB6-15E7-97E9-D07E11E336EA}"/>
              </a:ext>
            </a:extLst>
          </p:cNvPr>
          <p:cNvCxnSpPr>
            <a:cxnSpLocks/>
          </p:cNvCxnSpPr>
          <p:nvPr/>
        </p:nvCxnSpPr>
        <p:spPr>
          <a:xfrm>
            <a:off x="4831467" y="1845396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0B56070F-8EF2-A8B3-A239-509C41A34FFA}"/>
              </a:ext>
            </a:extLst>
          </p:cNvPr>
          <p:cNvSpPr txBox="1"/>
          <p:nvPr/>
        </p:nvSpPr>
        <p:spPr>
          <a:xfrm>
            <a:off x="4327269" y="2808636"/>
            <a:ext cx="797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他検査機へ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B1C04F0-39EE-DF00-3EA2-3FA77B1B0B08}"/>
              </a:ext>
            </a:extLst>
          </p:cNvPr>
          <p:cNvSpPr txBox="1"/>
          <p:nvPr/>
        </p:nvSpPr>
        <p:spPr>
          <a:xfrm>
            <a:off x="228022" y="168868"/>
            <a:ext cx="521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コバテック様向け</a:t>
            </a:r>
            <a:endParaRPr kumimoji="1" lang="en-US" altLang="ja-JP" sz="1200" dirty="0"/>
          </a:p>
          <a:p>
            <a:r>
              <a:rPr kumimoji="1" lang="ja-JP" altLang="en-US" sz="1600" u="sng" dirty="0"/>
              <a:t>ボディ検査装置データ自動取集＆見える化 構想図</a:t>
            </a:r>
          </a:p>
        </p:txBody>
      </p:sp>
      <p:sp>
        <p:nvSpPr>
          <p:cNvPr id="1028" name="テキスト ボックス 1027">
            <a:extLst>
              <a:ext uri="{FF2B5EF4-FFF2-40B4-BE49-F238E27FC236}">
                <a16:creationId xmlns:a16="http://schemas.microsoft.com/office/drawing/2014/main" id="{239938EF-6111-F545-7813-AB8739783B7B}"/>
              </a:ext>
            </a:extLst>
          </p:cNvPr>
          <p:cNvSpPr txBox="1"/>
          <p:nvPr/>
        </p:nvSpPr>
        <p:spPr>
          <a:xfrm>
            <a:off x="10774582" y="244711"/>
            <a:ext cx="120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最終更新</a:t>
            </a:r>
            <a:r>
              <a:rPr lang="en-US" altLang="ja-JP" sz="800" dirty="0"/>
              <a:t> : 2026/9/23</a:t>
            </a:r>
          </a:p>
          <a:p>
            <a:r>
              <a:rPr kumimoji="1" lang="ja-JP" altLang="en-US" sz="800" dirty="0"/>
              <a:t>京和製作所 間瀬</a:t>
            </a:r>
          </a:p>
        </p:txBody>
      </p:sp>
      <p:sp>
        <p:nvSpPr>
          <p:cNvPr id="36" name="円柱 35">
            <a:extLst>
              <a:ext uri="{FF2B5EF4-FFF2-40B4-BE49-F238E27FC236}">
                <a16:creationId xmlns:a16="http://schemas.microsoft.com/office/drawing/2014/main" id="{1A9EC037-3D5E-4403-4F20-034B02726408}"/>
              </a:ext>
            </a:extLst>
          </p:cNvPr>
          <p:cNvSpPr/>
          <p:nvPr/>
        </p:nvSpPr>
        <p:spPr>
          <a:xfrm>
            <a:off x="8262826" y="1281466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en-US" altLang="ja-JP" sz="900" dirty="0">
                <a:solidFill>
                  <a:schemeClr val="tx1"/>
                </a:solidFill>
              </a:rPr>
              <a:t>Backup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C167F271-723F-5183-4BFE-877673B08F65}"/>
              </a:ext>
            </a:extLst>
          </p:cNvPr>
          <p:cNvSpPr/>
          <p:nvPr/>
        </p:nvSpPr>
        <p:spPr>
          <a:xfrm>
            <a:off x="6873809" y="1380927"/>
            <a:ext cx="1387770" cy="120775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C472EDFD-3957-FEAD-ECE6-5F1AAB603548}"/>
              </a:ext>
            </a:extLst>
          </p:cNvPr>
          <p:cNvSpPr/>
          <p:nvPr/>
        </p:nvSpPr>
        <p:spPr>
          <a:xfrm>
            <a:off x="5639244" y="2985470"/>
            <a:ext cx="4046385" cy="1326625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DCF49FF-780C-4308-39DA-581CBF25FF21}"/>
              </a:ext>
            </a:extLst>
          </p:cNvPr>
          <p:cNvSpPr txBox="1"/>
          <p:nvPr/>
        </p:nvSpPr>
        <p:spPr>
          <a:xfrm>
            <a:off x="5639244" y="2753185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見える化</a:t>
            </a:r>
            <a:r>
              <a:rPr kumimoji="1" lang="ja-JP" altLang="en-US" sz="1200" dirty="0"/>
              <a:t>用</a:t>
            </a:r>
            <a:r>
              <a:rPr kumimoji="1" lang="en-US" altLang="ja-JP" sz="1200" dirty="0"/>
              <a:t>PC</a:t>
            </a:r>
            <a:endParaRPr kumimoji="1" lang="ja-JP" altLang="en-US" sz="1200" dirty="0"/>
          </a:p>
        </p:txBody>
      </p:sp>
      <p:sp>
        <p:nvSpPr>
          <p:cNvPr id="47" name="円柱 46">
            <a:extLst>
              <a:ext uri="{FF2B5EF4-FFF2-40B4-BE49-F238E27FC236}">
                <a16:creationId xmlns:a16="http://schemas.microsoft.com/office/drawing/2014/main" id="{6A6B7C0A-9EE2-A411-59DE-E2D43C3BB99D}"/>
              </a:ext>
            </a:extLst>
          </p:cNvPr>
          <p:cNvSpPr/>
          <p:nvPr/>
        </p:nvSpPr>
        <p:spPr>
          <a:xfrm>
            <a:off x="7308524" y="3456437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6145078-EA82-0302-72C2-36B3212A675C}"/>
              </a:ext>
            </a:extLst>
          </p:cNvPr>
          <p:cNvSpPr/>
          <p:nvPr/>
        </p:nvSpPr>
        <p:spPr>
          <a:xfrm>
            <a:off x="5825908" y="3305480"/>
            <a:ext cx="1038707" cy="520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データ収集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モニタ表示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49" name="矢印: 右 48">
            <a:extLst>
              <a:ext uri="{FF2B5EF4-FFF2-40B4-BE49-F238E27FC236}">
                <a16:creationId xmlns:a16="http://schemas.microsoft.com/office/drawing/2014/main" id="{5C1DE8C8-56AD-83E1-FBED-D5A572D1ADB4}"/>
              </a:ext>
            </a:extLst>
          </p:cNvPr>
          <p:cNvSpPr/>
          <p:nvPr/>
        </p:nvSpPr>
        <p:spPr>
          <a:xfrm>
            <a:off x="6859840" y="3638813"/>
            <a:ext cx="448683" cy="120775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720A477-85E7-D301-EF0C-39C4DB828240}"/>
              </a:ext>
            </a:extLst>
          </p:cNvPr>
          <p:cNvSpPr txBox="1"/>
          <p:nvPr/>
        </p:nvSpPr>
        <p:spPr>
          <a:xfrm>
            <a:off x="7222145" y="3934593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※SQLite</a:t>
            </a:r>
            <a:r>
              <a:rPr kumimoji="1" lang="ja-JP" altLang="en-US" sz="800" dirty="0"/>
              <a:t>ファイル</a:t>
            </a: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E9CF56A6-EAE9-3343-56C3-FC7A5CA2D69B}"/>
              </a:ext>
            </a:extLst>
          </p:cNvPr>
          <p:cNvSpPr/>
          <p:nvPr/>
        </p:nvSpPr>
        <p:spPr>
          <a:xfrm>
            <a:off x="8251011" y="3220076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en-US" altLang="ja-JP" sz="900" dirty="0">
                <a:solidFill>
                  <a:schemeClr val="tx1"/>
                </a:solidFill>
              </a:rPr>
              <a:t>Backup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52" name="矢印: 右 51">
            <a:extLst>
              <a:ext uri="{FF2B5EF4-FFF2-40B4-BE49-F238E27FC236}">
                <a16:creationId xmlns:a16="http://schemas.microsoft.com/office/drawing/2014/main" id="{B0B62436-1FEE-DBE7-D9E8-AEA8480FF41F}"/>
              </a:ext>
            </a:extLst>
          </p:cNvPr>
          <p:cNvSpPr/>
          <p:nvPr/>
        </p:nvSpPr>
        <p:spPr>
          <a:xfrm>
            <a:off x="6861994" y="3319537"/>
            <a:ext cx="1387770" cy="120775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8D6F912C-7EA8-EEB0-4007-839E655B3A77}"/>
              </a:ext>
            </a:extLst>
          </p:cNvPr>
          <p:cNvCxnSpPr>
            <a:cxnSpLocks/>
            <a:stCxn id="45" idx="1"/>
            <a:endCxn id="77" idx="3"/>
          </p:cNvCxnSpPr>
          <p:nvPr/>
        </p:nvCxnSpPr>
        <p:spPr>
          <a:xfrm rot="10800000">
            <a:off x="4980122" y="1628955"/>
            <a:ext cx="659122" cy="2019829"/>
          </a:xfrm>
          <a:prstGeom prst="bentConnector3">
            <a:avLst>
              <a:gd name="adj1" fmla="val 70039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図 73">
            <a:extLst>
              <a:ext uri="{FF2B5EF4-FFF2-40B4-BE49-F238E27FC236}">
                <a16:creationId xmlns:a16="http://schemas.microsoft.com/office/drawing/2014/main" id="{493AAC9F-4D6C-13E8-8D85-44F667265F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5976" y="4635023"/>
            <a:ext cx="1856459" cy="1050507"/>
          </a:xfrm>
          <a:prstGeom prst="rect">
            <a:avLst/>
          </a:prstGeom>
        </p:spPr>
      </p:pic>
      <p:sp>
        <p:nvSpPr>
          <p:cNvPr id="75" name="矢印: 右 74">
            <a:extLst>
              <a:ext uri="{FF2B5EF4-FFF2-40B4-BE49-F238E27FC236}">
                <a16:creationId xmlns:a16="http://schemas.microsoft.com/office/drawing/2014/main" id="{70E5A652-1061-30CE-7A11-C1C0B6D8B2EE}"/>
              </a:ext>
            </a:extLst>
          </p:cNvPr>
          <p:cNvSpPr/>
          <p:nvPr/>
        </p:nvSpPr>
        <p:spPr>
          <a:xfrm rot="5400000">
            <a:off x="6040865" y="4094905"/>
            <a:ext cx="652233" cy="111782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0A0E0A3B-5613-43A1-AC34-5DE99DC1CCD0}"/>
              </a:ext>
            </a:extLst>
          </p:cNvPr>
          <p:cNvSpPr/>
          <p:nvPr/>
        </p:nvSpPr>
        <p:spPr>
          <a:xfrm>
            <a:off x="9334499" y="5942150"/>
            <a:ext cx="2646821" cy="65735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 dirty="0">
                <a:solidFill>
                  <a:srgbClr val="FF0000"/>
                </a:solidFill>
              </a:rPr>
              <a:t>セキュリティの観点からコバテック様社内ネットワークには接続しない。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23C9D39B-045A-342E-1A83-F74CE2B617F0}"/>
              </a:ext>
            </a:extLst>
          </p:cNvPr>
          <p:cNvSpPr/>
          <p:nvPr/>
        </p:nvSpPr>
        <p:spPr>
          <a:xfrm>
            <a:off x="7981142" y="4474625"/>
            <a:ext cx="3214918" cy="86554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000" dirty="0">
                <a:solidFill>
                  <a:schemeClr val="tx1"/>
                </a:solidFill>
              </a:rPr>
              <a:t>見える化用</a:t>
            </a:r>
            <a:r>
              <a:rPr lang="en-US" altLang="ja-JP" sz="1000" dirty="0">
                <a:solidFill>
                  <a:schemeClr val="tx1"/>
                </a:solidFill>
              </a:rPr>
              <a:t>PC</a:t>
            </a:r>
            <a:r>
              <a:rPr lang="ja-JP" altLang="en-US" sz="1000" dirty="0">
                <a:solidFill>
                  <a:schemeClr val="tx1"/>
                </a:solidFill>
              </a:rPr>
              <a:t>は必要データを</a:t>
            </a:r>
            <a:r>
              <a:rPr lang="en-US" altLang="ja-JP" sz="1000" dirty="0">
                <a:solidFill>
                  <a:schemeClr val="tx1"/>
                </a:solidFill>
              </a:rPr>
              <a:t>PLC</a:t>
            </a:r>
            <a:r>
              <a:rPr lang="ja-JP" altLang="en-US" sz="1000" dirty="0">
                <a:solidFill>
                  <a:schemeClr val="tx1"/>
                </a:solidFill>
              </a:rPr>
              <a:t>から取得する。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kumimoji="1" lang="ja-JP" altLang="en-US" sz="1000" dirty="0">
                <a:solidFill>
                  <a:schemeClr val="tx1"/>
                </a:solidFill>
              </a:rPr>
              <a:t>記録用</a:t>
            </a:r>
            <a:r>
              <a:rPr kumimoji="1" lang="en-US" altLang="ja-JP" sz="1000" dirty="0">
                <a:solidFill>
                  <a:schemeClr val="tx1"/>
                </a:solidFill>
              </a:rPr>
              <a:t>PC</a:t>
            </a:r>
            <a:r>
              <a:rPr kumimoji="1" lang="ja-JP" altLang="en-US" sz="1000" dirty="0">
                <a:solidFill>
                  <a:schemeClr val="tx1"/>
                </a:solidFill>
              </a:rPr>
              <a:t>とのやり取りはしない。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1</a:t>
            </a:r>
            <a:r>
              <a:rPr lang="ja-JP" altLang="en-US" sz="1000" dirty="0">
                <a:solidFill>
                  <a:schemeClr val="tx1"/>
                </a:solidFill>
              </a:rPr>
              <a:t>時間に</a:t>
            </a:r>
            <a:r>
              <a:rPr lang="en-US" altLang="ja-JP" sz="1000" dirty="0">
                <a:solidFill>
                  <a:schemeClr val="tx1"/>
                </a:solidFill>
              </a:rPr>
              <a:t>1</a:t>
            </a:r>
            <a:r>
              <a:rPr lang="ja-JP" altLang="en-US" sz="1000" dirty="0">
                <a:solidFill>
                  <a:schemeClr val="tx1"/>
                </a:solidFill>
              </a:rPr>
              <a:t>回</a:t>
            </a:r>
            <a:r>
              <a:rPr lang="en-US" altLang="ja-JP" sz="1000" dirty="0">
                <a:solidFill>
                  <a:schemeClr val="tx1"/>
                </a:solidFill>
              </a:rPr>
              <a:t>PLC</a:t>
            </a:r>
            <a:r>
              <a:rPr lang="ja-JP" altLang="en-US" sz="1000" dirty="0">
                <a:solidFill>
                  <a:schemeClr val="tx1"/>
                </a:solidFill>
              </a:rPr>
              <a:t>からデータを受信し、モニタ画面を更新する。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kumimoji="1" lang="ja-JP" altLang="en-US" sz="1000" dirty="0">
                <a:solidFill>
                  <a:schemeClr val="tx1"/>
                </a:solidFill>
              </a:rPr>
              <a:t>例えば</a:t>
            </a:r>
            <a:r>
              <a:rPr kumimoji="1" lang="en-US" altLang="ja-JP" sz="1000" dirty="0">
                <a:solidFill>
                  <a:schemeClr val="tx1"/>
                </a:solidFill>
              </a:rPr>
              <a:t>14:00</a:t>
            </a:r>
            <a:r>
              <a:rPr kumimoji="1" lang="ja-JP" altLang="en-US" sz="1000" dirty="0">
                <a:solidFill>
                  <a:schemeClr val="tx1"/>
                </a:solidFill>
              </a:rPr>
              <a:t>～</a:t>
            </a:r>
            <a:r>
              <a:rPr kumimoji="1" lang="en-US" altLang="ja-JP" sz="1000" dirty="0">
                <a:solidFill>
                  <a:schemeClr val="tx1"/>
                </a:solidFill>
              </a:rPr>
              <a:t>14:59</a:t>
            </a:r>
            <a:r>
              <a:rPr kumimoji="1" lang="ja-JP" altLang="en-US" sz="1000" dirty="0">
                <a:solidFill>
                  <a:schemeClr val="tx1"/>
                </a:solidFill>
              </a:rPr>
              <a:t>のデータは</a:t>
            </a:r>
            <a:r>
              <a:rPr kumimoji="1" lang="en-US" altLang="ja-JP" sz="1000" dirty="0">
                <a:solidFill>
                  <a:schemeClr val="tx1"/>
                </a:solidFill>
              </a:rPr>
              <a:t>15:05</a:t>
            </a:r>
            <a:r>
              <a:rPr kumimoji="1" lang="ja-JP" altLang="en-US" sz="1000" dirty="0">
                <a:solidFill>
                  <a:schemeClr val="tx1"/>
                </a:solidFill>
              </a:rPr>
              <a:t>に取得する。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12FD04-96C4-9D34-61ED-E9075DBEB666}"/>
              </a:ext>
            </a:extLst>
          </p:cNvPr>
          <p:cNvSpPr/>
          <p:nvPr/>
        </p:nvSpPr>
        <p:spPr>
          <a:xfrm>
            <a:off x="9785758" y="2983591"/>
            <a:ext cx="1977647" cy="75085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 dirty="0">
                <a:solidFill>
                  <a:srgbClr val="FF0000"/>
                </a:solidFill>
              </a:rPr>
              <a:t>データが</a:t>
            </a:r>
            <a:r>
              <a:rPr kumimoji="1" lang="en-US" altLang="ja-JP" sz="1000" dirty="0">
                <a:solidFill>
                  <a:srgbClr val="FF0000"/>
                </a:solidFill>
              </a:rPr>
              <a:t>2</a:t>
            </a:r>
            <a:r>
              <a:rPr kumimoji="1" lang="ja-JP" altLang="en-US" sz="1000" dirty="0">
                <a:solidFill>
                  <a:srgbClr val="FF0000"/>
                </a:solidFill>
              </a:rPr>
              <a:t>か所に分散しており、</a:t>
            </a:r>
            <a:r>
              <a:rPr kumimoji="1" lang="en-US" altLang="ja-JP" sz="1000" dirty="0">
                <a:solidFill>
                  <a:srgbClr val="FF0000"/>
                </a:solidFill>
              </a:rPr>
              <a:t>1</a:t>
            </a:r>
            <a:r>
              <a:rPr kumimoji="1" lang="ja-JP" altLang="en-US" sz="1000" dirty="0">
                <a:solidFill>
                  <a:srgbClr val="FF0000"/>
                </a:solidFill>
              </a:rPr>
              <a:t>か所に統合するかは今後検討する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BA82C41-5144-C572-8AC2-ADBB5E8ACDC6}"/>
              </a:ext>
            </a:extLst>
          </p:cNvPr>
          <p:cNvSpPr/>
          <p:nvPr/>
        </p:nvSpPr>
        <p:spPr>
          <a:xfrm>
            <a:off x="9772798" y="1058093"/>
            <a:ext cx="1977647" cy="45973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000" dirty="0">
                <a:solidFill>
                  <a:srgbClr val="FF0000"/>
                </a:solidFill>
              </a:rPr>
              <a:t>この</a:t>
            </a:r>
            <a:r>
              <a:rPr lang="en-US" altLang="ja-JP" sz="1000" dirty="0">
                <a:solidFill>
                  <a:srgbClr val="FF0000"/>
                </a:solidFill>
              </a:rPr>
              <a:t>PC</a:t>
            </a:r>
            <a:r>
              <a:rPr lang="ja-JP" altLang="en-US" sz="1000" dirty="0">
                <a:solidFill>
                  <a:srgbClr val="FF0000"/>
                </a:solidFill>
              </a:rPr>
              <a:t>は第</a:t>
            </a:r>
            <a:r>
              <a:rPr lang="en-US" altLang="ja-JP" sz="1000" dirty="0">
                <a:solidFill>
                  <a:srgbClr val="FF0000"/>
                </a:solidFill>
              </a:rPr>
              <a:t>2</a:t>
            </a:r>
            <a:r>
              <a:rPr lang="ja-JP" altLang="en-US" sz="1000" dirty="0">
                <a:solidFill>
                  <a:srgbClr val="FF0000"/>
                </a:solidFill>
              </a:rPr>
              <a:t>ステップのデータ分析でも使用する予定。</a:t>
            </a:r>
            <a:endParaRPr lang="en-US" altLang="ja-JP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501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54B1D53-B2A8-ACFB-028D-3088AE41D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35689"/>
              </p:ext>
            </p:extLst>
          </p:nvPr>
        </p:nvGraphicFramePr>
        <p:xfrm>
          <a:off x="447040" y="1203960"/>
          <a:ext cx="103327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360">
                  <a:extLst>
                    <a:ext uri="{9D8B030D-6E8A-4147-A177-3AD203B41FA5}">
                      <a16:colId xmlns:a16="http://schemas.microsoft.com/office/drawing/2014/main" val="239546650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1209298044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336481201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81905862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1325463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カラム名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データ型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説  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備  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9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id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Int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レコード管理用</a:t>
                      </a:r>
                      <a:r>
                        <a:rPr kumimoji="1" lang="en-US" altLang="ja-JP" sz="1200" dirty="0"/>
                        <a:t>id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auto increment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36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machine_no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Int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機番（客先使用番号）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412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36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date_hour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str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記録対象の日時と開始時間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2026-09-12 14:00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455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 err="1"/>
                        <a:t>operating_time_sec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Int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稼働時間（単位＝秒）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2851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Max=3600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41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production_num_1hour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Int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対象時間の生産数（検査数）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570657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06DCBB-85FC-4A7B-6510-6813E5FA10FB}"/>
              </a:ext>
            </a:extLst>
          </p:cNvPr>
          <p:cNvSpPr txBox="1"/>
          <p:nvPr/>
        </p:nvSpPr>
        <p:spPr>
          <a:xfrm>
            <a:off x="289328" y="255775"/>
            <a:ext cx="421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見える化 データベース設計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77B559-05BD-FCEB-266F-4837601A1DAB}"/>
              </a:ext>
            </a:extLst>
          </p:cNvPr>
          <p:cNvSpPr txBox="1"/>
          <p:nvPr/>
        </p:nvSpPr>
        <p:spPr>
          <a:xfrm>
            <a:off x="370609" y="865406"/>
            <a:ext cx="2870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Table = production_result</a:t>
            </a:r>
            <a:endParaRPr kumimoji="1" lang="ja-JP" altLang="en-US" sz="1600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0DF0EFB-4832-60EA-F985-BDEA24867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110921"/>
              </p:ext>
            </p:extLst>
          </p:nvPr>
        </p:nvGraphicFramePr>
        <p:xfrm>
          <a:off x="447040" y="3977075"/>
          <a:ext cx="103327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360">
                  <a:extLst>
                    <a:ext uri="{9D8B030D-6E8A-4147-A177-3AD203B41FA5}">
                      <a16:colId xmlns:a16="http://schemas.microsoft.com/office/drawing/2014/main" val="239546650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1209298044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336481201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81905862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1325463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カラム名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データ型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説  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備  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9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id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Int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レコード管理用</a:t>
                      </a:r>
                      <a:r>
                        <a:rPr kumimoji="1" lang="en-US" altLang="ja-JP" sz="1200" dirty="0"/>
                        <a:t>id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auto increment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36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date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str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2026-09-12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455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production_goal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Int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r>
                        <a:rPr kumimoji="1" lang="ja-JP" altLang="en-US" sz="1200" dirty="0"/>
                        <a:t>日の生産目標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前日夜または当日朝に入力する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570657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21C3A7A-D520-0BB0-6E2D-81882B504CB8}"/>
              </a:ext>
            </a:extLst>
          </p:cNvPr>
          <p:cNvSpPr txBox="1"/>
          <p:nvPr/>
        </p:nvSpPr>
        <p:spPr>
          <a:xfrm>
            <a:off x="370609" y="3638521"/>
            <a:ext cx="2870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Table = production_goal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81437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0D48-73C0-EAB8-956E-282BBDAE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C7552D-5BEC-530C-4317-496691B6D2FB}"/>
              </a:ext>
            </a:extLst>
          </p:cNvPr>
          <p:cNvSpPr txBox="1"/>
          <p:nvPr/>
        </p:nvSpPr>
        <p:spPr>
          <a:xfrm>
            <a:off x="289328" y="255775"/>
            <a:ext cx="421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PLC</a:t>
            </a:r>
            <a:r>
              <a:rPr kumimoji="1" lang="ja-JP" altLang="en-US" sz="2000" dirty="0"/>
              <a:t> デバイス設定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0F7D14-6ECD-62FD-065A-1591988116DE}"/>
              </a:ext>
            </a:extLst>
          </p:cNvPr>
          <p:cNvSpPr txBox="1"/>
          <p:nvPr/>
        </p:nvSpPr>
        <p:spPr>
          <a:xfrm>
            <a:off x="298853" y="1332100"/>
            <a:ext cx="57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9</a:t>
            </a:r>
            <a:r>
              <a:rPr kumimoji="1" lang="ja-JP" altLang="en-US" sz="2000" dirty="0"/>
              <a:t>月末までに詳細仕様決定</a:t>
            </a:r>
          </a:p>
        </p:txBody>
      </p:sp>
    </p:spTree>
    <p:extLst>
      <p:ext uri="{BB962C8B-B14F-4D97-AF65-F5344CB8AC3E}">
        <p14:creationId xmlns:p14="http://schemas.microsoft.com/office/powerpoint/2010/main" val="122848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6D69-89C4-EA9E-7D6D-E6EEF039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31296A-C19B-D04D-A6CF-ADCBDA51401B}"/>
              </a:ext>
            </a:extLst>
          </p:cNvPr>
          <p:cNvSpPr txBox="1"/>
          <p:nvPr/>
        </p:nvSpPr>
        <p:spPr>
          <a:xfrm>
            <a:off x="162005" y="232626"/>
            <a:ext cx="6472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第</a:t>
            </a:r>
            <a:r>
              <a:rPr kumimoji="1" lang="en-US" altLang="ja-JP" sz="2000" dirty="0"/>
              <a:t>3</a:t>
            </a:r>
            <a:r>
              <a:rPr kumimoji="1" lang="ja-JP" altLang="en-US" sz="2000" dirty="0"/>
              <a:t>ステップ 生産見える化仕様　</a:t>
            </a:r>
            <a:r>
              <a:rPr kumimoji="1" lang="ja-JP" altLang="en-US" sz="1200" dirty="0"/>
              <a:t>最終更新</a:t>
            </a:r>
            <a:r>
              <a:rPr kumimoji="1" lang="en-US" altLang="ja-JP" sz="1200" dirty="0"/>
              <a:t>: 2026/9/24</a:t>
            </a:r>
            <a:endParaRPr kumimoji="1" lang="ja-JP" altLang="en-US" sz="12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7A529A-A973-ED05-8945-2E94BEFB74FE}"/>
              </a:ext>
            </a:extLst>
          </p:cNvPr>
          <p:cNvSpPr txBox="1"/>
          <p:nvPr/>
        </p:nvSpPr>
        <p:spPr>
          <a:xfrm>
            <a:off x="273973" y="699172"/>
            <a:ext cx="106370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①画面上段：稼働率勝負</a:t>
            </a:r>
            <a:endParaRPr kumimoji="1" lang="en-US" altLang="ja-JP" sz="1400" b="1" dirty="0"/>
          </a:p>
          <a:p>
            <a:endParaRPr kumimoji="1" lang="en-US" altLang="ja-JP" sz="1400" dirty="0"/>
          </a:p>
          <a:p>
            <a:r>
              <a:rPr lang="ja-JP" altLang="en-US" sz="1400" dirty="0"/>
              <a:t>　・グラフ１：</a:t>
            </a:r>
            <a:r>
              <a:rPr lang="en-US" altLang="ja-JP" sz="1400" dirty="0"/>
              <a:t>1</a:t>
            </a:r>
            <a:r>
              <a:rPr lang="ja-JP" altLang="en-US" sz="1400" dirty="0"/>
              <a:t>週間前の同じ曜日、同じ時間帯で稼働率の勝負（</a:t>
            </a:r>
            <a:r>
              <a:rPr lang="en-US" altLang="ja-JP" sz="1400" dirty="0"/>
              <a:t>1</a:t>
            </a:r>
            <a:r>
              <a:rPr lang="ja-JP" altLang="en-US" sz="1400" dirty="0"/>
              <a:t>時間ごとの勝負）</a:t>
            </a:r>
            <a:endParaRPr lang="en-US" altLang="ja-JP" sz="1400" dirty="0"/>
          </a:p>
          <a:p>
            <a:r>
              <a:rPr lang="ja-JP" altLang="en-US" sz="1400" dirty="0"/>
              <a:t>　　→ 通常は</a:t>
            </a:r>
            <a:r>
              <a:rPr lang="en-US" altLang="ja-JP" sz="1400" dirty="0"/>
              <a:t>1</a:t>
            </a:r>
            <a:r>
              <a:rPr lang="ja-JP" altLang="en-US" sz="1400" dirty="0"/>
              <a:t>週間ごとに昼夜が入れ替わるので前の週の同時刻は相手チームのスコア（稼働率）となる。</a:t>
            </a:r>
            <a:endParaRPr lang="en-US" altLang="ja-JP" sz="1400" dirty="0"/>
          </a:p>
          <a:p>
            <a:r>
              <a:rPr lang="ja-JP" altLang="en-US" sz="1400" dirty="0"/>
              <a:t>　　→ メンバー総入れ替えボタンを用意する（</a:t>
            </a:r>
            <a:r>
              <a:rPr lang="en-US" altLang="ja-JP" sz="1400" dirty="0"/>
              <a:t>1</a:t>
            </a:r>
            <a:r>
              <a:rPr lang="ja-JP" altLang="en-US" sz="1400" dirty="0"/>
              <a:t>つずつ選びなおすのが手間なため）</a:t>
            </a:r>
            <a:endParaRPr lang="en-US" altLang="ja-JP" sz="1400" dirty="0"/>
          </a:p>
          <a:p>
            <a:r>
              <a:rPr lang="ja-JP" altLang="en-US" sz="1400" dirty="0"/>
              <a:t>　　→ 稼働率（％）ではなく、稼働時間（分）も示した方がよいか？→不要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kumimoji="1" lang="ja-JP" altLang="en-US" sz="1400" dirty="0"/>
              <a:t>　・グラフ２：</a:t>
            </a:r>
            <a:r>
              <a:rPr kumimoji="1" lang="en-US" altLang="ja-JP" sz="1400" dirty="0"/>
              <a:t>1</a:t>
            </a:r>
            <a:r>
              <a:rPr kumimoji="1" lang="ja-JP" altLang="en-US" sz="1400" dirty="0"/>
              <a:t>日累積の稼働率の勝負。直毎の累積。（</a:t>
            </a:r>
            <a:r>
              <a:rPr kumimoji="1" lang="en-US" altLang="ja-JP" sz="1400" dirty="0"/>
              <a:t>1</a:t>
            </a:r>
            <a:r>
              <a:rPr kumimoji="1" lang="ja-JP" altLang="en-US" sz="1400" dirty="0"/>
              <a:t>日累計だと勝負にならないので注意）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lang="ja-JP" altLang="en-US" sz="1400" dirty="0"/>
              <a:t>　・表　　　：今週の生産数の実績（先週の実績は表示しない）。今日の領域を赤枠で囲む。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kumimoji="1" lang="ja-JP" altLang="en-US" sz="1400" dirty="0"/>
              <a:t>　・メンバー写真：写真下部のドロップダウンリストから選ぶ</a:t>
            </a:r>
            <a:endParaRPr kumimoji="1" lang="en-US" altLang="ja-JP" sz="1400" dirty="0"/>
          </a:p>
          <a:p>
            <a:r>
              <a:rPr lang="ja-JP" altLang="en-US" sz="1400" dirty="0"/>
              <a:t>　・メンバー写真は勝負の状況に合わせて</a:t>
            </a:r>
            <a:r>
              <a:rPr lang="en-US" altLang="ja-JP" sz="1400" dirty="0"/>
              <a:t>3</a:t>
            </a:r>
            <a:r>
              <a:rPr lang="ja-JP" altLang="en-US" sz="1400" dirty="0"/>
              <a:t>種類の画像を入れ替える。</a:t>
            </a:r>
            <a:endParaRPr lang="en-US" altLang="ja-JP" sz="1400" dirty="0"/>
          </a:p>
          <a:p>
            <a:r>
              <a:rPr kumimoji="1" lang="ja-JP" altLang="en-US" sz="1400" dirty="0"/>
              <a:t>　　→ 勝ち（</a:t>
            </a:r>
            <a:r>
              <a:rPr kumimoji="1" lang="en-US" altLang="ja-JP" sz="1400" dirty="0"/>
              <a:t>60</a:t>
            </a:r>
            <a:r>
              <a:rPr kumimoji="1" lang="ja-JP" altLang="en-US" sz="1400" dirty="0"/>
              <a:t>％以上の場合）、引き分け（</a:t>
            </a:r>
            <a:r>
              <a:rPr kumimoji="1" lang="en-US" altLang="ja-JP" sz="1400" dirty="0"/>
              <a:t>40%</a:t>
            </a:r>
            <a:r>
              <a:rPr kumimoji="1" lang="ja-JP" altLang="en-US" sz="1400" dirty="0"/>
              <a:t>超～</a:t>
            </a:r>
            <a:r>
              <a:rPr kumimoji="1" lang="en-US" altLang="ja-JP" sz="1400" dirty="0"/>
              <a:t>60</a:t>
            </a:r>
            <a:r>
              <a:rPr kumimoji="1" lang="ja-JP" altLang="en-US" sz="1400" dirty="0"/>
              <a:t>％未満</a:t>
            </a:r>
            <a:r>
              <a:rPr kumimoji="1" lang="en-US" altLang="ja-JP" sz="1400" dirty="0"/>
              <a:t>)</a:t>
            </a:r>
            <a:r>
              <a:rPr kumimoji="1" lang="ja-JP" altLang="en-US" sz="1400" dirty="0"/>
              <a:t>、負け（</a:t>
            </a:r>
            <a:r>
              <a:rPr kumimoji="1" lang="en-US" altLang="ja-JP" sz="1400" dirty="0"/>
              <a:t>40</a:t>
            </a:r>
            <a:r>
              <a:rPr kumimoji="1" lang="ja-JP" altLang="en-US" sz="1400" dirty="0"/>
              <a:t>％以下）</a:t>
            </a:r>
            <a:endParaRPr kumimoji="1" lang="en-US" altLang="ja-JP" sz="1400" dirty="0"/>
          </a:p>
          <a:p>
            <a:r>
              <a:rPr lang="ja-JP" altLang="en-US" sz="1400" dirty="0"/>
              <a:t>　・画像サイズ 縦</a:t>
            </a:r>
            <a:r>
              <a:rPr lang="en-US" altLang="ja-JP" sz="1400" dirty="0"/>
              <a:t>500px </a:t>
            </a:r>
            <a:r>
              <a:rPr lang="ja-JP" altLang="en-US" sz="1400" dirty="0"/>
              <a:t>横</a:t>
            </a:r>
            <a:r>
              <a:rPr lang="en-US" altLang="ja-JP" sz="1400" dirty="0"/>
              <a:t>300px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lang="ja-JP" altLang="en-US" sz="1400" dirty="0"/>
              <a:t>　・数値、グラフの更新は</a:t>
            </a:r>
            <a:r>
              <a:rPr lang="en-US" altLang="ja-JP" sz="1400" dirty="0"/>
              <a:t>1</a:t>
            </a:r>
            <a:r>
              <a:rPr lang="ja-JP" altLang="en-US" sz="1400" dirty="0"/>
              <a:t>時間に</a:t>
            </a:r>
            <a:r>
              <a:rPr lang="en-US" altLang="ja-JP" sz="1400" dirty="0"/>
              <a:t>1</a:t>
            </a:r>
            <a:r>
              <a:rPr lang="ja-JP" altLang="en-US" sz="1400" dirty="0"/>
              <a:t>回（各時間の</a:t>
            </a:r>
            <a:r>
              <a:rPr lang="en-US" altLang="ja-JP" sz="1400" dirty="0"/>
              <a:t>5</a:t>
            </a:r>
            <a:r>
              <a:rPr lang="ja-JP" altLang="en-US" sz="1400" dirty="0"/>
              <a:t>分の時。例＝</a:t>
            </a:r>
            <a:r>
              <a:rPr lang="en-US" altLang="ja-JP" sz="1400" dirty="0"/>
              <a:t>15</a:t>
            </a:r>
            <a:r>
              <a:rPr lang="ja-JP" altLang="en-US" sz="1400" dirty="0"/>
              <a:t>：</a:t>
            </a:r>
            <a:r>
              <a:rPr lang="en-US" altLang="ja-JP" sz="1400" dirty="0"/>
              <a:t>05</a:t>
            </a:r>
            <a:r>
              <a:rPr lang="ja-JP" altLang="en-US" sz="1400" dirty="0"/>
              <a:t>）</a:t>
            </a:r>
            <a:endParaRPr lang="en-US" altLang="ja-JP" sz="1400" dirty="0"/>
          </a:p>
          <a:p>
            <a:r>
              <a:rPr kumimoji="1" lang="ja-JP" altLang="en-US" sz="1400" dirty="0"/>
              <a:t>　</a:t>
            </a:r>
            <a:r>
              <a:rPr lang="ja-JP" altLang="en-US" sz="1400" dirty="0"/>
              <a:t>　→ 上記以外の時間でも強制的に結果発表を実施する「結果表示」ボタンをつくる。</a:t>
            </a:r>
            <a:endParaRPr lang="en-US" altLang="ja-JP" sz="1400" dirty="0"/>
          </a:p>
          <a:p>
            <a:r>
              <a:rPr kumimoji="1" lang="ja-JP" altLang="en-US" sz="1400" dirty="0"/>
              <a:t>　　→ 結果発表時はグラフ伸縮のアニメと</a:t>
            </a:r>
            <a:r>
              <a:rPr kumimoji="1" lang="en-US" altLang="ja-JP" sz="1400" dirty="0"/>
              <a:t>10</a:t>
            </a:r>
            <a:r>
              <a:rPr kumimoji="1" lang="ja-JP" altLang="en-US" sz="1400" dirty="0"/>
              <a:t>秒程度の音楽を鳴らす。→アニメは上のグラフのみ</a:t>
            </a:r>
            <a:endParaRPr kumimoji="1" lang="en-US" altLang="ja-JP" sz="1400" dirty="0"/>
          </a:p>
          <a:p>
            <a:endParaRPr lang="en-US" altLang="ja-JP" sz="1400" dirty="0"/>
          </a:p>
          <a:p>
            <a:r>
              <a:rPr kumimoji="1" lang="ja-JP" altLang="en-US" sz="1400" dirty="0"/>
              <a:t>　・グラフの意味合いが少し分かりづらい</a:t>
            </a:r>
            <a:r>
              <a:rPr lang="ja-JP" altLang="en-US" sz="1400" dirty="0"/>
              <a:t>→</a:t>
            </a:r>
            <a:r>
              <a:rPr kumimoji="1" lang="en-US" altLang="ja-JP" sz="1400" dirty="0"/>
              <a:t>2</a:t>
            </a:r>
            <a:r>
              <a:rPr kumimoji="1" lang="ja-JP" altLang="en-US" sz="1400" dirty="0"/>
              <a:t>色のみにする（上の黄色</a:t>
            </a:r>
            <a:r>
              <a:rPr kumimoji="1" lang="en-US" altLang="ja-JP" sz="1400" dirty="0"/>
              <a:t>2</a:t>
            </a:r>
            <a:r>
              <a:rPr kumimoji="1" lang="ja-JP" altLang="en-US" sz="1400" dirty="0"/>
              <a:t>色を使う）</a:t>
            </a:r>
            <a:endParaRPr lang="en-US" altLang="ja-JP" sz="1400" dirty="0"/>
          </a:p>
          <a:p>
            <a:r>
              <a:rPr lang="ja-JP" altLang="en-US" sz="1400" dirty="0"/>
              <a:t>　　→ 上下のグラフは名称で区別（「直近</a:t>
            </a:r>
            <a:r>
              <a:rPr lang="en-US" altLang="ja-JP" sz="1400" dirty="0"/>
              <a:t>1</a:t>
            </a:r>
            <a:r>
              <a:rPr lang="ja-JP" altLang="en-US" sz="1400" dirty="0"/>
              <a:t>時間」と「</a:t>
            </a:r>
            <a:r>
              <a:rPr lang="en-US" altLang="ja-JP" sz="1400" dirty="0"/>
              <a:t>1</a:t>
            </a:r>
            <a:r>
              <a:rPr lang="ja-JP" altLang="en-US" sz="1400" dirty="0"/>
              <a:t>日累計」のタイトルをつける）</a:t>
            </a:r>
            <a:endParaRPr lang="en-US" altLang="ja-JP" sz="1400" dirty="0"/>
          </a:p>
          <a:p>
            <a:endParaRPr kumimoji="1" lang="en-US" altLang="ja-JP" sz="1400" dirty="0"/>
          </a:p>
          <a:p>
            <a:r>
              <a:rPr lang="ja-JP" altLang="en-US" sz="1400" dirty="0"/>
              <a:t>　・フォントは遊び心を表現するため、「</a:t>
            </a:r>
            <a:r>
              <a:rPr lang="en-US" altLang="ja-JP" sz="1400" dirty="0"/>
              <a:t>UD </a:t>
            </a:r>
            <a:r>
              <a:rPr lang="ja-JP" altLang="en-US" sz="1400" dirty="0"/>
              <a:t>デジタル 教科書体 </a:t>
            </a:r>
            <a:r>
              <a:rPr lang="en-US" altLang="ja-JP" sz="1400" dirty="0"/>
              <a:t>NP-B</a:t>
            </a:r>
            <a:r>
              <a:rPr lang="ja-JP" altLang="en-US" sz="1400" dirty="0"/>
              <a:t>」を使うこと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2146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8A50F-0A11-504C-6F88-6A10235C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600CA4-33E3-F554-F1AA-2E2FB59EB0AA}"/>
              </a:ext>
            </a:extLst>
          </p:cNvPr>
          <p:cNvSpPr txBox="1"/>
          <p:nvPr/>
        </p:nvSpPr>
        <p:spPr>
          <a:xfrm>
            <a:off x="208658" y="363270"/>
            <a:ext cx="1143594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②画面</a:t>
            </a:r>
            <a:r>
              <a:rPr lang="ja-JP" altLang="en-US" sz="1400" b="1" dirty="0"/>
              <a:t>下</a:t>
            </a:r>
            <a:r>
              <a:rPr kumimoji="1" lang="ja-JP" altLang="en-US" sz="1400" b="1" dirty="0"/>
              <a:t>段：</a:t>
            </a:r>
            <a:r>
              <a:rPr lang="ja-JP" altLang="en-US" sz="1400" b="1" dirty="0"/>
              <a:t>生産状況</a:t>
            </a:r>
            <a:endParaRPr kumimoji="1" lang="en-US" altLang="ja-JP" sz="1400" b="1" dirty="0"/>
          </a:p>
          <a:p>
            <a:endParaRPr kumimoji="1" lang="en-US" altLang="ja-JP" sz="1400" dirty="0"/>
          </a:p>
          <a:p>
            <a:r>
              <a:rPr lang="ja-JP" altLang="en-US" sz="1400" dirty="0"/>
              <a:t>　・表１（左上）：直前</a:t>
            </a:r>
            <a:r>
              <a:rPr lang="en-US" altLang="ja-JP" sz="1400" dirty="0"/>
              <a:t>1</a:t>
            </a:r>
            <a:r>
              <a:rPr lang="ja-JP" altLang="en-US" sz="1400" dirty="0"/>
              <a:t>時間の生産状況を表す</a:t>
            </a:r>
            <a:endParaRPr lang="en-US" altLang="ja-JP" sz="1400" dirty="0"/>
          </a:p>
          <a:p>
            <a:r>
              <a:rPr kumimoji="1" lang="ja-JP" altLang="en-US" sz="1400" dirty="0"/>
              <a:t>　　→ </a:t>
            </a:r>
            <a:r>
              <a:rPr lang="ja-JP" altLang="en-US" sz="1400" dirty="0"/>
              <a:t>これはスピードメータに相当する（</a:t>
            </a:r>
            <a:r>
              <a:rPr lang="en-US" altLang="ja-JP" sz="1400" dirty="0"/>
              <a:t>1</a:t>
            </a:r>
            <a:r>
              <a:rPr lang="ja-JP" altLang="en-US" sz="1400" dirty="0"/>
              <a:t>日の目標を達成するまではできる限り早く。ただし、「作りすぎのムダ」を助長しないこと。</a:t>
            </a:r>
            <a:endParaRPr lang="en-US" altLang="ja-JP" sz="1400" dirty="0"/>
          </a:p>
          <a:p>
            <a:r>
              <a:rPr kumimoji="1" lang="ja-JP" altLang="en-US" sz="1400" dirty="0"/>
              <a:t>　</a:t>
            </a:r>
            <a:r>
              <a:rPr lang="ja-JP" altLang="en-US" sz="1400" dirty="0"/>
              <a:t>　→ 進捗は達成率に応じて「超遅れ」、「遅れ」、「順調」、「超順調」→別紙参照</a:t>
            </a:r>
            <a:endParaRPr lang="en-US" altLang="ja-JP" sz="1400" dirty="0"/>
          </a:p>
          <a:p>
            <a:r>
              <a:rPr kumimoji="1" lang="ja-JP" altLang="en-US" sz="1400" dirty="0"/>
              <a:t>　　→ 達成率は</a:t>
            </a:r>
            <a:r>
              <a:rPr kumimoji="1" lang="en-US" altLang="ja-JP" sz="1400" dirty="0"/>
              <a:t>Max125</a:t>
            </a:r>
            <a:r>
              <a:rPr kumimoji="1" lang="ja-JP" altLang="en-US" sz="1400" dirty="0"/>
              <a:t>％を表示</a:t>
            </a:r>
            <a:endParaRPr kumimoji="1" lang="en-US" altLang="ja-JP" sz="1400" dirty="0"/>
          </a:p>
          <a:p>
            <a:r>
              <a:rPr lang="ja-JP" altLang="en-US" sz="1400" dirty="0"/>
              <a:t>　　→ 右側のキャラクター（コッパくん）は進捗に応じてイメージを切り替える。</a:t>
            </a:r>
            <a:endParaRPr lang="en-US" altLang="ja-JP" sz="1400" dirty="0"/>
          </a:p>
          <a:p>
            <a:r>
              <a:rPr kumimoji="1" lang="ja-JP" altLang="en-US" sz="1400" dirty="0"/>
              <a:t>　　→ キャラクター画像はアニメーション</a:t>
            </a:r>
            <a:r>
              <a:rPr kumimoji="1" lang="en-US" altLang="ja-JP" sz="1400" dirty="0"/>
              <a:t>GIF</a:t>
            </a:r>
            <a:r>
              <a:rPr kumimoji="1" lang="ja-JP" altLang="en-US" sz="1400" dirty="0"/>
              <a:t>で製作する（上の進捗に応じた</a:t>
            </a:r>
            <a:r>
              <a:rPr kumimoji="1" lang="en-US" altLang="ja-JP" sz="1400" dirty="0"/>
              <a:t>4</a:t>
            </a:r>
            <a:r>
              <a:rPr kumimoji="1" lang="ja-JP" altLang="en-US" sz="1400" dirty="0"/>
              <a:t>つのファイル）→別紙参照</a:t>
            </a:r>
            <a:endParaRPr kumimoji="1" lang="en-US" altLang="ja-JP" sz="1400" dirty="0"/>
          </a:p>
          <a:p>
            <a:r>
              <a:rPr lang="ja-JP" altLang="en-US" sz="1400" dirty="0"/>
              <a:t>　　→ 目標は</a:t>
            </a:r>
            <a:r>
              <a:rPr lang="en-US" altLang="ja-JP" sz="1400" dirty="0"/>
              <a:t>1</a:t>
            </a:r>
            <a:r>
              <a:rPr lang="ja-JP" altLang="en-US" sz="1400" dirty="0"/>
              <a:t>日の目標数を</a:t>
            </a:r>
            <a:r>
              <a:rPr lang="en-US" altLang="ja-JP" sz="1400" dirty="0"/>
              <a:t>24</a:t>
            </a:r>
            <a:r>
              <a:rPr lang="ja-JP" altLang="en-US" sz="1400" dirty="0"/>
              <a:t>時間で割った値とする（自動計算）</a:t>
            </a:r>
            <a:endParaRPr lang="en-US" altLang="ja-JP" sz="1400" dirty="0"/>
          </a:p>
          <a:p>
            <a:endParaRPr kumimoji="1" lang="en-US" altLang="ja-JP" sz="1400" dirty="0"/>
          </a:p>
          <a:p>
            <a:r>
              <a:rPr lang="ja-JP" altLang="en-US" sz="1400" dirty="0"/>
              <a:t>　・表２（左下）：</a:t>
            </a:r>
            <a:r>
              <a:rPr lang="en-US" altLang="ja-JP" sz="1400" dirty="0"/>
              <a:t>1</a:t>
            </a:r>
            <a:r>
              <a:rPr lang="ja-JP" altLang="en-US" sz="1400" dirty="0"/>
              <a:t>日の累積での生産数を示す。（</a:t>
            </a:r>
            <a:r>
              <a:rPr lang="en-US" altLang="ja-JP" sz="1400" dirty="0"/>
              <a:t>8:00</a:t>
            </a:r>
            <a:r>
              <a:rPr lang="ja-JP" altLang="en-US" sz="1400" dirty="0"/>
              <a:t>からの時間経過分に対する結果を表示）</a:t>
            </a:r>
            <a:endParaRPr lang="en-US" altLang="ja-JP" sz="1400" dirty="0"/>
          </a:p>
          <a:p>
            <a:r>
              <a:rPr lang="ja-JP" altLang="en-US" sz="1400" dirty="0"/>
              <a:t>　　→ 現在まで順調かどうかを表示する。（最終的な</a:t>
            </a:r>
            <a:r>
              <a:rPr lang="en-US" altLang="ja-JP" sz="1400" dirty="0"/>
              <a:t>1</a:t>
            </a:r>
            <a:r>
              <a:rPr lang="ja-JP" altLang="en-US" sz="1400" dirty="0"/>
              <a:t>日の目標は右上に入力する）</a:t>
            </a:r>
            <a:endParaRPr lang="en-US" altLang="ja-JP" sz="1400" dirty="0"/>
          </a:p>
          <a:p>
            <a:r>
              <a:rPr lang="ja-JP" altLang="en-US" sz="1400" dirty="0"/>
              <a:t>　　→ 最終結果ではないので達成率は</a:t>
            </a:r>
            <a:r>
              <a:rPr lang="en-US" altLang="ja-JP" sz="1400" dirty="0"/>
              <a:t>100</a:t>
            </a:r>
            <a:r>
              <a:rPr lang="ja-JP" altLang="en-US" sz="1400" dirty="0"/>
              <a:t>％を超えることもあり得る→</a:t>
            </a:r>
            <a:r>
              <a:rPr lang="en-US" altLang="ja-JP" sz="1400" dirty="0"/>
              <a:t>OK</a:t>
            </a:r>
            <a:r>
              <a:rPr lang="ja-JP" altLang="en-US" sz="1400" dirty="0"/>
              <a:t>（数字だけ１００を超える）</a:t>
            </a:r>
            <a:endParaRPr lang="en-US" altLang="ja-JP" sz="1400" dirty="0"/>
          </a:p>
          <a:p>
            <a:r>
              <a:rPr lang="ja-JP" altLang="en-US" sz="1400" dirty="0"/>
              <a:t>　　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　・グラフ１：上の表１の達成率をグラフで表示</a:t>
            </a:r>
            <a:endParaRPr lang="en-US" altLang="ja-JP" sz="1400" dirty="0"/>
          </a:p>
          <a:p>
            <a:r>
              <a:rPr lang="ja-JP" altLang="en-US" sz="1400" dirty="0"/>
              <a:t>　　→ グラフの色は４段階程度で塗り分ける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　・グラフ２：上の表２の達成率をグラフで表示</a:t>
            </a:r>
            <a:endParaRPr lang="en-US" altLang="ja-JP" sz="1400" dirty="0"/>
          </a:p>
          <a:p>
            <a:r>
              <a:rPr lang="ja-JP" altLang="en-US" sz="1400" dirty="0"/>
              <a:t>　　→ グラフの色は４段階程度で塗り分ける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　・表３：号機別生産数（経過時間までの各設備の生産数を表示する。直の区別せず、１日の合計とする。）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　・目標生産数は「目標入力」ボタンを押すと設定画面が表示される</a:t>
            </a:r>
            <a:endParaRPr lang="en-US" altLang="ja-JP" sz="1400" dirty="0"/>
          </a:p>
          <a:p>
            <a:r>
              <a:rPr lang="ja-JP" altLang="en-US" sz="1400" dirty="0"/>
              <a:t>　　→ 日時に対する目標生産数をデータベースに記録する。事前に登録、過去の修正も可能とする。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　</a:t>
            </a:r>
            <a:endParaRPr lang="en-US" altLang="ja-JP" sz="1400" dirty="0"/>
          </a:p>
          <a:p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2986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A62F-1633-25D6-A906-66613F54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6DCA47-45D1-B2BC-9451-36D9F58C7EA9}"/>
              </a:ext>
            </a:extLst>
          </p:cNvPr>
          <p:cNvSpPr txBox="1"/>
          <p:nvPr/>
        </p:nvSpPr>
        <p:spPr>
          <a:xfrm>
            <a:off x="208658" y="363270"/>
            <a:ext cx="1143594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/>
              <a:t>③</a:t>
            </a:r>
            <a:r>
              <a:rPr kumimoji="1" lang="ja-JP" altLang="en-US" sz="1400" b="1" dirty="0"/>
              <a:t>ハードウェア</a:t>
            </a:r>
            <a:endParaRPr kumimoji="1"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　・カウント数記録用</a:t>
            </a:r>
            <a:r>
              <a:rPr lang="en-US" altLang="ja-JP" sz="1400" dirty="0"/>
              <a:t>PC</a:t>
            </a:r>
            <a:r>
              <a:rPr lang="ja-JP" altLang="en-US" sz="1400" dirty="0"/>
              <a:t>とは別の</a:t>
            </a:r>
            <a:r>
              <a:rPr lang="en-US" altLang="ja-JP" sz="1400" dirty="0"/>
              <a:t>PC</a:t>
            </a:r>
            <a:r>
              <a:rPr lang="ja-JP" altLang="en-US" sz="1400" dirty="0"/>
              <a:t>を用意する</a:t>
            </a:r>
            <a:endParaRPr lang="en-US" altLang="ja-JP" sz="1400" dirty="0"/>
          </a:p>
          <a:p>
            <a:r>
              <a:rPr lang="ja-JP" altLang="en-US" sz="1400" dirty="0"/>
              <a:t>　・</a:t>
            </a:r>
            <a:r>
              <a:rPr lang="en-US" altLang="ja-JP" sz="1400" dirty="0"/>
              <a:t>10</a:t>
            </a:r>
            <a:r>
              <a:rPr lang="ja-JP" altLang="en-US" sz="1400" dirty="0"/>
              <a:t>万円以下のノート</a:t>
            </a:r>
            <a:r>
              <a:rPr lang="en-US" altLang="ja-JP" sz="1400" dirty="0"/>
              <a:t>PC</a:t>
            </a:r>
            <a:r>
              <a:rPr lang="ja-JP" altLang="en-US" sz="1400" dirty="0"/>
              <a:t>を使用する（負荷が小さいためノート</a:t>
            </a:r>
            <a:r>
              <a:rPr lang="en-US" altLang="ja-JP" sz="1400" dirty="0"/>
              <a:t>PC</a:t>
            </a:r>
            <a:r>
              <a:rPr lang="ja-JP" altLang="en-US" sz="1400" dirty="0"/>
              <a:t>でも可。停電時に強いためノート</a:t>
            </a:r>
            <a:r>
              <a:rPr lang="en-US" altLang="ja-JP" sz="1400" dirty="0"/>
              <a:t>PC</a:t>
            </a:r>
            <a:r>
              <a:rPr lang="ja-JP" altLang="en-US" sz="1400" dirty="0"/>
              <a:t>選定。）</a:t>
            </a:r>
            <a:endParaRPr lang="en-US" altLang="ja-JP" sz="1400" dirty="0"/>
          </a:p>
          <a:p>
            <a:r>
              <a:rPr lang="ja-JP" altLang="en-US" sz="1400" dirty="0"/>
              <a:t>　・</a:t>
            </a:r>
            <a:r>
              <a:rPr lang="en-US" altLang="ja-JP" sz="1400" dirty="0"/>
              <a:t>60</a:t>
            </a:r>
            <a:r>
              <a:rPr lang="ja-JP" altLang="en-US" sz="1400" dirty="0"/>
              <a:t>インチ程度の外部モニタを用意（市販のモニタスタンドを用意する）</a:t>
            </a:r>
            <a:endParaRPr lang="en-US" altLang="ja-JP" sz="1400" dirty="0"/>
          </a:p>
          <a:p>
            <a:r>
              <a:rPr kumimoji="1" lang="ja-JP" altLang="en-US" sz="1400" dirty="0"/>
              <a:t>　・キーボード台</a:t>
            </a:r>
            <a:r>
              <a:rPr kumimoji="1" lang="en-US" altLang="ja-JP" sz="1400" dirty="0"/>
              <a:t>(</a:t>
            </a:r>
            <a:r>
              <a:rPr kumimoji="1" lang="ja-JP" altLang="en-US" sz="1400" dirty="0"/>
              <a:t>ワゴン</a:t>
            </a:r>
            <a:r>
              <a:rPr kumimoji="1" lang="en-US" altLang="ja-JP" sz="1400" dirty="0"/>
              <a:t>)</a:t>
            </a:r>
            <a:r>
              <a:rPr kumimoji="1" lang="ja-JP" altLang="en-US" sz="1400" dirty="0"/>
              <a:t>を用意し、無線キーボード＆マウスで操作する（</a:t>
            </a:r>
            <a:r>
              <a:rPr kumimoji="1" lang="en-US" altLang="ja-JP" sz="1400" dirty="0"/>
              <a:t>PC</a:t>
            </a:r>
            <a:r>
              <a:rPr lang="ja-JP" altLang="en-US" sz="1400" dirty="0"/>
              <a:t>は閉じた状態で使う</a:t>
            </a:r>
            <a:r>
              <a:rPr kumimoji="1" lang="ja-JP" altLang="en-US" sz="1400" dirty="0"/>
              <a:t>）</a:t>
            </a:r>
            <a:endParaRPr kumimoji="1" lang="en-US" altLang="ja-JP" sz="1400" dirty="0"/>
          </a:p>
          <a:p>
            <a:r>
              <a:rPr lang="ja-JP" altLang="en-US" sz="1400" dirty="0"/>
              <a:t>　</a:t>
            </a:r>
            <a:endParaRPr lang="en-US" altLang="ja-JP" sz="1400" dirty="0"/>
          </a:p>
          <a:p>
            <a:r>
              <a:rPr lang="ja-JP" altLang="en-US" sz="1400" dirty="0"/>
              <a:t>　・設置場所はコバテック様から連絡いただく</a:t>
            </a:r>
            <a:endParaRPr kumimoji="1" lang="en-US" altLang="ja-JP" sz="1400" dirty="0"/>
          </a:p>
          <a:p>
            <a:r>
              <a:rPr lang="ja-JP" altLang="en-US" sz="1400" dirty="0"/>
              <a:t>　</a:t>
            </a:r>
            <a:endParaRPr lang="en-US" altLang="ja-JP" sz="1400" dirty="0"/>
          </a:p>
          <a:p>
            <a:endParaRPr kumimoji="1" lang="en-US" altLang="ja-JP" sz="1400" dirty="0"/>
          </a:p>
          <a:p>
            <a:endParaRPr kumimoji="1" lang="ja-JP" altLang="en-US" sz="1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70DC4E-FCB3-0FCB-DFC4-DDEE444D9820}"/>
              </a:ext>
            </a:extLst>
          </p:cNvPr>
          <p:cNvSpPr txBox="1"/>
          <p:nvPr/>
        </p:nvSpPr>
        <p:spPr>
          <a:xfrm>
            <a:off x="208657" y="3268395"/>
            <a:ext cx="114359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④</a:t>
            </a:r>
            <a:r>
              <a:rPr lang="ja-JP" altLang="en-US" sz="1400" b="1" dirty="0"/>
              <a:t>日程</a:t>
            </a:r>
            <a:endParaRPr kumimoji="1" lang="en-US" altLang="ja-JP" sz="1400" dirty="0"/>
          </a:p>
          <a:p>
            <a:endParaRPr lang="en-US" altLang="ja-JP" sz="1400" dirty="0"/>
          </a:p>
          <a:p>
            <a:r>
              <a:rPr lang="ja-JP" altLang="en-US" sz="1400" dirty="0"/>
              <a:t>　・</a:t>
            </a:r>
            <a:r>
              <a:rPr lang="en-US" altLang="ja-JP" sz="1400" dirty="0"/>
              <a:t>11/16</a:t>
            </a:r>
            <a:r>
              <a:rPr lang="ja-JP" altLang="en-US" sz="1400" dirty="0"/>
              <a:t>頃運用開始（</a:t>
            </a:r>
            <a:r>
              <a:rPr lang="en-US" altLang="ja-JP" sz="1400" dirty="0"/>
              <a:t>11</a:t>
            </a:r>
            <a:r>
              <a:rPr lang="ja-JP" altLang="en-US" sz="1400" dirty="0"/>
              <a:t>月末までを不具合解消期間とする）</a:t>
            </a:r>
            <a:endParaRPr lang="en-US" altLang="ja-JP" sz="1400" dirty="0"/>
          </a:p>
          <a:p>
            <a:r>
              <a:rPr lang="ja-JP" altLang="en-US" sz="1400" dirty="0"/>
              <a:t>　・</a:t>
            </a:r>
            <a:r>
              <a:rPr lang="en-US" altLang="ja-JP" sz="1400" dirty="0"/>
              <a:t>12/1 </a:t>
            </a:r>
            <a:r>
              <a:rPr lang="ja-JP" altLang="en-US" sz="1400" dirty="0"/>
              <a:t>～ </a:t>
            </a:r>
            <a:r>
              <a:rPr lang="en-US" altLang="ja-JP" sz="1400" dirty="0"/>
              <a:t>12/15</a:t>
            </a:r>
            <a:r>
              <a:rPr lang="ja-JP" altLang="en-US" sz="1400" dirty="0"/>
              <a:t>頃 正式運用＆発表用データ収集</a:t>
            </a:r>
            <a:endParaRPr lang="en-US" altLang="ja-JP" sz="1400" dirty="0"/>
          </a:p>
          <a:p>
            <a:r>
              <a:rPr lang="ja-JP" altLang="en-US" sz="1400" dirty="0"/>
              <a:t>　・</a:t>
            </a:r>
            <a:r>
              <a:rPr lang="en-US" altLang="ja-JP" sz="1400" dirty="0"/>
              <a:t>12/26 </a:t>
            </a:r>
            <a:r>
              <a:rPr lang="ja-JP" altLang="en-US" sz="1400" dirty="0"/>
              <a:t>チャレンジサークル発表（本番）</a:t>
            </a:r>
            <a:endParaRPr lang="en-US" altLang="ja-JP" sz="1400" dirty="0"/>
          </a:p>
          <a:p>
            <a:endParaRPr kumimoji="1" lang="en-US" altLang="ja-JP" sz="1400" dirty="0"/>
          </a:p>
          <a:p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3771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AFFAD9-D5AE-80FF-4E7C-F2629EF0C335}"/>
              </a:ext>
            </a:extLst>
          </p:cNvPr>
          <p:cNvSpPr/>
          <p:nvPr/>
        </p:nvSpPr>
        <p:spPr>
          <a:xfrm>
            <a:off x="739139" y="1410567"/>
            <a:ext cx="2503747" cy="1239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82F8A7-0E58-9E8B-4D25-C0B974DD2ACE}"/>
              </a:ext>
            </a:extLst>
          </p:cNvPr>
          <p:cNvSpPr txBox="1"/>
          <p:nvPr/>
        </p:nvSpPr>
        <p:spPr>
          <a:xfrm>
            <a:off x="669174" y="1179645"/>
            <a:ext cx="153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PLC(KV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FF65BA4-97EF-00A2-069F-B31B4BC94704}"/>
              </a:ext>
            </a:extLst>
          </p:cNvPr>
          <p:cNvSpPr/>
          <p:nvPr/>
        </p:nvSpPr>
        <p:spPr>
          <a:xfrm>
            <a:off x="1596839" y="1655814"/>
            <a:ext cx="1463559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1 つの角を切り取る 6">
            <a:extLst>
              <a:ext uri="{FF2B5EF4-FFF2-40B4-BE49-F238E27FC236}">
                <a16:creationId xmlns:a16="http://schemas.microsoft.com/office/drawing/2014/main" id="{3EBDB43C-7BB7-269B-6A2A-F3DB04E2F40B}"/>
              </a:ext>
            </a:extLst>
          </p:cNvPr>
          <p:cNvSpPr/>
          <p:nvPr/>
        </p:nvSpPr>
        <p:spPr>
          <a:xfrm>
            <a:off x="1768747" y="1778168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稼働データ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B9DAEF-B369-3D21-9F3E-ADE6BE21EEE1}"/>
              </a:ext>
            </a:extLst>
          </p:cNvPr>
          <p:cNvSpPr/>
          <p:nvPr/>
        </p:nvSpPr>
        <p:spPr>
          <a:xfrm>
            <a:off x="837825" y="1655815"/>
            <a:ext cx="660170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470E3D-9787-23E8-F5E9-114C13F7C913}"/>
              </a:ext>
            </a:extLst>
          </p:cNvPr>
          <p:cNvSpPr txBox="1"/>
          <p:nvPr/>
        </p:nvSpPr>
        <p:spPr>
          <a:xfrm>
            <a:off x="790517" y="147097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D57D23-CDB6-EAFD-69AF-FFDD306A5C3C}"/>
              </a:ext>
            </a:extLst>
          </p:cNvPr>
          <p:cNvSpPr txBox="1"/>
          <p:nvPr/>
        </p:nvSpPr>
        <p:spPr>
          <a:xfrm>
            <a:off x="1496421" y="147986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1118C512-1894-13D9-1DD8-7F8ED16F4B7F}"/>
              </a:ext>
            </a:extLst>
          </p:cNvPr>
          <p:cNvSpPr/>
          <p:nvPr/>
        </p:nvSpPr>
        <p:spPr>
          <a:xfrm>
            <a:off x="1768747" y="2102787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</a:rPr>
              <a:t>GT2</a:t>
            </a:r>
            <a:r>
              <a:rPr kumimoji="1" lang="ja-JP" altLang="en-US" sz="800" dirty="0">
                <a:solidFill>
                  <a:schemeClr val="tx1"/>
                </a:solidFill>
              </a:rPr>
              <a:t>測定データ</a:t>
            </a:r>
            <a:r>
              <a:rPr lang="en-US" altLang="ja-JP" sz="800" dirty="0">
                <a:solidFill>
                  <a:schemeClr val="tx1"/>
                </a:solidFill>
              </a:rPr>
              <a:t>.CSV</a:t>
            </a:r>
            <a:endParaRPr kumimoji="1" lang="en-US" altLang="ja-JP" sz="800" dirty="0">
              <a:solidFill>
                <a:schemeClr val="tx1"/>
              </a:solidFill>
            </a:endParaRP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0A8FE9A6-A74C-9A58-DBD7-66172E182D1E}"/>
              </a:ext>
            </a:extLst>
          </p:cNvPr>
          <p:cNvSpPr/>
          <p:nvPr/>
        </p:nvSpPr>
        <p:spPr>
          <a:xfrm>
            <a:off x="1394742" y="1952221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FEC737-5A96-39C4-7549-89A4432623EC}"/>
              </a:ext>
            </a:extLst>
          </p:cNvPr>
          <p:cNvSpPr/>
          <p:nvPr/>
        </p:nvSpPr>
        <p:spPr>
          <a:xfrm>
            <a:off x="739139" y="3312942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8773A7-F705-A26F-9BA1-FB1EA7D5AC4C}"/>
              </a:ext>
            </a:extLst>
          </p:cNvPr>
          <p:cNvSpPr txBox="1"/>
          <p:nvPr/>
        </p:nvSpPr>
        <p:spPr>
          <a:xfrm>
            <a:off x="669174" y="3082020"/>
            <a:ext cx="2205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タッチパネル</a:t>
            </a:r>
            <a:r>
              <a:rPr kumimoji="1" lang="en-US" altLang="ja-JP" sz="1200" dirty="0"/>
              <a:t>(VT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88D3A15-1B75-BCA9-C852-2B967CB470F2}"/>
              </a:ext>
            </a:extLst>
          </p:cNvPr>
          <p:cNvSpPr/>
          <p:nvPr/>
        </p:nvSpPr>
        <p:spPr>
          <a:xfrm>
            <a:off x="1596839" y="3558189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3848EAC4-D212-B549-763C-45ED7D33EF43}"/>
              </a:ext>
            </a:extLst>
          </p:cNvPr>
          <p:cNvSpPr/>
          <p:nvPr/>
        </p:nvSpPr>
        <p:spPr>
          <a:xfrm>
            <a:off x="1768747" y="3680543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アラーム履歴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875974B-D680-58C1-B09E-48DE67E81B8F}"/>
              </a:ext>
            </a:extLst>
          </p:cNvPr>
          <p:cNvSpPr/>
          <p:nvPr/>
        </p:nvSpPr>
        <p:spPr>
          <a:xfrm>
            <a:off x="889361" y="3558190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1BC7E2-1DC4-CAAE-52F4-C91ACFE37211}"/>
              </a:ext>
            </a:extLst>
          </p:cNvPr>
          <p:cNvSpPr txBox="1"/>
          <p:nvPr/>
        </p:nvSpPr>
        <p:spPr>
          <a:xfrm>
            <a:off x="790517" y="337334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098FF69-D2C2-E137-F7A7-92BDFF9415A1}"/>
              </a:ext>
            </a:extLst>
          </p:cNvPr>
          <p:cNvSpPr txBox="1"/>
          <p:nvPr/>
        </p:nvSpPr>
        <p:spPr>
          <a:xfrm>
            <a:off x="1496421" y="338223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AC47CCE1-1C60-9B96-7014-BED67E1653FE}"/>
              </a:ext>
            </a:extLst>
          </p:cNvPr>
          <p:cNvSpPr/>
          <p:nvPr/>
        </p:nvSpPr>
        <p:spPr>
          <a:xfrm>
            <a:off x="1394742" y="3746646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798DCE1-C610-8507-813F-0BDBD5705985}"/>
              </a:ext>
            </a:extLst>
          </p:cNvPr>
          <p:cNvSpPr/>
          <p:nvPr/>
        </p:nvSpPr>
        <p:spPr>
          <a:xfrm>
            <a:off x="739139" y="4764381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748793-B955-FA66-883E-DB83CD5EF480}"/>
              </a:ext>
            </a:extLst>
          </p:cNvPr>
          <p:cNvSpPr txBox="1"/>
          <p:nvPr/>
        </p:nvSpPr>
        <p:spPr>
          <a:xfrm>
            <a:off x="669174" y="4533459"/>
            <a:ext cx="2391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画像コントローラ</a:t>
            </a:r>
            <a:r>
              <a:rPr kumimoji="1" lang="en-US" altLang="ja-JP" sz="1200" dirty="0"/>
              <a:t>(XG-X)</a:t>
            </a:r>
            <a:endParaRPr kumimoji="1" lang="ja-JP" altLang="en-US" sz="12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F47C72A-59E8-8E84-288E-CFFB0E84283C}"/>
              </a:ext>
            </a:extLst>
          </p:cNvPr>
          <p:cNvSpPr/>
          <p:nvPr/>
        </p:nvSpPr>
        <p:spPr>
          <a:xfrm>
            <a:off x="1596839" y="5009628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四角形: 1 つの角を切り取る 24">
            <a:extLst>
              <a:ext uri="{FF2B5EF4-FFF2-40B4-BE49-F238E27FC236}">
                <a16:creationId xmlns:a16="http://schemas.microsoft.com/office/drawing/2014/main" id="{3F88DC94-353E-C268-33B7-9DC0B9A69D39}"/>
              </a:ext>
            </a:extLst>
          </p:cNvPr>
          <p:cNvSpPr/>
          <p:nvPr/>
        </p:nvSpPr>
        <p:spPr>
          <a:xfrm>
            <a:off x="1768747" y="5131982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数値測定結果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D63927A-2925-EECE-6BAF-7728961081C8}"/>
              </a:ext>
            </a:extLst>
          </p:cNvPr>
          <p:cNvSpPr/>
          <p:nvPr/>
        </p:nvSpPr>
        <p:spPr>
          <a:xfrm>
            <a:off x="889361" y="5009629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941ED7C-5AFB-286C-4EE1-41D42943236F}"/>
              </a:ext>
            </a:extLst>
          </p:cNvPr>
          <p:cNvSpPr txBox="1"/>
          <p:nvPr/>
        </p:nvSpPr>
        <p:spPr>
          <a:xfrm>
            <a:off x="790517" y="482478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C4E8DFE-301A-997A-EF30-24C470DB76C5}"/>
              </a:ext>
            </a:extLst>
          </p:cNvPr>
          <p:cNvSpPr txBox="1"/>
          <p:nvPr/>
        </p:nvSpPr>
        <p:spPr>
          <a:xfrm>
            <a:off x="1496421" y="483367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A88521F6-6FE0-95D5-1B9B-12DB2C39BCB0}"/>
              </a:ext>
            </a:extLst>
          </p:cNvPr>
          <p:cNvSpPr/>
          <p:nvPr/>
        </p:nvSpPr>
        <p:spPr>
          <a:xfrm>
            <a:off x="1394742" y="5198085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73F55FB-EED8-AD8D-AD01-BD538DCD33BA}"/>
              </a:ext>
            </a:extLst>
          </p:cNvPr>
          <p:cNvSpPr txBox="1"/>
          <p:nvPr/>
        </p:nvSpPr>
        <p:spPr>
          <a:xfrm>
            <a:off x="739139" y="2641710"/>
            <a:ext cx="2503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稼働データは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日に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回自動出力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測定データは固定数毎</a:t>
            </a:r>
            <a:r>
              <a:rPr lang="en-US" altLang="ja-JP" sz="800" dirty="0"/>
              <a:t>(</a:t>
            </a:r>
            <a:r>
              <a:rPr lang="ja-JP" altLang="en-US" sz="800" dirty="0"/>
              <a:t>例えば</a:t>
            </a:r>
            <a:r>
              <a:rPr lang="en-US" altLang="ja-JP" sz="800" dirty="0"/>
              <a:t>1000</a:t>
            </a:r>
            <a:r>
              <a:rPr lang="ja-JP" altLang="en-US" sz="800" dirty="0"/>
              <a:t>個毎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778971D-A49A-68E7-FF76-1AD95645D78D}"/>
              </a:ext>
            </a:extLst>
          </p:cNvPr>
          <p:cNvSpPr txBox="1"/>
          <p:nvPr/>
        </p:nvSpPr>
        <p:spPr>
          <a:xfrm>
            <a:off x="739138" y="4211400"/>
            <a:ext cx="25037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アラーム履歴は</a:t>
            </a:r>
            <a:r>
              <a:rPr kumimoji="1" lang="en-US" altLang="ja-JP" sz="800" dirty="0"/>
              <a:t>PC</a:t>
            </a:r>
            <a:r>
              <a:rPr kumimoji="1" lang="ja-JP" altLang="en-US" sz="800" dirty="0"/>
              <a:t>からの要求時に</a:t>
            </a:r>
            <a:r>
              <a:rPr kumimoji="1" lang="en-US" altLang="ja-JP" sz="800" dirty="0"/>
              <a:t>SD</a:t>
            </a:r>
            <a:r>
              <a:rPr kumimoji="1" lang="ja-JP" altLang="en-US" sz="800" dirty="0"/>
              <a:t>へ出力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7C85114-E6FD-DE97-4937-827673BC8FA2}"/>
              </a:ext>
            </a:extLst>
          </p:cNvPr>
          <p:cNvSpPr txBox="1"/>
          <p:nvPr/>
        </p:nvSpPr>
        <p:spPr>
          <a:xfrm>
            <a:off x="739138" y="5670664"/>
            <a:ext cx="2503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測定時に自動出力される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最新ファイルは</a:t>
            </a:r>
            <a:r>
              <a:rPr lang="en-US" altLang="ja-JP" sz="800" dirty="0"/>
              <a:t>PC</a:t>
            </a:r>
            <a:r>
              <a:rPr lang="ja-JP" altLang="en-US" sz="800" dirty="0"/>
              <a:t>からアクセスしない</a:t>
            </a:r>
            <a:endParaRPr lang="en-US" altLang="ja-JP" sz="800" dirty="0"/>
          </a:p>
          <a:p>
            <a:r>
              <a:rPr kumimoji="1" lang="en-US" altLang="ja-JP" sz="800" dirty="0"/>
              <a:t>  </a:t>
            </a:r>
            <a:r>
              <a:rPr kumimoji="1" lang="ja-JP" altLang="en-US" sz="800" dirty="0"/>
              <a:t> </a:t>
            </a:r>
            <a:r>
              <a:rPr kumimoji="1" lang="en-US" altLang="ja-JP" sz="800" dirty="0"/>
              <a:t>(</a:t>
            </a:r>
            <a:r>
              <a:rPr kumimoji="1" lang="ja-JP" altLang="en-US" sz="800" dirty="0"/>
              <a:t>データが壊れる可能性があるため）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画像データは巨大すぎるため対象外</a:t>
            </a:r>
            <a:endParaRPr lang="en-US" altLang="ja-JP" sz="800" dirty="0"/>
          </a:p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データ出力ユニットを利用する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DE030D1-3C64-4465-0DEE-9F11F57BB44F}"/>
              </a:ext>
            </a:extLst>
          </p:cNvPr>
          <p:cNvSpPr/>
          <p:nvPr/>
        </p:nvSpPr>
        <p:spPr>
          <a:xfrm>
            <a:off x="861097" y="1685149"/>
            <a:ext cx="600926" cy="274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カウンタ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477DE2E5-CB42-0F15-C3AA-5FC7FBDC0D1F}"/>
              </a:ext>
            </a:extLst>
          </p:cNvPr>
          <p:cNvSpPr/>
          <p:nvPr/>
        </p:nvSpPr>
        <p:spPr>
          <a:xfrm>
            <a:off x="523009" y="1086368"/>
            <a:ext cx="3549534" cy="5394961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6E11FBE-DE01-BAF7-54B1-8012E271821F}"/>
              </a:ext>
            </a:extLst>
          </p:cNvPr>
          <p:cNvSpPr/>
          <p:nvPr/>
        </p:nvSpPr>
        <p:spPr>
          <a:xfrm>
            <a:off x="3327629" y="1410567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04252902-8C41-9B71-9E3F-4526156316B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242886" y="1849264"/>
            <a:ext cx="266008" cy="181063"/>
          </a:xfrm>
          <a:prstGeom prst="bentConnector3">
            <a:avLst>
              <a:gd name="adj1" fmla="val 94162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41C35EFF-7DAC-3986-2E44-6C97D2496991}"/>
              </a:ext>
            </a:extLst>
          </p:cNvPr>
          <p:cNvCxnSpPr>
            <a:cxnSpLocks/>
            <a:stCxn id="13" idx="3"/>
            <a:endCxn id="35" idx="2"/>
          </p:cNvCxnSpPr>
          <p:nvPr/>
        </p:nvCxnSpPr>
        <p:spPr>
          <a:xfrm flipV="1">
            <a:off x="3242886" y="1851188"/>
            <a:ext cx="395324" cy="1914896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B3260882-5C29-3428-64A6-D61C964E766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242886" y="1849264"/>
            <a:ext cx="539058" cy="3368259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79CF9DC5-5C06-B6A5-ACD4-5FDEA8E55C3E}"/>
              </a:ext>
            </a:extLst>
          </p:cNvPr>
          <p:cNvSpPr/>
          <p:nvPr/>
        </p:nvSpPr>
        <p:spPr>
          <a:xfrm>
            <a:off x="5322790" y="1041654"/>
            <a:ext cx="2781430" cy="1833442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A6FD659-F172-9898-EA1B-2FF87E5EF9EC}"/>
              </a:ext>
            </a:extLst>
          </p:cNvPr>
          <p:cNvSpPr txBox="1"/>
          <p:nvPr/>
        </p:nvSpPr>
        <p:spPr>
          <a:xfrm>
            <a:off x="523009" y="814575"/>
            <a:ext cx="93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検査装置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83A6C2F-C447-ED40-75BF-845AC99272C4}"/>
              </a:ext>
            </a:extLst>
          </p:cNvPr>
          <p:cNvSpPr txBox="1"/>
          <p:nvPr/>
        </p:nvSpPr>
        <p:spPr>
          <a:xfrm>
            <a:off x="5322790" y="809369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現場</a:t>
            </a:r>
            <a:r>
              <a:rPr kumimoji="1" lang="en-US" altLang="ja-JP" sz="1200" dirty="0"/>
              <a:t>PC</a:t>
            </a:r>
            <a:endParaRPr kumimoji="1" lang="ja-JP" altLang="en-US" sz="1200" dirty="0"/>
          </a:p>
        </p:txBody>
      </p:sp>
      <p:sp>
        <p:nvSpPr>
          <p:cNvPr id="58" name="円柱 57">
            <a:extLst>
              <a:ext uri="{FF2B5EF4-FFF2-40B4-BE49-F238E27FC236}">
                <a16:creationId xmlns:a16="http://schemas.microsoft.com/office/drawing/2014/main" id="{C2C7750B-1896-4763-C2A9-EEC5FDF56493}"/>
              </a:ext>
            </a:extLst>
          </p:cNvPr>
          <p:cNvSpPr/>
          <p:nvPr/>
        </p:nvSpPr>
        <p:spPr>
          <a:xfrm>
            <a:off x="6992070" y="1441501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23ADD5B-83C7-A44E-9133-33E22D9AFFDE}"/>
              </a:ext>
            </a:extLst>
          </p:cNvPr>
          <p:cNvSpPr/>
          <p:nvPr/>
        </p:nvSpPr>
        <p:spPr>
          <a:xfrm>
            <a:off x="5509454" y="1361664"/>
            <a:ext cx="1038707" cy="520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データ登録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FC495AD9-56BA-3247-189E-CD93BBA1E964}"/>
              </a:ext>
            </a:extLst>
          </p:cNvPr>
          <p:cNvSpPr/>
          <p:nvPr/>
        </p:nvSpPr>
        <p:spPr>
          <a:xfrm>
            <a:off x="6557962" y="1564374"/>
            <a:ext cx="434108" cy="213794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2D0E463D-67CA-0015-AF6A-5AAE7B80E42F}"/>
              </a:ext>
            </a:extLst>
          </p:cNvPr>
          <p:cNvCxnSpPr>
            <a:cxnSpLocks/>
            <a:stCxn id="54" idx="1"/>
            <a:endCxn id="77" idx="3"/>
          </p:cNvCxnSpPr>
          <p:nvPr/>
        </p:nvCxnSpPr>
        <p:spPr>
          <a:xfrm rot="10800000">
            <a:off x="4980122" y="1628955"/>
            <a:ext cx="342668" cy="32942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AB0959BA-9687-E5FE-7964-3E3BACE73894}"/>
              </a:ext>
            </a:extLst>
          </p:cNvPr>
          <p:cNvSpPr/>
          <p:nvPr/>
        </p:nvSpPr>
        <p:spPr>
          <a:xfrm>
            <a:off x="4358961" y="1408643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27DCEC72-51D3-8413-A4DF-36EB13F2B98C}"/>
              </a:ext>
            </a:extLst>
          </p:cNvPr>
          <p:cNvCxnSpPr>
            <a:cxnSpLocks/>
            <a:stCxn id="77" idx="1"/>
            <a:endCxn id="35" idx="3"/>
          </p:cNvCxnSpPr>
          <p:nvPr/>
        </p:nvCxnSpPr>
        <p:spPr>
          <a:xfrm rot="10800000" flipV="1">
            <a:off x="3948791" y="1628954"/>
            <a:ext cx="410171" cy="192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F74FC92A-20BD-D8E3-0509-8011643DC4C8}"/>
              </a:ext>
            </a:extLst>
          </p:cNvPr>
          <p:cNvSpPr txBox="1"/>
          <p:nvPr/>
        </p:nvSpPr>
        <p:spPr>
          <a:xfrm>
            <a:off x="5214577" y="2985895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見える化</a:t>
            </a:r>
            <a:r>
              <a:rPr lang="ja-JP" altLang="en-US" sz="1200" dirty="0"/>
              <a:t>モニタ</a:t>
            </a:r>
            <a:endParaRPr kumimoji="1" lang="ja-JP" altLang="en-US" sz="1200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4EC98FEB-123B-384B-B384-CAE0670592F8}"/>
              </a:ext>
            </a:extLst>
          </p:cNvPr>
          <p:cNvSpPr/>
          <p:nvPr/>
        </p:nvSpPr>
        <p:spPr>
          <a:xfrm>
            <a:off x="5526915" y="2168434"/>
            <a:ext cx="1854094" cy="598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稼働状況表示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pic>
        <p:nvPicPr>
          <p:cNvPr id="1026" name="Picture 2" descr="複合グラフ・レポートのイラスト | 無料のフリー素材 イラストエイト">
            <a:extLst>
              <a:ext uri="{FF2B5EF4-FFF2-40B4-BE49-F238E27FC236}">
                <a16:creationId xmlns:a16="http://schemas.microsoft.com/office/drawing/2014/main" id="{B715D81B-CC36-FB2D-2080-8E2F9F2D7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24722" y="3362620"/>
            <a:ext cx="1466248" cy="119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直方体 89">
            <a:extLst>
              <a:ext uri="{FF2B5EF4-FFF2-40B4-BE49-F238E27FC236}">
                <a16:creationId xmlns:a16="http://schemas.microsoft.com/office/drawing/2014/main" id="{B46F0F9A-4794-C0CF-20A8-341D243FE900}"/>
              </a:ext>
            </a:extLst>
          </p:cNvPr>
          <p:cNvSpPr/>
          <p:nvPr/>
        </p:nvSpPr>
        <p:spPr>
          <a:xfrm>
            <a:off x="5322790" y="3272261"/>
            <a:ext cx="2175166" cy="1344824"/>
          </a:xfrm>
          <a:prstGeom prst="cube">
            <a:avLst>
              <a:gd name="adj" fmla="val 21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5D6DF771-187A-C60F-2256-1FCDB7FAD970}"/>
              </a:ext>
            </a:extLst>
          </p:cNvPr>
          <p:cNvSpPr/>
          <p:nvPr/>
        </p:nvSpPr>
        <p:spPr>
          <a:xfrm rot="5400000">
            <a:off x="6594234" y="2911906"/>
            <a:ext cx="501478" cy="219238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5C1FBDF-C602-927F-E18F-2C670C0DB987}"/>
              </a:ext>
            </a:extLst>
          </p:cNvPr>
          <p:cNvSpPr txBox="1"/>
          <p:nvPr/>
        </p:nvSpPr>
        <p:spPr>
          <a:xfrm>
            <a:off x="5322790" y="4664842"/>
            <a:ext cx="16284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※70</a:t>
            </a:r>
            <a:r>
              <a:rPr kumimoji="1" lang="ja-JP" altLang="en-US" sz="800" dirty="0"/>
              <a:t>インチ程度のサブモニタ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DEB96C9D-E78C-FDA2-6350-2C5D4C110ED7}"/>
              </a:ext>
            </a:extLst>
          </p:cNvPr>
          <p:cNvSpPr txBox="1"/>
          <p:nvPr/>
        </p:nvSpPr>
        <p:spPr>
          <a:xfrm>
            <a:off x="6905691" y="1919657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※SQLite</a:t>
            </a:r>
            <a:r>
              <a:rPr kumimoji="1" lang="ja-JP" altLang="en-US" sz="800" dirty="0"/>
              <a:t>ファイル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570BEAD-9D95-913E-0926-E973EE896F4D}"/>
              </a:ext>
            </a:extLst>
          </p:cNvPr>
          <p:cNvCxnSpPr>
            <a:cxnSpLocks/>
            <a:stCxn id="77" idx="2"/>
          </p:cNvCxnSpPr>
          <p:nvPr/>
        </p:nvCxnSpPr>
        <p:spPr>
          <a:xfrm>
            <a:off x="4669542" y="1849264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0225CAB2-4B8C-880C-1034-C020CA48C0E6}"/>
              </a:ext>
            </a:extLst>
          </p:cNvPr>
          <p:cNvCxnSpPr>
            <a:cxnSpLocks/>
          </p:cNvCxnSpPr>
          <p:nvPr/>
        </p:nvCxnSpPr>
        <p:spPr>
          <a:xfrm>
            <a:off x="4504442" y="1845396"/>
            <a:ext cx="0" cy="92137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DCD3C7D-9AB6-15E7-97E9-D07E11E336EA}"/>
              </a:ext>
            </a:extLst>
          </p:cNvPr>
          <p:cNvCxnSpPr>
            <a:cxnSpLocks/>
          </p:cNvCxnSpPr>
          <p:nvPr/>
        </p:nvCxnSpPr>
        <p:spPr>
          <a:xfrm>
            <a:off x="4831467" y="1845396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0B56070F-8EF2-A8B3-A239-509C41A34FFA}"/>
              </a:ext>
            </a:extLst>
          </p:cNvPr>
          <p:cNvSpPr txBox="1"/>
          <p:nvPr/>
        </p:nvSpPr>
        <p:spPr>
          <a:xfrm>
            <a:off x="4327269" y="2808636"/>
            <a:ext cx="797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他検査機へ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B1C04F0-39EE-DF00-3EA2-3FA77B1B0B08}"/>
              </a:ext>
            </a:extLst>
          </p:cNvPr>
          <p:cNvSpPr txBox="1"/>
          <p:nvPr/>
        </p:nvSpPr>
        <p:spPr>
          <a:xfrm>
            <a:off x="228022" y="168868"/>
            <a:ext cx="521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コバテック様向け</a:t>
            </a:r>
            <a:endParaRPr kumimoji="1" lang="en-US" altLang="ja-JP" sz="1200" dirty="0"/>
          </a:p>
          <a:p>
            <a:r>
              <a:rPr kumimoji="1" lang="ja-JP" altLang="en-US" sz="1600" u="sng" dirty="0"/>
              <a:t>ボディ検査装置データ自動取集＆見える化 構想図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0F0E7CFB-86AB-1700-B482-C427BB2B3B80}"/>
              </a:ext>
            </a:extLst>
          </p:cNvPr>
          <p:cNvSpPr/>
          <p:nvPr/>
        </p:nvSpPr>
        <p:spPr>
          <a:xfrm>
            <a:off x="9003631" y="1238388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D412A20F-DBEE-F972-FF3F-EE024692D066}"/>
              </a:ext>
            </a:extLst>
          </p:cNvPr>
          <p:cNvCxnSpPr>
            <a:cxnSpLocks/>
            <a:stCxn id="106" idx="1"/>
            <a:endCxn id="54" idx="3"/>
          </p:cNvCxnSpPr>
          <p:nvPr/>
        </p:nvCxnSpPr>
        <p:spPr>
          <a:xfrm rot="10800000" flipV="1">
            <a:off x="8104221" y="1458699"/>
            <a:ext cx="899411" cy="499676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1DB59EE2-076E-C85C-EC76-CD5EB0C3A4E6}"/>
              </a:ext>
            </a:extLst>
          </p:cNvPr>
          <p:cNvSpPr/>
          <p:nvPr/>
        </p:nvSpPr>
        <p:spPr>
          <a:xfrm>
            <a:off x="8816210" y="2427346"/>
            <a:ext cx="2175166" cy="1344825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円柱 112">
            <a:extLst>
              <a:ext uri="{FF2B5EF4-FFF2-40B4-BE49-F238E27FC236}">
                <a16:creationId xmlns:a16="http://schemas.microsoft.com/office/drawing/2014/main" id="{419D6D29-331C-2249-9BDC-8703734AE6B2}"/>
              </a:ext>
            </a:extLst>
          </p:cNvPr>
          <p:cNvSpPr/>
          <p:nvPr/>
        </p:nvSpPr>
        <p:spPr>
          <a:xfrm>
            <a:off x="9006772" y="261545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Backup1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円柱 113">
            <a:extLst>
              <a:ext uri="{FF2B5EF4-FFF2-40B4-BE49-F238E27FC236}">
                <a16:creationId xmlns:a16="http://schemas.microsoft.com/office/drawing/2014/main" id="{CA1E6B3F-8EFC-F48F-2C8B-DB04F373BFEE}"/>
              </a:ext>
            </a:extLst>
          </p:cNvPr>
          <p:cNvSpPr/>
          <p:nvPr/>
        </p:nvSpPr>
        <p:spPr>
          <a:xfrm>
            <a:off x="9006772" y="314068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Backup3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5" name="円柱 114">
            <a:extLst>
              <a:ext uri="{FF2B5EF4-FFF2-40B4-BE49-F238E27FC236}">
                <a16:creationId xmlns:a16="http://schemas.microsoft.com/office/drawing/2014/main" id="{5842154F-791A-3CBC-FEF5-7D8DD9CC9C9D}"/>
              </a:ext>
            </a:extLst>
          </p:cNvPr>
          <p:cNvSpPr/>
          <p:nvPr/>
        </p:nvSpPr>
        <p:spPr>
          <a:xfrm>
            <a:off x="9945066" y="262153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Backup2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6" name="円柱 115">
            <a:extLst>
              <a:ext uri="{FF2B5EF4-FFF2-40B4-BE49-F238E27FC236}">
                <a16:creationId xmlns:a16="http://schemas.microsoft.com/office/drawing/2014/main" id="{B617B5B5-92BA-0BE1-1F74-ED17033007BC}"/>
              </a:ext>
            </a:extLst>
          </p:cNvPr>
          <p:cNvSpPr/>
          <p:nvPr/>
        </p:nvSpPr>
        <p:spPr>
          <a:xfrm>
            <a:off x="9945066" y="314676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Backup4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69D227E1-C855-F0C8-87DB-7F7C67D87A97}"/>
              </a:ext>
            </a:extLst>
          </p:cNvPr>
          <p:cNvCxnSpPr>
            <a:cxnSpLocks/>
            <a:stCxn id="106" idx="2"/>
            <a:endCxn id="112" idx="0"/>
          </p:cNvCxnSpPr>
          <p:nvPr/>
        </p:nvCxnSpPr>
        <p:spPr>
          <a:xfrm rot="16200000" flipH="1">
            <a:off x="9234834" y="1758386"/>
            <a:ext cx="748337" cy="58958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D38A4713-43E9-C495-578D-5A4ABE16E9FC}"/>
              </a:ext>
            </a:extLst>
          </p:cNvPr>
          <p:cNvSpPr txBox="1"/>
          <p:nvPr/>
        </p:nvSpPr>
        <p:spPr>
          <a:xfrm>
            <a:off x="8816210" y="2168434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NAS</a:t>
            </a:r>
            <a:endParaRPr kumimoji="1" lang="ja-JP" altLang="en-US" sz="1200" dirty="0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E2CBEC9B-6707-863F-DDFA-DB626E105580}"/>
              </a:ext>
            </a:extLst>
          </p:cNvPr>
          <p:cNvSpPr/>
          <p:nvPr/>
        </p:nvSpPr>
        <p:spPr>
          <a:xfrm>
            <a:off x="4358961" y="5049120"/>
            <a:ext cx="7404414" cy="143028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dirty="0">
                <a:solidFill>
                  <a:schemeClr val="tx1"/>
                </a:solidFill>
              </a:rPr>
              <a:t>・データ登録（各機械の吸い出し含む）は</a:t>
            </a:r>
            <a:r>
              <a:rPr kumimoji="1" lang="en-US" altLang="ja-JP" sz="900" dirty="0">
                <a:solidFill>
                  <a:schemeClr val="tx1"/>
                </a:solidFill>
              </a:rPr>
              <a:t>1</a:t>
            </a:r>
            <a:r>
              <a:rPr kumimoji="1" lang="ja-JP" altLang="en-US" sz="900" dirty="0">
                <a:solidFill>
                  <a:schemeClr val="tx1"/>
                </a:solidFill>
              </a:rPr>
              <a:t>ロットごとに手動で行う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・稼働状況表示は</a:t>
            </a:r>
            <a:r>
              <a:rPr lang="en-US" altLang="ja-JP" sz="900" dirty="0">
                <a:solidFill>
                  <a:schemeClr val="tx1"/>
                </a:solidFill>
              </a:rPr>
              <a:t>PLC</a:t>
            </a:r>
            <a:r>
              <a:rPr lang="ja-JP" altLang="en-US" sz="900" dirty="0">
                <a:solidFill>
                  <a:schemeClr val="tx1"/>
                </a:solidFill>
              </a:rPr>
              <a:t>のデバイス</a:t>
            </a:r>
            <a:r>
              <a:rPr lang="en-US" altLang="ja-JP" sz="900" dirty="0">
                <a:solidFill>
                  <a:schemeClr val="tx1"/>
                </a:solidFill>
              </a:rPr>
              <a:t>(EM)</a:t>
            </a:r>
            <a:r>
              <a:rPr lang="ja-JP" altLang="en-US" sz="900" dirty="0">
                <a:solidFill>
                  <a:schemeClr val="tx1"/>
                </a:solidFill>
              </a:rPr>
              <a:t>を読む（リアルタイム表示</a:t>
            </a:r>
            <a:r>
              <a:rPr lang="en-US" altLang="ja-JP" sz="900" dirty="0">
                <a:solidFill>
                  <a:schemeClr val="tx1"/>
                </a:solidFill>
              </a:rPr>
              <a:t>)</a:t>
            </a:r>
          </a:p>
          <a:p>
            <a:r>
              <a:rPr lang="ja-JP" altLang="en-US" sz="900" dirty="0">
                <a:solidFill>
                  <a:schemeClr val="tx1"/>
                </a:solidFill>
              </a:rPr>
              <a:t>・推移図は</a:t>
            </a:r>
            <a:r>
              <a:rPr lang="en-US" altLang="ja-JP" sz="900" dirty="0">
                <a:solidFill>
                  <a:schemeClr val="tx1"/>
                </a:solidFill>
              </a:rPr>
              <a:t>DB</a:t>
            </a:r>
            <a:r>
              <a:rPr lang="ja-JP" altLang="en-US" sz="900" dirty="0">
                <a:solidFill>
                  <a:schemeClr val="tx1"/>
                </a:solidFill>
              </a:rPr>
              <a:t>ファイルを参照してグラフ化する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9DD5C3BA-A469-8C9F-5043-B97CE9BCB8F3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9624792" y="1458699"/>
            <a:ext cx="67744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71C7EEDE-CAFD-4C6B-3168-E9289E6A1A8D}"/>
              </a:ext>
            </a:extLst>
          </p:cNvPr>
          <p:cNvSpPr txBox="1"/>
          <p:nvPr/>
        </p:nvSpPr>
        <p:spPr>
          <a:xfrm>
            <a:off x="10320031" y="1303323"/>
            <a:ext cx="99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コバテック様</a:t>
            </a:r>
            <a:endParaRPr kumimoji="1" lang="en-US" altLang="ja-JP" sz="800" dirty="0"/>
          </a:p>
          <a:p>
            <a:r>
              <a:rPr lang="ja-JP" altLang="en-US" sz="800" dirty="0"/>
              <a:t>他</a:t>
            </a:r>
            <a:r>
              <a:rPr lang="en-US" altLang="ja-JP" sz="800" dirty="0"/>
              <a:t>PC</a:t>
            </a:r>
            <a:r>
              <a:rPr lang="ja-JP" altLang="en-US" sz="800" dirty="0"/>
              <a:t>へ</a:t>
            </a:r>
            <a:endParaRPr kumimoji="1" lang="ja-JP" altLang="en-US" sz="800" dirty="0"/>
          </a:p>
        </p:txBody>
      </p:sp>
      <p:sp>
        <p:nvSpPr>
          <p:cNvPr id="1028" name="テキスト ボックス 1027">
            <a:extLst>
              <a:ext uri="{FF2B5EF4-FFF2-40B4-BE49-F238E27FC236}">
                <a16:creationId xmlns:a16="http://schemas.microsoft.com/office/drawing/2014/main" id="{239938EF-6111-F545-7813-AB8739783B7B}"/>
              </a:ext>
            </a:extLst>
          </p:cNvPr>
          <p:cNvSpPr txBox="1"/>
          <p:nvPr/>
        </p:nvSpPr>
        <p:spPr>
          <a:xfrm>
            <a:off x="10774582" y="244711"/>
            <a:ext cx="120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最終更新</a:t>
            </a:r>
            <a:r>
              <a:rPr lang="en-US" altLang="ja-JP" sz="800" dirty="0"/>
              <a:t> : 2026/5/11</a:t>
            </a:r>
          </a:p>
          <a:p>
            <a:r>
              <a:rPr kumimoji="1" lang="ja-JP" altLang="en-US" sz="800" dirty="0"/>
              <a:t>京和製作所 間瀬</a:t>
            </a:r>
          </a:p>
        </p:txBody>
      </p:sp>
      <p:cxnSp>
        <p:nvCxnSpPr>
          <p:cNvPr id="1030" name="直線矢印コネクタ 1029">
            <a:extLst>
              <a:ext uri="{FF2B5EF4-FFF2-40B4-BE49-F238E27FC236}">
                <a16:creationId xmlns:a16="http://schemas.microsoft.com/office/drawing/2014/main" id="{ABEDB0FC-60D7-2066-51E4-C284711E28F2}"/>
              </a:ext>
            </a:extLst>
          </p:cNvPr>
          <p:cNvCxnSpPr>
            <a:cxnSpLocks/>
          </p:cNvCxnSpPr>
          <p:nvPr/>
        </p:nvCxnSpPr>
        <p:spPr>
          <a:xfrm>
            <a:off x="8250373" y="1015446"/>
            <a:ext cx="920898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線矢印コネクタ 1030">
            <a:extLst>
              <a:ext uri="{FF2B5EF4-FFF2-40B4-BE49-F238E27FC236}">
                <a16:creationId xmlns:a16="http://schemas.microsoft.com/office/drawing/2014/main" id="{FB39715F-1175-7172-A436-1CE29EB68B96}"/>
              </a:ext>
            </a:extLst>
          </p:cNvPr>
          <p:cNvCxnSpPr>
            <a:cxnSpLocks/>
          </p:cNvCxnSpPr>
          <p:nvPr/>
        </p:nvCxnSpPr>
        <p:spPr>
          <a:xfrm flipH="1">
            <a:off x="4265341" y="1041654"/>
            <a:ext cx="920898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テキスト ボックス 1034">
            <a:extLst>
              <a:ext uri="{FF2B5EF4-FFF2-40B4-BE49-F238E27FC236}">
                <a16:creationId xmlns:a16="http://schemas.microsoft.com/office/drawing/2014/main" id="{829217D8-CC4F-B17D-D1CE-07157185EB7D}"/>
              </a:ext>
            </a:extLst>
          </p:cNvPr>
          <p:cNvSpPr txBox="1"/>
          <p:nvPr/>
        </p:nvSpPr>
        <p:spPr>
          <a:xfrm>
            <a:off x="8201497" y="789313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rgbClr val="C00000"/>
                </a:solidFill>
              </a:rPr>
              <a:t>社内ネットワーク</a:t>
            </a:r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A6F3FD52-7C87-AA35-D6EA-3AE98170547A}"/>
              </a:ext>
            </a:extLst>
          </p:cNvPr>
          <p:cNvSpPr txBox="1"/>
          <p:nvPr/>
        </p:nvSpPr>
        <p:spPr>
          <a:xfrm>
            <a:off x="4265341" y="800002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chemeClr val="accent5">
                    <a:lumMod val="75000"/>
                  </a:schemeClr>
                </a:solidFill>
              </a:rPr>
              <a:t>設備ネットワーク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38103E4-F772-A619-27AD-30DC42F2DED2}"/>
              </a:ext>
            </a:extLst>
          </p:cNvPr>
          <p:cNvSpPr txBox="1"/>
          <p:nvPr/>
        </p:nvSpPr>
        <p:spPr>
          <a:xfrm>
            <a:off x="3693246" y="2615734"/>
            <a:ext cx="4539033" cy="1446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800" dirty="0">
                <a:solidFill>
                  <a:srgbClr val="FF0000"/>
                </a:solidFill>
              </a:rPr>
              <a:t>廃　案</a:t>
            </a:r>
          </a:p>
        </p:txBody>
      </p:sp>
    </p:spTree>
    <p:extLst>
      <p:ext uri="{BB962C8B-B14F-4D97-AF65-F5344CB8AC3E}">
        <p14:creationId xmlns:p14="http://schemas.microsoft.com/office/powerpoint/2010/main" val="119848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83C9937-B66E-B901-2DC0-D52FF6C74FB0}"/>
              </a:ext>
            </a:extLst>
          </p:cNvPr>
          <p:cNvSpPr/>
          <p:nvPr/>
        </p:nvSpPr>
        <p:spPr>
          <a:xfrm>
            <a:off x="971049" y="4376365"/>
            <a:ext cx="10544848" cy="224087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F8EAF22-1623-F358-2CAA-86E4C59E26B1}"/>
              </a:ext>
            </a:extLst>
          </p:cNvPr>
          <p:cNvSpPr/>
          <p:nvPr/>
        </p:nvSpPr>
        <p:spPr>
          <a:xfrm>
            <a:off x="954423" y="655660"/>
            <a:ext cx="10565477" cy="310065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6A4AA7-613D-5CE4-D5E7-8E99D54796FA}"/>
              </a:ext>
            </a:extLst>
          </p:cNvPr>
          <p:cNvSpPr/>
          <p:nvPr/>
        </p:nvSpPr>
        <p:spPr>
          <a:xfrm>
            <a:off x="847897" y="4272026"/>
            <a:ext cx="10565477" cy="22231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E3D1085-5286-18D9-5F56-1504E19B7E09}"/>
              </a:ext>
            </a:extLst>
          </p:cNvPr>
          <p:cNvSpPr/>
          <p:nvPr/>
        </p:nvSpPr>
        <p:spPr>
          <a:xfrm>
            <a:off x="4234296" y="4738639"/>
            <a:ext cx="4659234" cy="139278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1F5462-76D7-182A-D998-0A7749C78703}"/>
              </a:ext>
            </a:extLst>
          </p:cNvPr>
          <p:cNvSpPr txBox="1"/>
          <p:nvPr/>
        </p:nvSpPr>
        <p:spPr>
          <a:xfrm>
            <a:off x="739832" y="224135"/>
            <a:ext cx="646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WEEKLY OPERATING TIME </a:t>
            </a:r>
            <a:r>
              <a:rPr lang="ja-JP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週間稼働時間</a:t>
            </a:r>
            <a:endParaRPr kumimoji="1"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888854E-0E3E-785E-6C9E-0C3BA9BECC4E}"/>
              </a:ext>
            </a:extLst>
          </p:cNvPr>
          <p:cNvSpPr/>
          <p:nvPr/>
        </p:nvSpPr>
        <p:spPr>
          <a:xfrm>
            <a:off x="847897" y="540323"/>
            <a:ext cx="10565477" cy="3100651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95DE211-0137-2F11-D1B1-1A1AD4B0B1A9}"/>
              </a:ext>
            </a:extLst>
          </p:cNvPr>
          <p:cNvSpPr/>
          <p:nvPr/>
        </p:nvSpPr>
        <p:spPr>
          <a:xfrm>
            <a:off x="2519888" y="890995"/>
            <a:ext cx="3412682" cy="103795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B6F1729-F60B-DFE1-C2B7-EF1211B3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84" y="1086253"/>
            <a:ext cx="1445115" cy="141061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C2E2519-420E-FC5E-C2FB-36FDF2F96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54" y="1111097"/>
            <a:ext cx="962181" cy="1258237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46298EC-F017-CF51-6037-5F9F9D5BC59D}"/>
              </a:ext>
            </a:extLst>
          </p:cNvPr>
          <p:cNvSpPr/>
          <p:nvPr/>
        </p:nvSpPr>
        <p:spPr>
          <a:xfrm>
            <a:off x="5932569" y="890995"/>
            <a:ext cx="3785007" cy="103795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BDF172-C200-A69A-705D-83E2476078B6}"/>
              </a:ext>
            </a:extLst>
          </p:cNvPr>
          <p:cNvSpPr txBox="1"/>
          <p:nvPr/>
        </p:nvSpPr>
        <p:spPr>
          <a:xfrm>
            <a:off x="2513586" y="1086804"/>
            <a:ext cx="1624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</a:rPr>
              <a:t>22,305 min</a:t>
            </a:r>
          </a:p>
          <a:p>
            <a:r>
              <a:rPr lang="en-US" altLang="ja-JP" b="1" dirty="0">
                <a:solidFill>
                  <a:schemeClr val="bg1"/>
                </a:solidFill>
              </a:rPr>
              <a:t>46 %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471D7B-17E3-5B65-F805-7D5FAF046058}"/>
              </a:ext>
            </a:extLst>
          </p:cNvPr>
          <p:cNvSpPr txBox="1"/>
          <p:nvPr/>
        </p:nvSpPr>
        <p:spPr>
          <a:xfrm>
            <a:off x="1006948" y="2463863"/>
            <a:ext cx="1347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chemeClr val="bg2">
                    <a:lumMod val="50000"/>
                  </a:schemeClr>
                </a:solidFill>
              </a:rPr>
              <a:t>DAY SHIFT</a:t>
            </a:r>
            <a:endParaRPr kumimoji="1" lang="ja-JP" alt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5A768F3-80E7-5017-B57A-E676FA3BA045}"/>
              </a:ext>
            </a:extLst>
          </p:cNvPr>
          <p:cNvSpPr txBox="1"/>
          <p:nvPr/>
        </p:nvSpPr>
        <p:spPr>
          <a:xfrm>
            <a:off x="8092900" y="1086804"/>
            <a:ext cx="1624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b="1" dirty="0">
                <a:solidFill>
                  <a:schemeClr val="bg1"/>
                </a:solidFill>
              </a:rPr>
              <a:t>22,305 min</a:t>
            </a:r>
          </a:p>
          <a:p>
            <a:pPr algn="r"/>
            <a:r>
              <a:rPr lang="en-US" altLang="ja-JP" b="1" dirty="0">
                <a:solidFill>
                  <a:schemeClr val="bg1"/>
                </a:solidFill>
              </a:rPr>
              <a:t>54 %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045F0D5-8FDD-7BC7-B1EF-ADAFF019C852}"/>
              </a:ext>
            </a:extLst>
          </p:cNvPr>
          <p:cNvSpPr txBox="1"/>
          <p:nvPr/>
        </p:nvSpPr>
        <p:spPr>
          <a:xfrm>
            <a:off x="9823889" y="2443016"/>
            <a:ext cx="1483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chemeClr val="bg2">
                    <a:lumMod val="50000"/>
                  </a:schemeClr>
                </a:solidFill>
              </a:rPr>
              <a:t>NIGHT SHIFT</a:t>
            </a:r>
            <a:endParaRPr kumimoji="1" lang="ja-JP" alt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9CCB2A98-0A03-F8C6-B05D-9681F29C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758858"/>
              </p:ext>
            </p:extLst>
          </p:nvPr>
        </p:nvGraphicFramePr>
        <p:xfrm>
          <a:off x="2536954" y="2301310"/>
          <a:ext cx="7203987" cy="942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29141">
                  <a:extLst>
                    <a:ext uri="{9D8B030D-6E8A-4147-A177-3AD203B41FA5}">
                      <a16:colId xmlns:a16="http://schemas.microsoft.com/office/drawing/2014/main" val="3542659806"/>
                    </a:ext>
                  </a:extLst>
                </a:gridCol>
                <a:gridCol w="1029141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1029141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1029141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1029141">
                  <a:extLst>
                    <a:ext uri="{9D8B030D-6E8A-4147-A177-3AD203B41FA5}">
                      <a16:colId xmlns:a16="http://schemas.microsoft.com/office/drawing/2014/main" val="1994325327"/>
                    </a:ext>
                  </a:extLst>
                </a:gridCol>
                <a:gridCol w="1029141">
                  <a:extLst>
                    <a:ext uri="{9D8B030D-6E8A-4147-A177-3AD203B41FA5}">
                      <a16:colId xmlns:a16="http://schemas.microsoft.com/office/drawing/2014/main" val="3844872914"/>
                    </a:ext>
                  </a:extLst>
                </a:gridCol>
                <a:gridCol w="1029141">
                  <a:extLst>
                    <a:ext uri="{9D8B030D-6E8A-4147-A177-3AD203B41FA5}">
                      <a16:colId xmlns:a16="http://schemas.microsoft.com/office/drawing/2014/main" val="2254263030"/>
                    </a:ext>
                  </a:extLst>
                </a:gridCol>
              </a:tblGrid>
              <a:tr h="314120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Mon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Tue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Wed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Thu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Fri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Sat</a:t>
                      </a:r>
                      <a:endParaRPr kumimoji="1" lang="ja-JP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141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kumimoji="1" lang="ja-JP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454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407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470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0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0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0</a:t>
                      </a:r>
                      <a:endParaRPr kumimoji="1" lang="ja-JP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  <a:tr h="3141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NIGHT</a:t>
                      </a:r>
                      <a:endParaRPr kumimoji="1" lang="ja-JP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430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442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156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0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0</a:t>
                      </a:r>
                      <a:endParaRPr kumimoji="1"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0</a:t>
                      </a:r>
                      <a:endParaRPr kumimoji="1" lang="ja-JP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191600"/>
                  </a:ext>
                </a:extLst>
              </a:tr>
            </a:tbl>
          </a:graphicData>
        </a:graphic>
      </p:graphicFrame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F404D1E-9412-E6A2-C6C6-7B3AB6C580B2}"/>
              </a:ext>
            </a:extLst>
          </p:cNvPr>
          <p:cNvSpPr/>
          <p:nvPr/>
        </p:nvSpPr>
        <p:spPr>
          <a:xfrm>
            <a:off x="5669279" y="2928525"/>
            <a:ext cx="980902" cy="31514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B6EAC6A-A5AE-9F09-9064-10E8BE611AA8}"/>
              </a:ext>
            </a:extLst>
          </p:cNvPr>
          <p:cNvSpPr txBox="1"/>
          <p:nvPr/>
        </p:nvSpPr>
        <p:spPr>
          <a:xfrm>
            <a:off x="778626" y="3890800"/>
            <a:ext cx="646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TODAY’S PRODUCTION </a:t>
            </a:r>
            <a:r>
              <a:rPr lang="ja-JP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本日の生産状況</a:t>
            </a:r>
            <a:endParaRPr kumimoji="1"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58B3D841-63BD-1C36-165A-FA3DA0E2D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068392"/>
              </p:ext>
            </p:extLst>
          </p:nvPr>
        </p:nvGraphicFramePr>
        <p:xfrm>
          <a:off x="1018138" y="4739331"/>
          <a:ext cx="2806284" cy="139278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35428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935428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935428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</a:tblGrid>
              <a:tr h="58635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実  績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ロット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目  標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ロット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達成率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80643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50</a:t>
                      </a:r>
                      <a:endParaRPr kumimoji="1" lang="ja-JP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65</a:t>
                      </a:r>
                      <a:endParaRPr kumimoji="1" lang="ja-JP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85%</a:t>
                      </a:r>
                      <a:endParaRPr kumimoji="1" lang="ja-JP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pic>
        <p:nvPicPr>
          <p:cNvPr id="20" name="図 19" descr="花、植物、木、育つ、成長、エコロジー、自然、枝、満開、イメージ、屋外、白バック、花盛り - イラスト作品紹介 | イラスト ＆写真のストックフォトwaha（ワーハ）">
            <a:extLst>
              <a:ext uri="{FF2B5EF4-FFF2-40B4-BE49-F238E27FC236}">
                <a16:creationId xmlns:a16="http://schemas.microsoft.com/office/drawing/2014/main" id="{B12764AE-00F9-260A-C8E0-39371F45ABE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9277" y="4357481"/>
            <a:ext cx="1432394" cy="2022090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C28A90C-E78E-F694-E9B2-31CF96BCF230}"/>
              </a:ext>
            </a:extLst>
          </p:cNvPr>
          <p:cNvSpPr/>
          <p:nvPr/>
        </p:nvSpPr>
        <p:spPr>
          <a:xfrm>
            <a:off x="4226229" y="4740067"/>
            <a:ext cx="5258593" cy="13913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98BA035-FCD3-4C1B-5983-7D97005EED64}"/>
              </a:ext>
            </a:extLst>
          </p:cNvPr>
          <p:cNvCxnSpPr>
            <a:cxnSpLocks/>
          </p:cNvCxnSpPr>
          <p:nvPr/>
        </p:nvCxnSpPr>
        <p:spPr>
          <a:xfrm>
            <a:off x="6905158" y="4738639"/>
            <a:ext cx="0" cy="1392783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A1B9551-DFD0-3479-9F98-502500C83DF4}"/>
              </a:ext>
            </a:extLst>
          </p:cNvPr>
          <p:cNvCxnSpPr>
            <a:cxnSpLocks/>
          </p:cNvCxnSpPr>
          <p:nvPr/>
        </p:nvCxnSpPr>
        <p:spPr>
          <a:xfrm>
            <a:off x="5583435" y="4738639"/>
            <a:ext cx="0" cy="1392783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C06633C-B0F5-C9CC-4E4C-E4F52BA20D58}"/>
              </a:ext>
            </a:extLst>
          </p:cNvPr>
          <p:cNvCxnSpPr>
            <a:cxnSpLocks/>
          </p:cNvCxnSpPr>
          <p:nvPr/>
        </p:nvCxnSpPr>
        <p:spPr>
          <a:xfrm>
            <a:off x="8285071" y="4738639"/>
            <a:ext cx="0" cy="1392783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3FCF835-A8BE-F5DF-597D-C87AD1EBCF8C}"/>
              </a:ext>
            </a:extLst>
          </p:cNvPr>
          <p:cNvSpPr txBox="1"/>
          <p:nvPr/>
        </p:nvSpPr>
        <p:spPr>
          <a:xfrm>
            <a:off x="5286843" y="4470554"/>
            <a:ext cx="706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chemeClr val="bg2">
                    <a:lumMod val="50000"/>
                  </a:schemeClr>
                </a:solidFill>
              </a:rPr>
              <a:t>25%</a:t>
            </a:r>
            <a:endParaRPr kumimoji="1" lang="ja-JP" alt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EAD41C-2793-E747-3EA4-EA3CA0D3644C}"/>
              </a:ext>
            </a:extLst>
          </p:cNvPr>
          <p:cNvSpPr txBox="1"/>
          <p:nvPr/>
        </p:nvSpPr>
        <p:spPr>
          <a:xfrm>
            <a:off x="3921295" y="4470555"/>
            <a:ext cx="706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chemeClr val="bg2">
                    <a:lumMod val="50000"/>
                  </a:schemeClr>
                </a:solidFill>
              </a:rPr>
              <a:t>0%</a:t>
            </a:r>
            <a:endParaRPr kumimoji="1" lang="ja-JP" alt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4F3539A-4A4A-D0ED-D9EE-258E5C40DDE2}"/>
              </a:ext>
            </a:extLst>
          </p:cNvPr>
          <p:cNvSpPr txBox="1"/>
          <p:nvPr/>
        </p:nvSpPr>
        <p:spPr>
          <a:xfrm>
            <a:off x="7974570" y="4470553"/>
            <a:ext cx="706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chemeClr val="bg2">
                    <a:lumMod val="50000"/>
                  </a:schemeClr>
                </a:solidFill>
              </a:rPr>
              <a:t>75%</a:t>
            </a:r>
            <a:endParaRPr kumimoji="1" lang="ja-JP" alt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A9ABF82-478C-1AF0-3186-8B668CFD6F67}"/>
              </a:ext>
            </a:extLst>
          </p:cNvPr>
          <p:cNvSpPr txBox="1"/>
          <p:nvPr/>
        </p:nvSpPr>
        <p:spPr>
          <a:xfrm>
            <a:off x="6602513" y="4461839"/>
            <a:ext cx="706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chemeClr val="bg2">
                    <a:lumMod val="50000"/>
                  </a:schemeClr>
                </a:solidFill>
              </a:rPr>
              <a:t>50%</a:t>
            </a:r>
            <a:endParaRPr kumimoji="1" lang="ja-JP" alt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10EBBCC-713B-1570-57EB-5A43E34264D5}"/>
              </a:ext>
            </a:extLst>
          </p:cNvPr>
          <p:cNvSpPr txBox="1"/>
          <p:nvPr/>
        </p:nvSpPr>
        <p:spPr>
          <a:xfrm>
            <a:off x="9133209" y="4476768"/>
            <a:ext cx="706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chemeClr val="bg2">
                    <a:lumMod val="50000"/>
                  </a:schemeClr>
                </a:solidFill>
              </a:rPr>
              <a:t>100%</a:t>
            </a:r>
            <a:endParaRPr kumimoji="1" lang="ja-JP" alt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288B3DB-9BC9-1FC6-42C8-70CCDF749A67}"/>
              </a:ext>
            </a:extLst>
          </p:cNvPr>
          <p:cNvSpPr txBox="1"/>
          <p:nvPr/>
        </p:nvSpPr>
        <p:spPr>
          <a:xfrm>
            <a:off x="9740941" y="128313"/>
            <a:ext cx="23340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LAST UPDATE: 2026-08-31 15:21 </a:t>
            </a:r>
            <a:endParaRPr kumimoji="1" lang="ja-JP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4FCEDF7-E3E4-B1E3-9077-A00D747AEB6E}"/>
              </a:ext>
            </a:extLst>
          </p:cNvPr>
          <p:cNvSpPr txBox="1"/>
          <p:nvPr/>
        </p:nvSpPr>
        <p:spPr>
          <a:xfrm>
            <a:off x="3693246" y="2615734"/>
            <a:ext cx="4539033" cy="1446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800" dirty="0">
                <a:solidFill>
                  <a:srgbClr val="FF0000"/>
                </a:solidFill>
              </a:rPr>
              <a:t>廃　案</a:t>
            </a:r>
          </a:p>
        </p:txBody>
      </p:sp>
    </p:spTree>
    <p:extLst>
      <p:ext uri="{BB962C8B-B14F-4D97-AF65-F5344CB8AC3E}">
        <p14:creationId xmlns:p14="http://schemas.microsoft.com/office/powerpoint/2010/main" val="6641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83C9937-B66E-B901-2DC0-D52FF6C74FB0}"/>
              </a:ext>
            </a:extLst>
          </p:cNvPr>
          <p:cNvSpPr/>
          <p:nvPr/>
        </p:nvSpPr>
        <p:spPr>
          <a:xfrm>
            <a:off x="193517" y="4097176"/>
            <a:ext cx="11956134" cy="27036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F8EAF22-1623-F358-2CAA-86E4C59E26B1}"/>
              </a:ext>
            </a:extLst>
          </p:cNvPr>
          <p:cNvSpPr/>
          <p:nvPr/>
        </p:nvSpPr>
        <p:spPr>
          <a:xfrm>
            <a:off x="175775" y="630261"/>
            <a:ext cx="11973876" cy="279815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6A4AA7-613D-5CE4-D5E7-8E99D54796FA}"/>
              </a:ext>
            </a:extLst>
          </p:cNvPr>
          <p:cNvSpPr/>
          <p:nvPr/>
        </p:nvSpPr>
        <p:spPr>
          <a:xfrm>
            <a:off x="107641" y="3983110"/>
            <a:ext cx="11957890" cy="269564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E3D1085-5286-18D9-5F56-1504E19B7E09}"/>
              </a:ext>
            </a:extLst>
          </p:cNvPr>
          <p:cNvSpPr/>
          <p:nvPr/>
        </p:nvSpPr>
        <p:spPr>
          <a:xfrm>
            <a:off x="3742171" y="4503151"/>
            <a:ext cx="4659234" cy="10718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1F5462-76D7-182A-D998-0A7749C78703}"/>
              </a:ext>
            </a:extLst>
          </p:cNvPr>
          <p:cNvSpPr txBox="1"/>
          <p:nvPr/>
        </p:nvSpPr>
        <p:spPr>
          <a:xfrm>
            <a:off x="103818" y="163661"/>
            <a:ext cx="646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OPERATING TIME </a:t>
            </a:r>
            <a:r>
              <a:rPr lang="ja-JP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稼働時間</a:t>
            </a:r>
            <a:endParaRPr kumimoji="1" lang="ja-JP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888854E-0E3E-785E-6C9E-0C3BA9BECC4E}"/>
              </a:ext>
            </a:extLst>
          </p:cNvPr>
          <p:cNvSpPr/>
          <p:nvPr/>
        </p:nvSpPr>
        <p:spPr>
          <a:xfrm>
            <a:off x="103818" y="504531"/>
            <a:ext cx="11957890" cy="279815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95DE211-0137-2F11-D1B1-1A1AD4B0B1A9}"/>
              </a:ext>
            </a:extLst>
          </p:cNvPr>
          <p:cNvSpPr/>
          <p:nvPr/>
        </p:nvSpPr>
        <p:spPr>
          <a:xfrm>
            <a:off x="2475438" y="865595"/>
            <a:ext cx="3412682" cy="103795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46298EC-F017-CF51-6037-5F9F9D5BC59D}"/>
              </a:ext>
            </a:extLst>
          </p:cNvPr>
          <p:cNvSpPr/>
          <p:nvPr/>
        </p:nvSpPr>
        <p:spPr>
          <a:xfrm>
            <a:off x="5815339" y="865595"/>
            <a:ext cx="3857787" cy="103795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BDF172-C200-A69A-705D-83E2476078B6}"/>
              </a:ext>
            </a:extLst>
          </p:cNvPr>
          <p:cNvSpPr txBox="1"/>
          <p:nvPr/>
        </p:nvSpPr>
        <p:spPr>
          <a:xfrm>
            <a:off x="2469136" y="1061404"/>
            <a:ext cx="1624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145</a:t>
            </a:r>
            <a:r>
              <a:rPr kumimoji="1" lang="en-US" altLang="ja-JP" b="1" dirty="0">
                <a:solidFill>
                  <a:schemeClr val="bg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 min</a:t>
            </a:r>
          </a:p>
          <a:p>
            <a:r>
              <a:rPr lang="en-US" altLang="ja-JP" b="1" dirty="0">
                <a:solidFill>
                  <a:schemeClr val="bg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46 %</a:t>
            </a:r>
            <a:endParaRPr kumimoji="1" lang="ja-JP" altLang="en-US" b="1" dirty="0">
              <a:solidFill>
                <a:schemeClr val="bg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471D7B-17E3-5B65-F805-7D5FAF046058}"/>
              </a:ext>
            </a:extLst>
          </p:cNvPr>
          <p:cNvSpPr txBox="1"/>
          <p:nvPr/>
        </p:nvSpPr>
        <p:spPr>
          <a:xfrm>
            <a:off x="646296" y="558595"/>
            <a:ext cx="148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DAY SHIFT</a:t>
            </a:r>
            <a:endParaRPr kumimoji="1" lang="ja-JP" altLang="en-US" sz="16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5A768F3-80E7-5017-B57A-E676FA3BA045}"/>
              </a:ext>
            </a:extLst>
          </p:cNvPr>
          <p:cNvSpPr txBox="1"/>
          <p:nvPr/>
        </p:nvSpPr>
        <p:spPr>
          <a:xfrm>
            <a:off x="8048450" y="1061404"/>
            <a:ext cx="1624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b="1" dirty="0">
                <a:solidFill>
                  <a:schemeClr val="bg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156</a:t>
            </a:r>
            <a:r>
              <a:rPr kumimoji="1" lang="en-US" altLang="ja-JP" b="1" dirty="0">
                <a:solidFill>
                  <a:schemeClr val="bg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 min</a:t>
            </a:r>
          </a:p>
          <a:p>
            <a:pPr algn="r"/>
            <a:r>
              <a:rPr lang="en-US" altLang="ja-JP" b="1" dirty="0">
                <a:solidFill>
                  <a:schemeClr val="bg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54 %</a:t>
            </a:r>
            <a:endParaRPr kumimoji="1" lang="ja-JP" altLang="en-US" b="1" dirty="0">
              <a:solidFill>
                <a:schemeClr val="bg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045F0D5-8FDD-7BC7-B1EF-ADAFF019C852}"/>
              </a:ext>
            </a:extLst>
          </p:cNvPr>
          <p:cNvSpPr txBox="1"/>
          <p:nvPr/>
        </p:nvSpPr>
        <p:spPr>
          <a:xfrm>
            <a:off x="10039067" y="556534"/>
            <a:ext cx="1636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NIGHT SHIFT</a:t>
            </a:r>
            <a:endParaRPr kumimoji="1" lang="ja-JP" altLang="en-US" sz="16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9CCB2A98-0A03-F8C6-B05D-9681F29C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45096"/>
              </p:ext>
            </p:extLst>
          </p:nvPr>
        </p:nvGraphicFramePr>
        <p:xfrm>
          <a:off x="2464994" y="2205750"/>
          <a:ext cx="7185562" cy="942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98252">
                  <a:extLst>
                    <a:ext uri="{9D8B030D-6E8A-4147-A177-3AD203B41FA5}">
                      <a16:colId xmlns:a16="http://schemas.microsoft.com/office/drawing/2014/main" val="3542659806"/>
                    </a:ext>
                  </a:extLst>
                </a:gridCol>
                <a:gridCol w="1047885">
                  <a:extLst>
                    <a:ext uri="{9D8B030D-6E8A-4147-A177-3AD203B41FA5}">
                      <a16:colId xmlns:a16="http://schemas.microsoft.com/office/drawing/2014/main" val="1074413920"/>
                    </a:ext>
                  </a:extLst>
                </a:gridCol>
                <a:gridCol w="1047885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1047885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1047885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1047885">
                  <a:extLst>
                    <a:ext uri="{9D8B030D-6E8A-4147-A177-3AD203B41FA5}">
                      <a16:colId xmlns:a16="http://schemas.microsoft.com/office/drawing/2014/main" val="1994325327"/>
                    </a:ext>
                  </a:extLst>
                </a:gridCol>
                <a:gridCol w="1047885">
                  <a:extLst>
                    <a:ext uri="{9D8B030D-6E8A-4147-A177-3AD203B41FA5}">
                      <a16:colId xmlns:a16="http://schemas.microsoft.com/office/drawing/2014/main" val="3844872914"/>
                    </a:ext>
                  </a:extLst>
                </a:gridCol>
              </a:tblGrid>
              <a:tr h="314120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Fri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Mon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Tue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Wed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Thu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Fri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141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DAY</a:t>
                      </a:r>
                      <a:endParaRPr kumimoji="1" lang="ja-JP" altLang="en-US" sz="1200" b="1" dirty="0">
                        <a:solidFill>
                          <a:schemeClr val="bg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432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454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407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470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0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0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  <a:tr h="3141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NIGHT</a:t>
                      </a:r>
                      <a:endParaRPr kumimoji="1" lang="ja-JP" altLang="en-US" sz="1200" b="1" dirty="0">
                        <a:solidFill>
                          <a:schemeClr val="bg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447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430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442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156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0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0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191600"/>
                  </a:ext>
                </a:extLst>
              </a:tr>
            </a:tbl>
          </a:graphicData>
        </a:graphic>
      </p:graphicFrame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B6EAC6A-A5AE-9F09-9064-10E8BE611AA8}"/>
              </a:ext>
            </a:extLst>
          </p:cNvPr>
          <p:cNvSpPr txBox="1"/>
          <p:nvPr/>
        </p:nvSpPr>
        <p:spPr>
          <a:xfrm>
            <a:off x="103817" y="3632430"/>
            <a:ext cx="646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TODAY’S PRODUCTION </a:t>
            </a:r>
            <a:r>
              <a:rPr lang="ja-JP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本日の生産状況</a:t>
            </a:r>
            <a:endParaRPr kumimoji="1" lang="ja-JP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58B3D841-63BD-1C36-165A-FA3DA0E2D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076754"/>
              </p:ext>
            </p:extLst>
          </p:nvPr>
        </p:nvGraphicFramePr>
        <p:xfrm>
          <a:off x="400832" y="4611402"/>
          <a:ext cx="2806284" cy="70889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35428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935428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935428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</a:tblGrid>
              <a:tr h="31727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  績</a:t>
                      </a:r>
                      <a:endParaRPr kumimoji="1" lang="en-US" altLang="ja-JP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  標</a:t>
                      </a:r>
                      <a:endParaRPr kumimoji="1" lang="en-US" altLang="ja-JP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達成率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9161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12,535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13,500</a:t>
                      </a:r>
                      <a:endParaRPr kumimoji="1" lang="ja-JP" altLang="en-US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83%</a:t>
                      </a:r>
                      <a:endParaRPr kumimoji="1" lang="ja-JP" altLang="en-US" sz="16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C28A90C-E78E-F694-E9B2-31CF96BCF230}"/>
              </a:ext>
            </a:extLst>
          </p:cNvPr>
          <p:cNvSpPr/>
          <p:nvPr/>
        </p:nvSpPr>
        <p:spPr>
          <a:xfrm>
            <a:off x="3734105" y="4504579"/>
            <a:ext cx="5399680" cy="1070721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98BA035-FCD3-4C1B-5983-7D97005EED64}"/>
              </a:ext>
            </a:extLst>
          </p:cNvPr>
          <p:cNvCxnSpPr>
            <a:cxnSpLocks/>
          </p:cNvCxnSpPr>
          <p:nvPr/>
        </p:nvCxnSpPr>
        <p:spPr>
          <a:xfrm>
            <a:off x="5889007" y="4503151"/>
            <a:ext cx="0" cy="107181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A1B9551-DFD0-3479-9F98-502500C83DF4}"/>
              </a:ext>
            </a:extLst>
          </p:cNvPr>
          <p:cNvCxnSpPr>
            <a:cxnSpLocks/>
          </p:cNvCxnSpPr>
          <p:nvPr/>
        </p:nvCxnSpPr>
        <p:spPr>
          <a:xfrm>
            <a:off x="4806361" y="4503151"/>
            <a:ext cx="0" cy="107181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C06633C-B0F5-C9CC-4E4C-E4F52BA20D58}"/>
              </a:ext>
            </a:extLst>
          </p:cNvPr>
          <p:cNvCxnSpPr>
            <a:cxnSpLocks/>
          </p:cNvCxnSpPr>
          <p:nvPr/>
        </p:nvCxnSpPr>
        <p:spPr>
          <a:xfrm>
            <a:off x="6969007" y="4507003"/>
            <a:ext cx="0" cy="107181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3FCF835-A8BE-F5DF-597D-C87AD1EBCF8C}"/>
              </a:ext>
            </a:extLst>
          </p:cNvPr>
          <p:cNvSpPr txBox="1"/>
          <p:nvPr/>
        </p:nvSpPr>
        <p:spPr>
          <a:xfrm>
            <a:off x="4507425" y="4292215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25%</a:t>
            </a:r>
            <a:endParaRPr kumimoji="1" lang="ja-JP" altLang="en-US" sz="11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EAD41C-2793-E747-3EA4-EA3CA0D3644C}"/>
              </a:ext>
            </a:extLst>
          </p:cNvPr>
          <p:cNvSpPr txBox="1"/>
          <p:nvPr/>
        </p:nvSpPr>
        <p:spPr>
          <a:xfrm>
            <a:off x="3427953" y="4302096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0%</a:t>
            </a:r>
            <a:endParaRPr kumimoji="1" lang="ja-JP" altLang="en-US" sz="11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4F3539A-4A4A-D0ED-D9EE-258E5C40DDE2}"/>
              </a:ext>
            </a:extLst>
          </p:cNvPr>
          <p:cNvSpPr txBox="1"/>
          <p:nvPr/>
        </p:nvSpPr>
        <p:spPr>
          <a:xfrm>
            <a:off x="6640345" y="4295539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75%</a:t>
            </a:r>
            <a:endParaRPr kumimoji="1" lang="ja-JP" altLang="en-US" sz="11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A9ABF82-478C-1AF0-3186-8B668CFD6F67}"/>
              </a:ext>
            </a:extLst>
          </p:cNvPr>
          <p:cNvSpPr txBox="1"/>
          <p:nvPr/>
        </p:nvSpPr>
        <p:spPr>
          <a:xfrm>
            <a:off x="5581140" y="4294518"/>
            <a:ext cx="706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50%</a:t>
            </a:r>
            <a:endParaRPr kumimoji="1" lang="ja-JP" altLang="en-US" sz="11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10EBBCC-713B-1570-57EB-5A43E34264D5}"/>
              </a:ext>
            </a:extLst>
          </p:cNvPr>
          <p:cNvSpPr txBox="1"/>
          <p:nvPr/>
        </p:nvSpPr>
        <p:spPr>
          <a:xfrm>
            <a:off x="7659092" y="4280566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100%</a:t>
            </a:r>
            <a:endParaRPr kumimoji="1" lang="ja-JP" altLang="en-US" sz="11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288B3DB-9BC9-1FC6-42C8-70CCDF749A67}"/>
              </a:ext>
            </a:extLst>
          </p:cNvPr>
          <p:cNvSpPr txBox="1"/>
          <p:nvPr/>
        </p:nvSpPr>
        <p:spPr>
          <a:xfrm>
            <a:off x="9714474" y="25207"/>
            <a:ext cx="2334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LAST UPDATE: 2026-08-31 15:21 </a:t>
            </a:r>
            <a:endParaRPr kumimoji="1" lang="ja-JP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8" name="図 7" descr="吹き出しイラスト｜無料イラスト・フリー素材なら「イラストAC」">
            <a:extLst>
              <a:ext uri="{FF2B5EF4-FFF2-40B4-BE49-F238E27FC236}">
                <a16:creationId xmlns:a16="http://schemas.microsoft.com/office/drawing/2014/main" id="{C0D58FF2-874D-E1EB-254A-080714E48A6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0835175" y="4301740"/>
            <a:ext cx="962016" cy="730635"/>
          </a:xfrm>
          <a:prstGeom prst="rect">
            <a:avLst/>
          </a:prstGeom>
        </p:spPr>
      </p:pic>
      <p:pic>
        <p:nvPicPr>
          <p:cNvPr id="36" name="図 35" descr="Épinglé par Marga Díaz-Madroñero Rodríguez sur CRAFT BUNDLES">
            <a:extLst>
              <a:ext uri="{FF2B5EF4-FFF2-40B4-BE49-F238E27FC236}">
                <a16:creationId xmlns:a16="http://schemas.microsoft.com/office/drawing/2014/main" id="{039E8649-9ECC-716C-5213-7FE36DB5F89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57646" y="4432545"/>
            <a:ext cx="721854" cy="49482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C37BDB4-0CD1-D98A-3AAA-4F9F9EDAF6C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12735" y="4353799"/>
            <a:ext cx="1432397" cy="2180493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530D17C-EA53-D91E-B09A-7F63FAD82B0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461" y="2090256"/>
            <a:ext cx="664369" cy="8301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0C079C47-265D-0227-5B74-463066D105A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99409" y="855919"/>
            <a:ext cx="673894" cy="83140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C7D11F10-0227-D5FE-34D3-2310B79ADE9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22" t="4723" r="3558" b="9569"/>
          <a:stretch>
            <a:fillRect/>
          </a:stretch>
        </p:blipFill>
        <p:spPr>
          <a:xfrm>
            <a:off x="11215705" y="864282"/>
            <a:ext cx="659606" cy="8301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9AF8F646-500B-FF8E-B620-AA39561E5229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80" t="5584" r="5873"/>
          <a:stretch>
            <a:fillRect/>
          </a:stretch>
        </p:blipFill>
        <p:spPr>
          <a:xfrm>
            <a:off x="9826176" y="2090613"/>
            <a:ext cx="661987" cy="8301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F563D668-13B1-A2ED-82D8-562902AD594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95" r="5449" b="7510"/>
          <a:stretch>
            <a:fillRect/>
          </a:stretch>
        </p:blipFill>
        <p:spPr>
          <a:xfrm>
            <a:off x="10515405" y="865595"/>
            <a:ext cx="649778" cy="8217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A8F7C139-4D4A-E090-5677-AF9CCAFF7262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4514" y="865595"/>
            <a:ext cx="645286" cy="8217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3D3CA826-AC82-C7EB-8C7A-30B26759F510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2287" y="865594"/>
            <a:ext cx="667326" cy="82173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D93DA9A-E35E-2C14-801D-A862F63982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802" y="2036424"/>
            <a:ext cx="637550" cy="8217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300D88AB-3E8A-7056-4100-E598CA528B67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280" r="10371"/>
          <a:stretch>
            <a:fillRect/>
          </a:stretch>
        </p:blipFill>
        <p:spPr>
          <a:xfrm>
            <a:off x="319865" y="2036424"/>
            <a:ext cx="637550" cy="8217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877791DE-E174-B6D8-F953-A32EB12FD8D2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02330" y="865595"/>
            <a:ext cx="667326" cy="8217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E1769FC6-0F08-6190-B346-5EFD3B42C01A}"/>
              </a:ext>
            </a:extLst>
          </p:cNvPr>
          <p:cNvSpPr txBox="1"/>
          <p:nvPr/>
        </p:nvSpPr>
        <p:spPr>
          <a:xfrm>
            <a:off x="4425296" y="628190"/>
            <a:ext cx="26409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EL</a:t>
            </a: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APSED TIME = 3:45</a:t>
            </a:r>
            <a:endParaRPr kumimoji="1" lang="ja-JP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82BE115-074E-E870-B61B-91E8636E53DA}"/>
              </a:ext>
            </a:extLst>
          </p:cNvPr>
          <p:cNvSpPr/>
          <p:nvPr/>
        </p:nvSpPr>
        <p:spPr>
          <a:xfrm>
            <a:off x="6631104" y="2564859"/>
            <a:ext cx="826796" cy="2263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32EC56C-AEDD-5C80-931B-D33D4E85A1DB}"/>
              </a:ext>
            </a:extLst>
          </p:cNvPr>
          <p:cNvSpPr/>
          <p:nvPr/>
        </p:nvSpPr>
        <p:spPr>
          <a:xfrm>
            <a:off x="6628620" y="2861319"/>
            <a:ext cx="826796" cy="2263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501D227-5025-D9C8-ECA1-E4D1D182FCE9}"/>
              </a:ext>
            </a:extLst>
          </p:cNvPr>
          <p:cNvSpPr txBox="1"/>
          <p:nvPr/>
        </p:nvSpPr>
        <p:spPr>
          <a:xfrm>
            <a:off x="366729" y="4322269"/>
            <a:ext cx="1924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経過時間生産数</a:t>
            </a:r>
            <a:endParaRPr kumimoji="1" lang="ja-JP" altLang="en-US" sz="16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3394706-E65C-D893-5030-49B8E5D19484}"/>
              </a:ext>
            </a:extLst>
          </p:cNvPr>
          <p:cNvSpPr txBox="1"/>
          <p:nvPr/>
        </p:nvSpPr>
        <p:spPr>
          <a:xfrm>
            <a:off x="346007" y="5458042"/>
            <a:ext cx="1924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累積生産数</a:t>
            </a:r>
            <a:endParaRPr kumimoji="1" lang="ja-JP" altLang="en-US" sz="16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B2DDC763-5AFF-24D3-C4DD-F93D060A3A12}"/>
              </a:ext>
            </a:extLst>
          </p:cNvPr>
          <p:cNvCxnSpPr>
            <a:cxnSpLocks/>
          </p:cNvCxnSpPr>
          <p:nvPr/>
        </p:nvCxnSpPr>
        <p:spPr>
          <a:xfrm>
            <a:off x="8047328" y="4503150"/>
            <a:ext cx="0" cy="107181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E359152-A79C-8DB2-9899-F8AC5569A64D}"/>
              </a:ext>
            </a:extLst>
          </p:cNvPr>
          <p:cNvSpPr txBox="1"/>
          <p:nvPr/>
        </p:nvSpPr>
        <p:spPr>
          <a:xfrm>
            <a:off x="8684638" y="4280565"/>
            <a:ext cx="829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2">
                    <a:lumMod val="50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125%</a:t>
            </a:r>
            <a:endParaRPr kumimoji="1" lang="ja-JP" altLang="en-US" sz="1100" b="1" dirty="0">
              <a:solidFill>
                <a:schemeClr val="bg2">
                  <a:lumMod val="50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A8D1A43A-AAE6-737B-F96A-2262EF274021}"/>
              </a:ext>
            </a:extLst>
          </p:cNvPr>
          <p:cNvSpPr txBox="1"/>
          <p:nvPr/>
        </p:nvSpPr>
        <p:spPr>
          <a:xfrm>
            <a:off x="4705764" y="4047746"/>
            <a:ext cx="26409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EL</a:t>
            </a: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APSED TIME = 3:45</a:t>
            </a:r>
            <a:endParaRPr kumimoji="1" lang="ja-JP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graphicFrame>
        <p:nvGraphicFramePr>
          <p:cNvPr id="87" name="表 86">
            <a:extLst>
              <a:ext uri="{FF2B5EF4-FFF2-40B4-BE49-F238E27FC236}">
                <a16:creationId xmlns:a16="http://schemas.microsoft.com/office/drawing/2014/main" id="{4FE12E1D-A6BB-AFD9-FAA4-73D1F6491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304785"/>
              </p:ext>
            </p:extLst>
          </p:nvPr>
        </p:nvGraphicFramePr>
        <p:xfrm>
          <a:off x="380110" y="5749908"/>
          <a:ext cx="2806284" cy="70889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35428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935428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935428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</a:tblGrid>
              <a:tr h="31727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  績</a:t>
                      </a:r>
                      <a:endParaRPr kumimoji="1" lang="en-US" altLang="ja-JP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  標</a:t>
                      </a:r>
                      <a:endParaRPr kumimoji="1" lang="en-US" altLang="ja-JP" sz="14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達成率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9161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12,535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300,000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5%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graphicFrame>
        <p:nvGraphicFramePr>
          <p:cNvPr id="88" name="表 87">
            <a:extLst>
              <a:ext uri="{FF2B5EF4-FFF2-40B4-BE49-F238E27FC236}">
                <a16:creationId xmlns:a16="http://schemas.microsoft.com/office/drawing/2014/main" id="{99AAC52B-FFDE-DA93-D026-C4BF9D0F9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34387"/>
              </p:ext>
            </p:extLst>
          </p:nvPr>
        </p:nvGraphicFramePr>
        <p:xfrm>
          <a:off x="3742171" y="5877492"/>
          <a:ext cx="5399680" cy="6282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79936">
                  <a:extLst>
                    <a:ext uri="{9D8B030D-6E8A-4147-A177-3AD203B41FA5}">
                      <a16:colId xmlns:a16="http://schemas.microsoft.com/office/drawing/2014/main" val="1074413920"/>
                    </a:ext>
                  </a:extLst>
                </a:gridCol>
                <a:gridCol w="1079936">
                  <a:extLst>
                    <a:ext uri="{9D8B030D-6E8A-4147-A177-3AD203B41FA5}">
                      <a16:colId xmlns:a16="http://schemas.microsoft.com/office/drawing/2014/main" val="188364501"/>
                    </a:ext>
                  </a:extLst>
                </a:gridCol>
                <a:gridCol w="1079936">
                  <a:extLst>
                    <a:ext uri="{9D8B030D-6E8A-4147-A177-3AD203B41FA5}">
                      <a16:colId xmlns:a16="http://schemas.microsoft.com/office/drawing/2014/main" val="3123303698"/>
                    </a:ext>
                  </a:extLst>
                </a:gridCol>
                <a:gridCol w="1079936">
                  <a:extLst>
                    <a:ext uri="{9D8B030D-6E8A-4147-A177-3AD203B41FA5}">
                      <a16:colId xmlns:a16="http://schemas.microsoft.com/office/drawing/2014/main" val="1716167615"/>
                    </a:ext>
                  </a:extLst>
                </a:gridCol>
                <a:gridCol w="1079936">
                  <a:extLst>
                    <a:ext uri="{9D8B030D-6E8A-4147-A177-3AD203B41FA5}">
                      <a16:colId xmlns:a16="http://schemas.microsoft.com/office/drawing/2014/main" val="1994325327"/>
                    </a:ext>
                  </a:extLst>
                </a:gridCol>
              </a:tblGrid>
              <a:tr h="3141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MC557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MC560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MC577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MC595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MC603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724192"/>
                  </a:ext>
                </a:extLst>
              </a:tr>
              <a:tr h="3141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3,457</a:t>
                      </a:r>
                      <a:endParaRPr kumimoji="1" lang="ja-JP" altLang="en-US" sz="12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3,123</a:t>
                      </a:r>
                      <a:endParaRPr kumimoji="1" lang="ja-JP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2,544</a:t>
                      </a:r>
                      <a:endParaRPr kumimoji="1" lang="ja-JP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957</a:t>
                      </a:r>
                      <a:endParaRPr kumimoji="1" lang="ja-JP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2,884</a:t>
                      </a:r>
                      <a:endParaRPr kumimoji="1" lang="ja-JP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1181801"/>
                  </a:ext>
                </a:extLst>
              </a:tr>
            </a:tbl>
          </a:graphicData>
        </a:graphic>
      </p:graphicFrame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89ED2067-70E5-C0F7-EDA1-9DCECFEAB5C4}"/>
              </a:ext>
            </a:extLst>
          </p:cNvPr>
          <p:cNvSpPr txBox="1"/>
          <p:nvPr/>
        </p:nvSpPr>
        <p:spPr>
          <a:xfrm>
            <a:off x="2400524" y="1981551"/>
            <a:ext cx="2640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累積生産数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D849127B-ED8F-03B9-78CB-AB3006C10C49}"/>
              </a:ext>
            </a:extLst>
          </p:cNvPr>
          <p:cNvSpPr txBox="1"/>
          <p:nvPr/>
        </p:nvSpPr>
        <p:spPr>
          <a:xfrm>
            <a:off x="3681955" y="5639126"/>
            <a:ext cx="1432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機械別生産数</a:t>
            </a:r>
            <a:endParaRPr kumimoji="1" lang="ja-JP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22A10175-E604-02DA-669F-E3A3C4250D6C}"/>
              </a:ext>
            </a:extLst>
          </p:cNvPr>
          <p:cNvSpPr/>
          <p:nvPr/>
        </p:nvSpPr>
        <p:spPr>
          <a:xfrm>
            <a:off x="1390576" y="6107197"/>
            <a:ext cx="826796" cy="303128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6BFC6A50-788F-B8C1-D6F6-99196950F849}"/>
              </a:ext>
            </a:extLst>
          </p:cNvPr>
          <p:cNvSpPr/>
          <p:nvPr/>
        </p:nvSpPr>
        <p:spPr>
          <a:xfrm>
            <a:off x="308054" y="1729384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0A7DEF6F-4C9C-DAEC-8E09-D6AA146FEA95}"/>
              </a:ext>
            </a:extLst>
          </p:cNvPr>
          <p:cNvSpPr/>
          <p:nvPr/>
        </p:nvSpPr>
        <p:spPr>
          <a:xfrm>
            <a:off x="1002957" y="1729384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5D8AC10B-98F4-DDC8-C084-3BE867F1E86F}"/>
              </a:ext>
            </a:extLst>
          </p:cNvPr>
          <p:cNvSpPr/>
          <p:nvPr/>
        </p:nvSpPr>
        <p:spPr>
          <a:xfrm>
            <a:off x="1698097" y="1725895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E0E5164E-0FB9-12E8-450F-85597EA64A6F}"/>
              </a:ext>
            </a:extLst>
          </p:cNvPr>
          <p:cNvSpPr/>
          <p:nvPr/>
        </p:nvSpPr>
        <p:spPr>
          <a:xfrm>
            <a:off x="301069" y="2884789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3A00516B-8E6F-0438-99F0-932495884AF8}"/>
              </a:ext>
            </a:extLst>
          </p:cNvPr>
          <p:cNvSpPr/>
          <p:nvPr/>
        </p:nvSpPr>
        <p:spPr>
          <a:xfrm>
            <a:off x="992797" y="2884789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F1F13337-AC4F-24BB-7EB7-45BAD36C7CB3}"/>
              </a:ext>
            </a:extLst>
          </p:cNvPr>
          <p:cNvSpPr/>
          <p:nvPr/>
        </p:nvSpPr>
        <p:spPr>
          <a:xfrm>
            <a:off x="1697462" y="2881300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02CCBFF0-1454-DDA6-7C93-ABABC1D8B6C0}"/>
              </a:ext>
            </a:extLst>
          </p:cNvPr>
          <p:cNvSpPr/>
          <p:nvPr/>
        </p:nvSpPr>
        <p:spPr>
          <a:xfrm>
            <a:off x="1696707" y="2034846"/>
            <a:ext cx="671559" cy="8217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B2F5F130-1670-31EC-70F5-B475F3B1B038}"/>
              </a:ext>
            </a:extLst>
          </p:cNvPr>
          <p:cNvSpPr/>
          <p:nvPr/>
        </p:nvSpPr>
        <p:spPr>
          <a:xfrm>
            <a:off x="9798179" y="1725711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F9DE4E79-3B42-AE83-3CA2-D07B7C7ECDE7}"/>
              </a:ext>
            </a:extLst>
          </p:cNvPr>
          <p:cNvSpPr/>
          <p:nvPr/>
        </p:nvSpPr>
        <p:spPr>
          <a:xfrm>
            <a:off x="10508957" y="1725711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5053B668-4D15-B262-2D6F-DD04CDB45ACE}"/>
              </a:ext>
            </a:extLst>
          </p:cNvPr>
          <p:cNvSpPr/>
          <p:nvPr/>
        </p:nvSpPr>
        <p:spPr>
          <a:xfrm>
            <a:off x="11210447" y="1722222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CD4D88EE-7901-6742-82FB-7B5015C8E4EC}"/>
              </a:ext>
            </a:extLst>
          </p:cNvPr>
          <p:cNvSpPr/>
          <p:nvPr/>
        </p:nvSpPr>
        <p:spPr>
          <a:xfrm>
            <a:off x="9822550" y="2954603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DE5A2C8-F4B9-3D23-C6CD-007BE50FB86E}"/>
              </a:ext>
            </a:extLst>
          </p:cNvPr>
          <p:cNvSpPr/>
          <p:nvPr/>
        </p:nvSpPr>
        <p:spPr>
          <a:xfrm>
            <a:off x="10530153" y="2954603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3199239-D007-3473-26CE-2F776E2ADC3E}"/>
              </a:ext>
            </a:extLst>
          </p:cNvPr>
          <p:cNvSpPr/>
          <p:nvPr/>
        </p:nvSpPr>
        <p:spPr>
          <a:xfrm>
            <a:off x="11241168" y="2951114"/>
            <a:ext cx="671559" cy="14401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NAME</a:t>
            </a:r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F7446400-3354-0851-E7D2-FB8A4B5F7278}"/>
              </a:ext>
            </a:extLst>
          </p:cNvPr>
          <p:cNvSpPr/>
          <p:nvPr/>
        </p:nvSpPr>
        <p:spPr>
          <a:xfrm>
            <a:off x="11239641" y="2075399"/>
            <a:ext cx="671559" cy="84877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 dirty="0">
              <a:solidFill>
                <a:schemeClr val="tx1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6F18034-BAAB-0C82-4317-3FFE8ADA623F}"/>
              </a:ext>
            </a:extLst>
          </p:cNvPr>
          <p:cNvSpPr txBox="1"/>
          <p:nvPr/>
        </p:nvSpPr>
        <p:spPr>
          <a:xfrm>
            <a:off x="3802271" y="2830494"/>
            <a:ext cx="4539033" cy="1446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800" dirty="0">
                <a:solidFill>
                  <a:srgbClr val="FF0000"/>
                </a:solidFill>
              </a:rPr>
              <a:t>廃　案</a:t>
            </a:r>
          </a:p>
        </p:txBody>
      </p:sp>
    </p:spTree>
    <p:extLst>
      <p:ext uri="{BB962C8B-B14F-4D97-AF65-F5344CB8AC3E}">
        <p14:creationId xmlns:p14="http://schemas.microsoft.com/office/powerpoint/2010/main" val="393550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2177</Words>
  <Application>Microsoft Office PowerPoint</Application>
  <PresentationFormat>ワイド画面</PresentationFormat>
  <Paragraphs>546</Paragraphs>
  <Slides>12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UD デジタル 教科書体 NP-B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FUMIHIRO MASE</dc:creator>
  <cp:lastModifiedBy>FUMIHIRO MASE</cp:lastModifiedBy>
  <cp:revision>22</cp:revision>
  <dcterms:created xsi:type="dcterms:W3CDTF">2026-05-11T14:31:53Z</dcterms:created>
  <dcterms:modified xsi:type="dcterms:W3CDTF">2026-09-29T18:39:11Z</dcterms:modified>
</cp:coreProperties>
</file>